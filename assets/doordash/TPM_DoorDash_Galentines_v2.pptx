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73" r:id="rId3"/>
    <p:sldId id="274" r:id="rId4"/>
    <p:sldId id="258" r:id="rId5"/>
    <p:sldId id="259" r:id="rId6"/>
    <p:sldId id="260" r:id="rId7"/>
    <p:sldId id="261" r:id="rId8"/>
    <p:sldId id="262" r:id="rId9"/>
    <p:sldId id="263" r:id="rId10"/>
    <p:sldId id="265" r:id="rId11"/>
    <p:sldId id="275" r:id="rId12"/>
    <p:sldId id="280" r:id="rId13"/>
    <p:sldId id="267" r:id="rId14"/>
    <p:sldId id="276" r:id="rId15"/>
    <p:sldId id="277" r:id="rId16"/>
    <p:sldId id="278" r:id="rId17"/>
    <p:sldId id="269" r:id="rId18"/>
    <p:sldId id="279" r:id="rId19"/>
    <p:sldId id="272" r:id="rId20"/>
    <p:sldId id="257" r:id="rId21"/>
    <p:sldId id="266" r:id="rId22"/>
    <p:sldId id="268" r:id="rId23"/>
    <p:sldId id="270"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8DAC957-B581-43E8-835E-C65A0AEE2B31}">
          <p14:sldIdLst>
            <p14:sldId id="256"/>
            <p14:sldId id="273"/>
            <p14:sldId id="274"/>
            <p14:sldId id="258"/>
            <p14:sldId id="259"/>
            <p14:sldId id="260"/>
            <p14:sldId id="261"/>
            <p14:sldId id="262"/>
            <p14:sldId id="263"/>
            <p14:sldId id="265"/>
            <p14:sldId id="275"/>
            <p14:sldId id="280"/>
            <p14:sldId id="267"/>
            <p14:sldId id="276"/>
            <p14:sldId id="277"/>
            <p14:sldId id="278"/>
            <p14:sldId id="269"/>
            <p14:sldId id="279"/>
          </p14:sldIdLst>
        </p14:section>
        <p14:section name="Appendix" id="{629AC000-2295-403C-8130-E0FF43BE637D}">
          <p14:sldIdLst>
            <p14:sldId id="272"/>
            <p14:sldId id="257"/>
            <p14:sldId id="266"/>
            <p14:sldId id="268"/>
            <p14:sldId id="27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333D39-52BC-7602-483C-CBAB80CCA9E0}" v="7" dt="2026-06-01T21:55:02.138"/>
    <p1510:client id="{43DA0636-99E7-0D81-BB54-A7851358FA60}" v="122" dt="2026-06-01T16:59:18.611"/>
    <p1510:client id="{4A276002-7B10-51C6-7ECB-692EEBAD2135}" v="1" dt="2026-06-01T20:56:59.359"/>
    <p1510:client id="{7F6650B8-7CEA-238A-E5A9-E599CF1B6DA5}" v="16" dt="2026-06-01T22:02:53.649"/>
    <p1510:client id="{DB4A1EB0-8364-0767-3EA3-A83B15D4B846}" v="71" dt="2026-05-31T12:11:14.4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2380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ERIC OPENS (~10s)
Walk on. Brief pause to let the room settle. Then:
DoorDash exists to grow local economies. What we're proposing is the next layer of that. Turning the things people are trying to accomplish into completed missions.
Beat. Advance to the pillars slide.
Don't open with 'hi we're team Mission B' or 'today we're going to present.' Just walk into the idea.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1, cold open (~7s)
It's 6:47 PM on a Saturday in February.
Slow. One line, then half a beat before advancing. The slide is doing the 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1, Meet Maya (~15s)
Meet Maya. Second-year MBA. Just got home from a club hang. And in that warm post-event high, she decides she's going to host Galentine's tomorrow.
Beat.
Confidence level, 9 out of 10. Wine in fridge, zero.
Land dry. Don't smile. Let the audience be the ones who chuckle.
Aside for delivery: if they laugh at 'wine in fridge: zero,' the room is yours. If they don't, keep moving like nothing happened. The line works either way.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2, the cascade (~18s)
Friday night. She's on her couch. She opens one tab to look up wine.
Beat. Gesture at the phone.
Twenty minutes later her phone looks like this.
Pinterest has thoughts. Trader Joe's wants to know if she means brie or camembert. Apple Maps is reminding her the store closes in thirty four minutes. Whole Foods is sitting on an eighty nine dollar cart. Instacart is offering four substitutions, none of which she would have picked.
She's trying to host. That's it. That's the goal.
Five apps. Five carts. Five checkouts. One host.
Aside for delivery: if the room laughs at 'things to remember: ICE!!', that's the line that's working. The all caps is doing the joke.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2, the weight (~8s)
It's 20 degrees. It's dark. She just wants to go home.
Three beats. One for each 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2, the downgrade (~10s)
So she does what we all do. She cancels.
Beat.
She didn't decide not to host. She decided not to coordinate. Two different problems.
Drop the last line quiet. Don't sell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2, what she wanted vs. what she got (~20s)
Let the slide load. Full beat before talking.
She wanted a curated Galentine's at home. She got an 18-dollar glass of rose at a loud bar where the DJ played Mr. Brightside. Half the group bailed once the plan changed. She was home by 10:30.
Beat. Quieter:
Already thinking about next year.
That's the line. Don't add anything after it. The slide ends there. Hand off to Shinjini.
Aside for delivery: Mr. Brightside isn't actually playing in this scenario. Mr. Brightside is always playing somewhere. If anyone in the room nods, you're in. If they don't, the line still works as a description of a generic bad night out.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3, the pivot (~6s)
Pick up directly from Speaker 2's last line. No transition language.
The problem isn't hosting. It's everything in between.
Long pause after.
Then: So what if it wasn't?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3, our bet (~18s)
Pick up directly from Rohan's pivot. No transition language.
Today DoorDash delivers parts. Wine from one merchant. Cheese from another. Flowers from a third. Maya has to be the project manager that strings them together. And when that gets too heavy, the whole thing collapses.
Our bet: DoorDash stops delivering parts. It starts orchestrating gatherings.
Beat. Then walk the pillars:
Mission Intelligence. Order data tells DoorDash what people bought. Mission data tells DoorDash why.
Trust. Reliable missions earn the next hand-off.
They compound. Intelligence earns trust. Trust earns more missions.
Hand off to Shinjini, who picks up with 'Let's rewind.'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SHINJINI, rewind (~5s)
Let's rewind. Same Saturday. Same Maya. One thing changes.
Brisk. Energy shifts here. The room's been somber for three slides. Now we're moving forward.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4, what the product actually is (~15s)
Mission-First Home is three things working together.
First, a mission lives on the home screen. Host Galentine's. Game day. Birthday. Discovery starts before the cart does.
Second, one cart spans every merchant. Wine from the liquor store, cheese from the grocer, flowers from the florist. Six merchants, one checkout, one delivery fee.
Third, templates are authored by ops. No new ML. Real curation, editable by the host, ready to ship.
Each piece exists at DoorDash today. We're wiring them together.
Hand into the storyboard, which shows what this looks like in Maya's hands.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SHINJINI, storyboard (~20s)
Brief pause to let people scan the grid.
Same Saturday with Mission-First Home. She opens DoorDash. Host Galentine's is right there on the home screen. She taps it. Confirms six guests. What would have been five carts becomes one cart, six merchants, one checkout.
Beat.
She edits two things. Swaps the cheese, adds extra rose. That's it. Three minutes of planning instead of three hours of orchestrating.
Close:
Saturday, she actually hosts.
Don't read every panel. Narrate the shape of the change.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SHINJINI, demo (~30s)
And here's what that actually looks like.
Play video. Stand still. Don't talk over it. Watch with the room.
When it ends:
Three minutes. One cart. Six merchants.
Placeholder slide: drop the real screen recording in before submission. Target length 25 to 30 seconds.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4, the callback (~12s)
Same Maya. Same Saturday. Wine in the fridge, six bottles. Cart in hand, one.
Beat. Let the callback land.
Quieter:
That's what Mission-First Home does. It turns the host she wanted to be into the host she actually was.
Then pick up the thread into Eric's close:
But getting there means making three deliberate bets first.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5, the sizing slide (~22s)
We sized this two ways.
Bottom-up: 5 million hosting-eligible DashPass MAUs. 8 percent declare a mission per quarter. 180 dollars in multi-merchant AOV. One and a half missions per year. That's 108 million in incremental Marketplace GOV at the base case.
Beat.
Now here's the honest read: 108 million dollars is a rounding error against DoorDash's 126 billion in annualized GOV. As a topline number, it's modest.
What it actually is, is a new retention vector for DashPass. Multi-merchant hosting missions are the strongest behavioral signal a user is in for the long haul. That's what makes this worth building, and that's what the next slide is about.
Aside for delivery: if anyone asks 'is 108M big enough to fund this?' the honest answer is no, not on GOV alone. The case rests on DashPass retention. Be ready to redirect to slide 15.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5, one number on the wall (~20s)
Per Class 9: the PM's job is to pick one leading indicator the team rallies around. We're picking mission declaration rate.
Why this one: it's the earliest signal in the funnel. It's fully within product's control. And it directly drives the three lagging outcomes leadership tracks.
Beat. Then walk the lagging side:
GOV: 54 to 162 million dollars incremental, driven directly by declaration rate, AOV, and frequency.
DashPass retention: a 1.5 to 4 point lift at the 12 month mark. Hosting cohorts retain at a premium to single-vertical users.
Multi-merchant share: 10 to 20 percent of party orders shift to multi-merchant baskets.
End with confidence. No closing aphorism. The numbers speak.
Aside for delivery: if anyone in Q&amp;A pushes 'where did the ranges come from?' the answer is: ranges instead of point estimates because we don't have access to internal DoorDash cohort data. The shape of the ranges is informed by Instacart Occasions launch performance and DoorDash's own DashPass retention disclosures. This is the slide that earns the rest of the pitch with the analytical audience.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ERIC, three bets (~25s)
Bet 1. Start with hosting because it's where multi-merchant orchestration creates the most user value and the most differentiated logistics moat. Win this, earn the right to expand into game day, dinner parties, cocktail nights.
Bet 2. Rules first, ML later. Ops-authored templates and real declared-mission data before any machine learning. Reliability before intelligence. That's how the Trust pillar gets earned.
Bet 3. New platform, new metrics. Declaration rate. Multi-merchant completion. Repeat declarations within 30 days. Leading indicators of DashPass retention we don't have today.
Brisk and confident. The slide is support. The voice carries the depth.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5, close (~10s)
Slow. Mirror the cold open.
One year later. It's 6:47 PM on a Saturday in February.
Beat. Then quieter:
Maya already poured the rosé.
Beat. Then: Thank you.
The rosé callback ties the close to the bad-bar slide ($18 rosé) and to Maya's original vision (good rosé on her cheese board). Same drink, but now she's the host. Don't explain it. Let the audience connect it themselves.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DA5B9-23E7-69D3-2937-D489D628D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72AF48-1C1A-FD72-9A13-F3CD3962E8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3F3BBC-9493-6464-8995-01C3DF27512B}"/>
              </a:ext>
            </a:extLst>
          </p:cNvPr>
          <p:cNvSpPr>
            <a:spLocks noGrp="1"/>
          </p:cNvSpPr>
          <p:nvPr>
            <p:ph type="body" idx="1"/>
          </p:nvPr>
        </p:nvSpPr>
        <p:spPr/>
        <p:txBody>
          <a:bodyPr/>
          <a:lstStyle/>
          <a:p>
            <a:r>
              <a:rPr lang="en-US"/>
              <a:t>SHINJINI, storyboard (~20s)
Brief pause to let people scan the grid.
Same Saturday with Mission-First Home. She opens DoorDash. Host Galentine's is right there on the home screen. She taps it. Confirms six guests. What would have been five carts becomes one cart, six merchants, one checkout.
Beat.
She edits two things. Swaps the cheese, adds extra rose. That's it. Three minutes of planning instead of three hours of orchestrating.
Close:
Saturday, she actually hosts.
Don't read every panel. Narrate the shape of the change.</a:t>
            </a:r>
          </a:p>
        </p:txBody>
      </p:sp>
      <p:sp>
        <p:nvSpPr>
          <p:cNvPr id="4" name="Slide Number Placeholder 3">
            <a:extLst>
              <a:ext uri="{FF2B5EF4-FFF2-40B4-BE49-F238E27FC236}">
                <a16:creationId xmlns:a16="http://schemas.microsoft.com/office/drawing/2014/main" id="{B679178E-B116-CAD7-39FC-ED207F9E92DB}"/>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0924571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ERIC, strategy + pillars (~20s)
The bet: shift from delivery layer to orchestrator. Two pillars carry it.
Mission Intelligence. Today, order data tells DoorDash what people bought. Mission data tells DoorDash why. That's the new signal.
Trust. The more reliably DoorDash completes missions, the more users hand off the next one.
They compound. Intelligence earns trust. Trust earns more missions. More missions feed more intelligence.
Close with the handoff into Rohan's section:
But before we get into the platform, we should talk about why it has to exist. Because right now, every host is doing this alone.
Beat. Let the next slide land. Don't say 'now Rohan will tell you about the problem.'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SHINJINI, storyboard (~20s)
Brief pause to let people scan the grid.
Same Saturday with Mission-First Home. She opens DoorDash. Host Galentine's is right there on the home screen. She taps it. Confirms six guests. What would have been five carts becomes one cart, six merchants, one checkout.
Beat.
She edits two things. Swaps the cheese, adds extra rose. That's it. Three minutes of planning instead of three hours of orchestrating.
Close:
Saturday, she actually hosts.
Don't read every panel. Narrate the shape of the change.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SHINJINI, the callback (~12s)
Same Maya. Same Saturday. Wine in the fridge, six bottles. Cart in hand, one.
Beat. Let the callback land.
Quieter:
That's what Mission-First Home does. It turns the host she wanted to be into the host she actually was.
Then pick up the thread into Eric's close:
But getting there means making three deliberate bets first.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ERIC, close (~10s)
DoorDash has always delivered the parts. Mission-First Home lets it orchestrate the whole gathering.
Beat. Then: Thank you.
Slow. Confident. Let the line breathe before smiling.
Runtime target: 4:30 talking + 30s demo = 5:00. If running long, tighten setup on slide 5 and drop the second beat on slide 13. Keep slide 8 intact.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video" Target="https://nuwildcat-my.sharepoint.com/:v:/g/personal/qsy8430_ads_northwestern_edu/IQA3B1Ukh91PRbSreziuIvkAAdhYzT77NHyiJt0JK4tAO08?nav=eyJyZWZlcnJhbEluZm8iOnsicmVmZXJyYWxBcHAiOiJPbmVEcml2ZUZvckJ1c2luZXNzIiwicmVmZXJyYWxBcHBQbGF0Zm9ybSI6IldlYiIsInJlZmVycmFsTW9kZSI6InZpZXciLCJyZWZlcnJhbFZpZXciOiJNeUZpbGVzTGlua0NvcHkifX0&amp;e=1VWwRR" TargetMode="External"/><Relationship Id="rId5" Type="http://schemas.openxmlformats.org/officeDocument/2006/relationships/image" Target="../media/image6.jpeg"/><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8F3"/>
        </a:solidFill>
        <a:effectLst/>
      </p:bgPr>
    </p:bg>
    <p:spTree>
      <p:nvGrpSpPr>
        <p:cNvPr id="1" name=""/>
        <p:cNvGrpSpPr/>
        <p:nvPr/>
      </p:nvGrpSpPr>
      <p:grpSpPr>
        <a:xfrm>
          <a:off x="0" y="0"/>
          <a:ext cx="0" cy="0"/>
          <a:chOff x="0" y="0"/>
          <a:chExt cx="0" cy="0"/>
        </a:xfrm>
      </p:grpSpPr>
      <p:sp>
        <p:nvSpPr>
          <p:cNvPr id="2" name="Text 0"/>
          <p:cNvSpPr/>
          <p:nvPr/>
        </p:nvSpPr>
        <p:spPr>
          <a:xfrm>
            <a:off x="731520" y="640080"/>
            <a:ext cx="10698480" cy="365760"/>
          </a:xfrm>
          <a:prstGeom prst="rect">
            <a:avLst/>
          </a:prstGeom>
          <a:noFill/>
          <a:ln/>
        </p:spPr>
        <p:txBody>
          <a:bodyPr wrap="square" lIns="0" tIns="0" rIns="0" bIns="0" rtlCol="0" anchor="ctr"/>
          <a:lstStyle/>
          <a:p>
            <a:pPr marL="0" indent="0">
              <a:buNone/>
            </a:pPr>
            <a:r>
              <a:rPr lang="en-US" sz="1100" b="1" kern="0" spc="800">
                <a:solidFill>
                  <a:srgbClr val="EB1700"/>
                </a:solidFill>
                <a:latin typeface="Helvetica" pitchFamily="34" charset="0"/>
                <a:ea typeface="Helvetica" pitchFamily="34" charset="-122"/>
                <a:cs typeface="Helvetica" pitchFamily="34" charset="-120"/>
              </a:rPr>
              <a:t>DOORDASH</a:t>
            </a:r>
            <a:endParaRPr lang="en-US" sz="1100"/>
          </a:p>
        </p:txBody>
      </p:sp>
      <p:sp>
        <p:nvSpPr>
          <p:cNvPr id="3" name="Text 1"/>
          <p:cNvSpPr/>
          <p:nvPr/>
        </p:nvSpPr>
        <p:spPr>
          <a:xfrm>
            <a:off x="731520" y="1645920"/>
            <a:ext cx="10698480" cy="3657600"/>
          </a:xfrm>
          <a:prstGeom prst="rect">
            <a:avLst/>
          </a:prstGeom>
          <a:noFill/>
          <a:ln/>
        </p:spPr>
        <p:txBody>
          <a:bodyPr wrap="square" lIns="0" tIns="0" rIns="0" bIns="0" rtlCol="0" anchor="t"/>
          <a:lstStyle/>
          <a:p>
            <a:r>
              <a:rPr lang="en-US" sz="9600" b="1">
                <a:latin typeface="Inter"/>
                <a:ea typeface="Inter"/>
              </a:rPr>
              <a:t>Mission-</a:t>
            </a:r>
          </a:p>
          <a:p>
            <a:r>
              <a:rPr lang="en-US" sz="9600" b="1">
                <a:latin typeface="Inter"/>
                <a:ea typeface="Inter"/>
              </a:rPr>
              <a:t>First Home.</a:t>
            </a:r>
          </a:p>
        </p:txBody>
      </p:sp>
      <p:sp>
        <p:nvSpPr>
          <p:cNvPr id="4" name="Text 2"/>
          <p:cNvSpPr/>
          <p:nvPr/>
        </p:nvSpPr>
        <p:spPr>
          <a:xfrm>
            <a:off x="731520" y="5303520"/>
            <a:ext cx="10698480" cy="457200"/>
          </a:xfrm>
          <a:prstGeom prst="rect">
            <a:avLst/>
          </a:prstGeom>
          <a:noFill/>
          <a:ln/>
        </p:spPr>
        <p:txBody>
          <a:bodyPr wrap="square" lIns="0" tIns="0" rIns="0" bIns="0" rtlCol="0" anchor="ctr"/>
          <a:lstStyle/>
          <a:p>
            <a:pPr marL="0" indent="0">
              <a:buNone/>
            </a:pPr>
            <a:r>
              <a:rPr lang="en-US" sz="2000" b="1" i="1">
                <a:solidFill>
                  <a:schemeClr val="bg2">
                    <a:lumMod val="49000"/>
                  </a:schemeClr>
                </a:solidFill>
                <a:latin typeface="Inter"/>
                <a:ea typeface="Inter"/>
              </a:rPr>
              <a:t>Turning the things people are trying to accomplish into completed missions.</a:t>
            </a:r>
          </a:p>
        </p:txBody>
      </p:sp>
      <p:sp>
        <p:nvSpPr>
          <p:cNvPr id="5" name="Text 3"/>
          <p:cNvSpPr/>
          <p:nvPr/>
        </p:nvSpPr>
        <p:spPr>
          <a:xfrm>
            <a:off x="731520" y="6355080"/>
            <a:ext cx="10698480" cy="274320"/>
          </a:xfrm>
          <a:prstGeom prst="rect">
            <a:avLst/>
          </a:prstGeom>
          <a:noFill/>
          <a:ln/>
        </p:spPr>
        <p:txBody>
          <a:bodyPr wrap="square" lIns="0" tIns="0" rIns="0" bIns="0" rtlCol="0" anchor="ctr"/>
          <a:lstStyle/>
          <a:p>
            <a:r>
              <a:rPr lang="en-US" sz="1000" kern="0" spc="400">
                <a:solidFill>
                  <a:srgbClr val="6B6B6B"/>
                </a:solidFill>
                <a:latin typeface="Helvetica"/>
                <a:ea typeface="Helvetica" pitchFamily="34" charset="-122"/>
                <a:cs typeface="Helvetica"/>
              </a:rPr>
              <a:t>Team Mission A  /  </a:t>
            </a:r>
            <a:r>
              <a:rPr lang="en-US" sz="1000" kern="0" spc="400" err="1">
                <a:solidFill>
                  <a:srgbClr val="6B6B6B"/>
                </a:solidFill>
                <a:latin typeface="Helvetica"/>
                <a:ea typeface="Helvetica" pitchFamily="34" charset="-122"/>
                <a:cs typeface="Helvetica"/>
              </a:rPr>
              <a:t>MBAi</a:t>
            </a:r>
            <a:r>
              <a:rPr lang="en-US" sz="1000" kern="0" spc="400">
                <a:solidFill>
                  <a:srgbClr val="6B6B6B"/>
                </a:solidFill>
                <a:latin typeface="Helvetica"/>
                <a:ea typeface="Helvetica" pitchFamily="34" charset="-122"/>
                <a:cs typeface="Helvetica"/>
              </a:rPr>
              <a:t> 420  /  Spring 2026</a:t>
            </a:r>
            <a:endParaRPr lang="en-US" sz="1000">
              <a:latin typeface="Helvetica"/>
              <a:cs typeface="Helvetic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EB1700"/>
        </a:solidFill>
        <a:effectLst/>
      </p:bgPr>
    </p:bg>
    <p:spTree>
      <p:nvGrpSpPr>
        <p:cNvPr id="1" name=""/>
        <p:cNvGrpSpPr/>
        <p:nvPr/>
      </p:nvGrpSpPr>
      <p:grpSpPr>
        <a:xfrm>
          <a:off x="0" y="0"/>
          <a:ext cx="0" cy="0"/>
          <a:chOff x="0" y="0"/>
          <a:chExt cx="0" cy="0"/>
        </a:xfrm>
      </p:grpSpPr>
      <p:sp>
        <p:nvSpPr>
          <p:cNvPr id="2" name="Text 0"/>
          <p:cNvSpPr/>
          <p:nvPr/>
        </p:nvSpPr>
        <p:spPr>
          <a:xfrm>
            <a:off x="731520" y="640080"/>
            <a:ext cx="4572000" cy="365760"/>
          </a:xfrm>
          <a:prstGeom prst="rect">
            <a:avLst/>
          </a:prstGeom>
          <a:noFill/>
          <a:ln/>
        </p:spPr>
        <p:txBody>
          <a:bodyPr wrap="square" lIns="0" tIns="0" rIns="0" bIns="0" rtlCol="0" anchor="ctr"/>
          <a:lstStyle/>
          <a:p>
            <a:pPr marL="0" indent="0">
              <a:buNone/>
            </a:pPr>
            <a:r>
              <a:rPr lang="en-US" sz="1100" b="1" kern="0" spc="800">
                <a:solidFill>
                  <a:srgbClr val="FFFFFF"/>
                </a:solidFill>
                <a:latin typeface="Inter" pitchFamily="34" charset="0"/>
                <a:ea typeface="Inter" pitchFamily="34" charset="-122"/>
                <a:cs typeface="Inter" pitchFamily="34" charset="-120"/>
              </a:rPr>
              <a:t>THE PROBLEM</a:t>
            </a:r>
            <a:endParaRPr lang="en-US" sz="1100"/>
          </a:p>
        </p:txBody>
      </p:sp>
      <p:sp>
        <p:nvSpPr>
          <p:cNvPr id="3" name="Text 1"/>
          <p:cNvSpPr/>
          <p:nvPr/>
        </p:nvSpPr>
        <p:spPr>
          <a:xfrm>
            <a:off x="731520" y="1737360"/>
            <a:ext cx="10698480" cy="4114800"/>
          </a:xfrm>
          <a:prstGeom prst="rect">
            <a:avLst/>
          </a:prstGeom>
          <a:noFill/>
          <a:ln/>
        </p:spPr>
        <p:txBody>
          <a:bodyPr wrap="square" lIns="0" tIns="0" rIns="0" bIns="0" rtlCol="0" anchor="t"/>
          <a:lstStyle/>
          <a:p>
            <a:pPr marL="0" indent="0">
              <a:buNone/>
            </a:pPr>
            <a:r>
              <a:rPr lang="en-US" sz="8000" b="1">
                <a:solidFill>
                  <a:srgbClr val="FFFFFF"/>
                </a:solidFill>
                <a:latin typeface="Inter" pitchFamily="34" charset="0"/>
                <a:ea typeface="Inter" pitchFamily="34" charset="-122"/>
                <a:cs typeface="Inter" pitchFamily="34" charset="-120"/>
              </a:rPr>
              <a:t>It's 6:47 PM</a:t>
            </a:r>
            <a:endParaRPr lang="en-US" sz="8000"/>
          </a:p>
          <a:p>
            <a:pPr marL="0" indent="0">
              <a:buNone/>
            </a:pPr>
            <a:r>
              <a:rPr lang="en-US" sz="8000" b="1">
                <a:solidFill>
                  <a:srgbClr val="FFFFFF"/>
                </a:solidFill>
                <a:latin typeface="Inter" pitchFamily="34" charset="0"/>
                <a:ea typeface="Inter" pitchFamily="34" charset="-122"/>
                <a:cs typeface="Inter" pitchFamily="34" charset="-120"/>
              </a:rPr>
              <a:t>on a Saturday</a:t>
            </a:r>
            <a:endParaRPr lang="en-US" sz="8000"/>
          </a:p>
          <a:p>
            <a:pPr marL="0" indent="0">
              <a:buNone/>
            </a:pPr>
            <a:r>
              <a:rPr lang="en-US" sz="8000" b="1">
                <a:solidFill>
                  <a:srgbClr val="FFFFFF"/>
                </a:solidFill>
                <a:latin typeface="Inter" pitchFamily="34" charset="0"/>
                <a:ea typeface="Inter" pitchFamily="34" charset="-122"/>
                <a:cs typeface="Inter" pitchFamily="34" charset="-120"/>
              </a:rPr>
              <a:t>in February.</a:t>
            </a:r>
            <a:endParaRPr lang="en-US" sz="8000"/>
          </a:p>
        </p:txBody>
      </p:sp>
      <p:sp>
        <p:nvSpPr>
          <p:cNvPr id="4" name="Text 2"/>
          <p:cNvSpPr/>
          <p:nvPr/>
        </p:nvSpPr>
        <p:spPr>
          <a:xfrm>
            <a:off x="731520" y="6355080"/>
            <a:ext cx="5486400" cy="274320"/>
          </a:xfrm>
          <a:prstGeom prst="rect">
            <a:avLst/>
          </a:prstGeom>
          <a:noFill/>
          <a:ln/>
        </p:spPr>
        <p:txBody>
          <a:bodyPr wrap="square" lIns="0" tIns="0" rIns="0" bIns="0" rtlCol="0" anchor="ctr"/>
          <a:lstStyle/>
          <a:p>
            <a:pPr marL="0" indent="0">
              <a:buNone/>
            </a:pPr>
            <a:r>
              <a:rPr lang="en-US" sz="900" kern="0" spc="600">
                <a:solidFill>
                  <a:srgbClr val="FFFFFF"/>
                </a:solidFill>
                <a:latin typeface="Inter" pitchFamily="34" charset="0"/>
                <a:ea typeface="Inter" pitchFamily="34" charset="-122"/>
                <a:cs typeface="Inter" pitchFamily="34" charset="-120"/>
              </a:rPr>
              <a:t>DOORDASH  /  MISSION-FIRST HOME</a:t>
            </a:r>
            <a:endParaRPr lang="en-US" sz="900"/>
          </a:p>
        </p:txBody>
      </p:sp>
    </p:spTree>
    <p:extLst>
      <p:ext uri="{BB962C8B-B14F-4D97-AF65-F5344CB8AC3E}">
        <p14:creationId xmlns:p14="http://schemas.microsoft.com/office/powerpoint/2010/main" val="2998868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8F3"/>
        </a:solidFill>
        <a:effectLst/>
      </p:bgPr>
    </p:bg>
    <p:spTree>
      <p:nvGrpSpPr>
        <p:cNvPr id="1" name=""/>
        <p:cNvGrpSpPr/>
        <p:nvPr/>
      </p:nvGrpSpPr>
      <p:grpSpPr>
        <a:xfrm>
          <a:off x="0" y="0"/>
          <a:ext cx="0" cy="0"/>
          <a:chOff x="0" y="0"/>
          <a:chExt cx="0" cy="0"/>
        </a:xfrm>
      </p:grpSpPr>
      <p:sp>
        <p:nvSpPr>
          <p:cNvPr id="2" name="Text 0"/>
          <p:cNvSpPr/>
          <p:nvPr/>
        </p:nvSpPr>
        <p:spPr>
          <a:xfrm>
            <a:off x="731520" y="1371600"/>
            <a:ext cx="5486400" cy="548640"/>
          </a:xfrm>
          <a:prstGeom prst="rect">
            <a:avLst/>
          </a:prstGeom>
          <a:noFill/>
          <a:ln/>
        </p:spPr>
        <p:txBody>
          <a:bodyPr wrap="square" lIns="0" tIns="0" rIns="0" bIns="0" rtlCol="0" anchor="ctr"/>
          <a:lstStyle/>
          <a:p>
            <a:pPr marL="0" indent="0">
              <a:buNone/>
            </a:pPr>
            <a:r>
              <a:rPr lang="en-US" sz="1600" i="1">
                <a:solidFill>
                  <a:srgbClr val="6B6B6B"/>
                </a:solidFill>
                <a:latin typeface="Inter" pitchFamily="34" charset="0"/>
                <a:ea typeface="Inter" pitchFamily="34" charset="-122"/>
                <a:cs typeface="Inter" pitchFamily="34" charset="-120"/>
              </a:rPr>
              <a:t>Meet</a:t>
            </a:r>
            <a:endParaRPr lang="en-US" sz="1600"/>
          </a:p>
        </p:txBody>
      </p:sp>
      <p:sp>
        <p:nvSpPr>
          <p:cNvPr id="3" name="Text 1"/>
          <p:cNvSpPr/>
          <p:nvPr/>
        </p:nvSpPr>
        <p:spPr>
          <a:xfrm>
            <a:off x="731520" y="1828800"/>
            <a:ext cx="6400800" cy="1828800"/>
          </a:xfrm>
          <a:prstGeom prst="rect">
            <a:avLst/>
          </a:prstGeom>
          <a:noFill/>
          <a:ln/>
        </p:spPr>
        <p:txBody>
          <a:bodyPr wrap="square" lIns="0" tIns="0" rIns="0" bIns="0" rtlCol="0" anchor="ctr"/>
          <a:lstStyle/>
          <a:p>
            <a:pPr marL="0" indent="0">
              <a:buNone/>
            </a:pPr>
            <a:r>
              <a:rPr lang="en-US" sz="12000" b="1">
                <a:solidFill>
                  <a:srgbClr val="1A1A1A"/>
                </a:solidFill>
                <a:latin typeface="Inter" pitchFamily="34" charset="0"/>
                <a:ea typeface="Inter" pitchFamily="34" charset="-122"/>
                <a:cs typeface="Inter" pitchFamily="34" charset="-120"/>
              </a:rPr>
              <a:t>Maya.</a:t>
            </a:r>
            <a:endParaRPr lang="en-US" sz="12000"/>
          </a:p>
        </p:txBody>
      </p:sp>
      <p:sp>
        <p:nvSpPr>
          <p:cNvPr id="4" name="Text 2"/>
          <p:cNvSpPr/>
          <p:nvPr/>
        </p:nvSpPr>
        <p:spPr>
          <a:xfrm>
            <a:off x="731520" y="4206240"/>
            <a:ext cx="8229600" cy="457200"/>
          </a:xfrm>
          <a:prstGeom prst="rect">
            <a:avLst/>
          </a:prstGeom>
          <a:noFill/>
          <a:ln/>
        </p:spPr>
        <p:txBody>
          <a:bodyPr wrap="square" lIns="0" tIns="0" rIns="0" bIns="0" rtlCol="0" anchor="ctr"/>
          <a:lstStyle/>
          <a:p>
            <a:pPr marL="0" indent="0">
              <a:buNone/>
            </a:pPr>
            <a:r>
              <a:rPr lang="en-US" sz="1600">
                <a:solidFill>
                  <a:srgbClr val="1A1A1A"/>
                </a:solidFill>
                <a:latin typeface="Inter" pitchFamily="34" charset="0"/>
                <a:ea typeface="Inter" pitchFamily="34" charset="-122"/>
                <a:cs typeface="Inter" pitchFamily="34" charset="-120"/>
              </a:rPr>
              <a:t>Second-year MBA. Lives at E2. Just got home from a club hang.</a:t>
            </a:r>
            <a:endParaRPr lang="en-US" sz="1600"/>
          </a:p>
        </p:txBody>
      </p:sp>
      <p:sp>
        <p:nvSpPr>
          <p:cNvPr id="5" name="Text 3"/>
          <p:cNvSpPr/>
          <p:nvPr/>
        </p:nvSpPr>
        <p:spPr>
          <a:xfrm>
            <a:off x="731520" y="4754880"/>
            <a:ext cx="8229600" cy="457200"/>
          </a:xfrm>
          <a:prstGeom prst="rect">
            <a:avLst/>
          </a:prstGeom>
          <a:noFill/>
          <a:ln/>
        </p:spPr>
        <p:txBody>
          <a:bodyPr wrap="square" lIns="0" tIns="0" rIns="0" bIns="0" rtlCol="0" anchor="ctr"/>
          <a:lstStyle/>
          <a:p>
            <a:pPr marL="0" indent="0">
              <a:buNone/>
            </a:pPr>
            <a:r>
              <a:rPr lang="en-US" sz="1600" i="1">
                <a:solidFill>
                  <a:srgbClr val="EB1700"/>
                </a:solidFill>
                <a:latin typeface="Inter" pitchFamily="34" charset="0"/>
                <a:ea typeface="Inter" pitchFamily="34" charset="-122"/>
                <a:cs typeface="Inter" pitchFamily="34" charset="-120"/>
              </a:rPr>
              <a:t>She's been thinking about hosting Galentine's all week.</a:t>
            </a:r>
            <a:endParaRPr lang="en-US" sz="1600"/>
          </a:p>
        </p:txBody>
      </p:sp>
      <p:sp>
        <p:nvSpPr>
          <p:cNvPr id="6" name="Text 4"/>
          <p:cNvSpPr/>
          <p:nvPr/>
        </p:nvSpPr>
        <p:spPr>
          <a:xfrm>
            <a:off x="731520" y="5394960"/>
            <a:ext cx="8229600" cy="365760"/>
          </a:xfrm>
          <a:prstGeom prst="rect">
            <a:avLst/>
          </a:prstGeom>
          <a:noFill/>
          <a:ln/>
        </p:spPr>
        <p:txBody>
          <a:bodyPr wrap="square" lIns="0" tIns="0" rIns="0" bIns="0" rtlCol="0" anchor="ctr"/>
          <a:lstStyle/>
          <a:p>
            <a:pPr marL="0" indent="0">
              <a:buNone/>
            </a:pPr>
            <a:r>
              <a:rPr lang="en-US" sz="1300">
                <a:solidFill>
                  <a:srgbClr val="6B6B6B"/>
                </a:solidFill>
                <a:latin typeface="Inter" pitchFamily="34" charset="0"/>
                <a:ea typeface="Inter" pitchFamily="34" charset="-122"/>
                <a:cs typeface="Inter" pitchFamily="34" charset="-120"/>
              </a:rPr>
              <a:t>Confidence level: 9/10. Wine in fridge: 0.</a:t>
            </a:r>
            <a:endParaRPr lang="en-US" sz="1300"/>
          </a:p>
        </p:txBody>
      </p:sp>
      <p:sp>
        <p:nvSpPr>
          <p:cNvPr id="7" name="Shape 5"/>
          <p:cNvSpPr/>
          <p:nvPr/>
        </p:nvSpPr>
        <p:spPr>
          <a:xfrm>
            <a:off x="8961120" y="2011680"/>
            <a:ext cx="2560320" cy="2560320"/>
          </a:xfrm>
          <a:prstGeom prst="ellipse">
            <a:avLst/>
          </a:prstGeom>
          <a:solidFill>
            <a:srgbClr val="EB1700"/>
          </a:solidFill>
          <a:ln w="12700">
            <a:solidFill>
              <a:srgbClr val="EB1700"/>
            </a:solidFill>
            <a:prstDash val="solid"/>
          </a:ln>
        </p:spPr>
      </p:sp>
      <p:sp>
        <p:nvSpPr>
          <p:cNvPr id="8" name="Text 6"/>
          <p:cNvSpPr/>
          <p:nvPr/>
        </p:nvSpPr>
        <p:spPr>
          <a:xfrm>
            <a:off x="8961120" y="2011680"/>
            <a:ext cx="2560320" cy="2560320"/>
          </a:xfrm>
          <a:prstGeom prst="rect">
            <a:avLst/>
          </a:prstGeom>
          <a:noFill/>
          <a:ln/>
        </p:spPr>
        <p:txBody>
          <a:bodyPr wrap="square" lIns="0" tIns="0" rIns="0" bIns="0" rtlCol="0" anchor="ctr"/>
          <a:lstStyle/>
          <a:p>
            <a:pPr marL="0" indent="0" algn="ctr">
              <a:buNone/>
            </a:pPr>
            <a:r>
              <a:rPr lang="en-US" sz="14000" b="1">
                <a:solidFill>
                  <a:srgbClr val="FFFFFF"/>
                </a:solidFill>
                <a:latin typeface="Inter" pitchFamily="34" charset="0"/>
                <a:ea typeface="Inter" pitchFamily="34" charset="-122"/>
                <a:cs typeface="Inter" pitchFamily="34" charset="-120"/>
              </a:rPr>
              <a:t>M</a:t>
            </a:r>
            <a:endParaRPr lang="en-US" sz="14000"/>
          </a:p>
        </p:txBody>
      </p:sp>
    </p:spTree>
    <p:extLst>
      <p:ext uri="{BB962C8B-B14F-4D97-AF65-F5344CB8AC3E}">
        <p14:creationId xmlns:p14="http://schemas.microsoft.com/office/powerpoint/2010/main" val="3498747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8F3"/>
        </a:solidFill>
        <a:effectLst/>
      </p:bgPr>
    </p:bg>
    <p:spTree>
      <p:nvGrpSpPr>
        <p:cNvPr id="1" name=""/>
        <p:cNvGrpSpPr/>
        <p:nvPr/>
      </p:nvGrpSpPr>
      <p:grpSpPr>
        <a:xfrm>
          <a:off x="0" y="0"/>
          <a:ext cx="0" cy="0"/>
          <a:chOff x="0" y="0"/>
          <a:chExt cx="0" cy="0"/>
        </a:xfrm>
      </p:grpSpPr>
      <p:sp>
        <p:nvSpPr>
          <p:cNvPr id="2" name="Text 0"/>
          <p:cNvSpPr/>
          <p:nvPr/>
        </p:nvSpPr>
        <p:spPr>
          <a:xfrm>
            <a:off x="731520" y="457200"/>
            <a:ext cx="10698480" cy="320040"/>
          </a:xfrm>
          <a:prstGeom prst="rect">
            <a:avLst/>
          </a:prstGeom>
          <a:noFill/>
          <a:ln/>
        </p:spPr>
        <p:txBody>
          <a:bodyPr wrap="square" lIns="0" tIns="0" rIns="0" bIns="0" rtlCol="0" anchor="ctr"/>
          <a:lstStyle/>
          <a:p>
            <a:pPr marL="0" indent="0">
              <a:buNone/>
            </a:pPr>
            <a:r>
              <a:rPr lang="en-US" sz="1100" b="1" kern="0" spc="800">
                <a:solidFill>
                  <a:srgbClr val="EB1700"/>
                </a:solidFill>
                <a:latin typeface="Inter" pitchFamily="34" charset="0"/>
                <a:ea typeface="Inter" pitchFamily="34" charset="-122"/>
                <a:cs typeface="Inter" pitchFamily="34" charset="-120"/>
              </a:rPr>
              <a:t>FRIDAY NIGHT. COUCH. PHONE OPEN.</a:t>
            </a:r>
            <a:endParaRPr lang="en-US" sz="1100"/>
          </a:p>
        </p:txBody>
      </p:sp>
      <p:sp>
        <p:nvSpPr>
          <p:cNvPr id="3" name="Text 1"/>
          <p:cNvSpPr/>
          <p:nvPr/>
        </p:nvSpPr>
        <p:spPr>
          <a:xfrm>
            <a:off x="731520" y="868680"/>
            <a:ext cx="10698480" cy="411480"/>
          </a:xfrm>
          <a:prstGeom prst="rect">
            <a:avLst/>
          </a:prstGeom>
          <a:noFill/>
          <a:ln/>
        </p:spPr>
        <p:txBody>
          <a:bodyPr wrap="square" lIns="0" tIns="0" rIns="0" bIns="0" rtlCol="0" anchor="ctr"/>
          <a:lstStyle/>
          <a:p>
            <a:pPr marL="0" indent="0">
              <a:buNone/>
            </a:pPr>
            <a:r>
              <a:rPr lang="en-US" sz="2200" b="1">
                <a:solidFill>
                  <a:srgbClr val="1A1A1A"/>
                </a:solidFill>
                <a:latin typeface="Inter" pitchFamily="34" charset="0"/>
                <a:ea typeface="Inter" pitchFamily="34" charset="-122"/>
                <a:cs typeface="Inter" pitchFamily="34" charset="-120"/>
              </a:rPr>
              <a:t>Her brain opens five tabs at once.</a:t>
            </a:r>
            <a:endParaRPr lang="en-US" sz="2200"/>
          </a:p>
        </p:txBody>
      </p:sp>
      <p:sp>
        <p:nvSpPr>
          <p:cNvPr id="4" name="Shape 2"/>
          <p:cNvSpPr/>
          <p:nvPr/>
        </p:nvSpPr>
        <p:spPr>
          <a:xfrm>
            <a:off x="4434840" y="1417320"/>
            <a:ext cx="3291840" cy="4937760"/>
          </a:xfrm>
          <a:prstGeom prst="roundRect">
            <a:avLst>
              <a:gd name="adj" fmla="val 12500"/>
            </a:avLst>
          </a:prstGeom>
          <a:solidFill>
            <a:srgbClr val="0A0A0A"/>
          </a:solidFill>
          <a:ln w="25400">
            <a:solidFill>
              <a:srgbClr val="2A2A2A"/>
            </a:solidFill>
            <a:prstDash val="solid"/>
          </a:ln>
          <a:effectLst>
            <a:outerShdw blurRad="279400" dist="101600" dir="5400000" algn="bl" rotWithShape="0">
              <a:srgbClr val="000000">
                <a:alpha val="22000"/>
              </a:srgbClr>
            </a:outerShdw>
          </a:effectLst>
        </p:spPr>
      </p:sp>
      <p:sp>
        <p:nvSpPr>
          <p:cNvPr id="5" name="Shape 3"/>
          <p:cNvSpPr/>
          <p:nvPr/>
        </p:nvSpPr>
        <p:spPr>
          <a:xfrm>
            <a:off x="4526280" y="1527048"/>
            <a:ext cx="3108960" cy="4718304"/>
          </a:xfrm>
          <a:prstGeom prst="roundRect">
            <a:avLst>
              <a:gd name="adj" fmla="val 11176"/>
            </a:avLst>
          </a:prstGeom>
          <a:solidFill>
            <a:srgbClr val="000000"/>
          </a:solidFill>
          <a:ln w="12700">
            <a:solidFill>
              <a:srgbClr val="000000"/>
            </a:solidFill>
            <a:prstDash val="solid"/>
          </a:ln>
        </p:spPr>
      </p:sp>
      <p:sp>
        <p:nvSpPr>
          <p:cNvPr id="6" name="Shape 4"/>
          <p:cNvSpPr/>
          <p:nvPr/>
        </p:nvSpPr>
        <p:spPr>
          <a:xfrm>
            <a:off x="5577840" y="1636776"/>
            <a:ext cx="1005840" cy="237744"/>
          </a:xfrm>
          <a:prstGeom prst="roundRect">
            <a:avLst>
              <a:gd name="adj" fmla="val 50000"/>
            </a:avLst>
          </a:prstGeom>
          <a:solidFill>
            <a:srgbClr val="0A0A0A"/>
          </a:solidFill>
          <a:ln w="12700">
            <a:solidFill>
              <a:srgbClr val="0A0A0A"/>
            </a:solidFill>
            <a:prstDash val="solid"/>
          </a:ln>
        </p:spPr>
      </p:sp>
      <p:sp>
        <p:nvSpPr>
          <p:cNvPr id="7" name="Text 5"/>
          <p:cNvSpPr/>
          <p:nvPr/>
        </p:nvSpPr>
        <p:spPr>
          <a:xfrm>
            <a:off x="4663440" y="1664208"/>
            <a:ext cx="640080" cy="201168"/>
          </a:xfrm>
          <a:prstGeom prst="rect">
            <a:avLst/>
          </a:prstGeom>
          <a:noFill/>
          <a:ln/>
        </p:spPr>
        <p:txBody>
          <a:bodyPr wrap="square" lIns="0" tIns="0" rIns="0" bIns="0" rtlCol="0" anchor="ctr"/>
          <a:lstStyle/>
          <a:p>
            <a:pPr marL="0" indent="0">
              <a:buNone/>
            </a:pPr>
            <a:r>
              <a:rPr lang="en-US" sz="1100" b="1">
                <a:solidFill>
                  <a:srgbClr val="FFFFFF"/>
                </a:solidFill>
                <a:latin typeface="Inter" pitchFamily="34" charset="0"/>
                <a:ea typeface="Inter" pitchFamily="34" charset="-122"/>
                <a:cs typeface="Inter" pitchFamily="34" charset="-120"/>
              </a:rPr>
              <a:t>9:41</a:t>
            </a:r>
            <a:endParaRPr lang="en-US" sz="1100"/>
          </a:p>
        </p:txBody>
      </p:sp>
      <p:sp>
        <p:nvSpPr>
          <p:cNvPr id="8" name="Shape 6"/>
          <p:cNvSpPr/>
          <p:nvPr/>
        </p:nvSpPr>
        <p:spPr>
          <a:xfrm>
            <a:off x="6858000" y="1728216"/>
            <a:ext cx="36576" cy="36576"/>
          </a:xfrm>
          <a:prstGeom prst="ellipse">
            <a:avLst/>
          </a:prstGeom>
          <a:solidFill>
            <a:srgbClr val="FFFFFF"/>
          </a:solidFill>
          <a:ln w="12700">
            <a:solidFill>
              <a:srgbClr val="FFFFFF"/>
            </a:solidFill>
            <a:prstDash val="solid"/>
          </a:ln>
        </p:spPr>
      </p:sp>
      <p:sp>
        <p:nvSpPr>
          <p:cNvPr id="9" name="Shape 7"/>
          <p:cNvSpPr/>
          <p:nvPr/>
        </p:nvSpPr>
        <p:spPr>
          <a:xfrm>
            <a:off x="6912864" y="1728216"/>
            <a:ext cx="36576" cy="36576"/>
          </a:xfrm>
          <a:prstGeom prst="ellipse">
            <a:avLst/>
          </a:prstGeom>
          <a:solidFill>
            <a:srgbClr val="FFFFFF"/>
          </a:solidFill>
          <a:ln w="12700">
            <a:solidFill>
              <a:srgbClr val="FFFFFF"/>
            </a:solidFill>
            <a:prstDash val="solid"/>
          </a:ln>
        </p:spPr>
      </p:sp>
      <p:sp>
        <p:nvSpPr>
          <p:cNvPr id="10" name="Shape 8"/>
          <p:cNvSpPr/>
          <p:nvPr/>
        </p:nvSpPr>
        <p:spPr>
          <a:xfrm>
            <a:off x="6967728" y="1728216"/>
            <a:ext cx="36576" cy="36576"/>
          </a:xfrm>
          <a:prstGeom prst="ellipse">
            <a:avLst/>
          </a:prstGeom>
          <a:solidFill>
            <a:srgbClr val="FFFFFF"/>
          </a:solidFill>
          <a:ln w="12700">
            <a:solidFill>
              <a:srgbClr val="FFFFFF"/>
            </a:solidFill>
            <a:prstDash val="solid"/>
          </a:ln>
        </p:spPr>
      </p:sp>
      <p:sp>
        <p:nvSpPr>
          <p:cNvPr id="11" name="Shape 9"/>
          <p:cNvSpPr/>
          <p:nvPr/>
        </p:nvSpPr>
        <p:spPr>
          <a:xfrm>
            <a:off x="7022592" y="1728216"/>
            <a:ext cx="36576" cy="36576"/>
          </a:xfrm>
          <a:prstGeom prst="ellipse">
            <a:avLst/>
          </a:prstGeom>
          <a:solidFill>
            <a:srgbClr val="FFFFFF"/>
          </a:solidFill>
          <a:ln w="12700">
            <a:solidFill>
              <a:srgbClr val="FFFFFF"/>
            </a:solidFill>
            <a:prstDash val="solid"/>
          </a:ln>
        </p:spPr>
      </p:sp>
      <p:sp>
        <p:nvSpPr>
          <p:cNvPr id="12" name="Shape 10"/>
          <p:cNvSpPr/>
          <p:nvPr/>
        </p:nvSpPr>
        <p:spPr>
          <a:xfrm>
            <a:off x="7132320" y="1691640"/>
            <a:ext cx="146304" cy="118872"/>
          </a:xfrm>
          <a:prstGeom prst="triangle">
            <a:avLst/>
          </a:prstGeom>
          <a:solidFill>
            <a:srgbClr val="FFFFFF"/>
          </a:solidFill>
          <a:ln w="12700">
            <a:solidFill>
              <a:srgbClr val="FFFFFF"/>
            </a:solidFill>
            <a:prstDash val="solid"/>
          </a:ln>
        </p:spPr>
      </p:sp>
      <p:sp>
        <p:nvSpPr>
          <p:cNvPr id="13" name="Shape 11"/>
          <p:cNvSpPr/>
          <p:nvPr/>
        </p:nvSpPr>
        <p:spPr>
          <a:xfrm>
            <a:off x="7342632" y="1719072"/>
            <a:ext cx="201168" cy="91440"/>
          </a:xfrm>
          <a:prstGeom prst="rect">
            <a:avLst/>
          </a:prstGeom>
          <a:solidFill>
            <a:srgbClr val="FFFFFF"/>
          </a:solidFill>
          <a:ln w="12700">
            <a:solidFill>
              <a:srgbClr val="FFFFFF"/>
            </a:solidFill>
            <a:prstDash val="solid"/>
          </a:ln>
        </p:spPr>
      </p:sp>
      <p:sp>
        <p:nvSpPr>
          <p:cNvPr id="14" name="Text 12"/>
          <p:cNvSpPr/>
          <p:nvPr/>
        </p:nvSpPr>
        <p:spPr>
          <a:xfrm>
            <a:off x="4526280" y="2029968"/>
            <a:ext cx="3108960" cy="777240"/>
          </a:xfrm>
          <a:prstGeom prst="rect">
            <a:avLst/>
          </a:prstGeom>
          <a:noFill/>
          <a:ln/>
        </p:spPr>
        <p:txBody>
          <a:bodyPr wrap="square" lIns="0" tIns="0" rIns="0" bIns="0" rtlCol="0" anchor="ctr"/>
          <a:lstStyle/>
          <a:p>
            <a:pPr marL="0" indent="0" algn="ctr">
              <a:buNone/>
            </a:pPr>
            <a:r>
              <a:rPr lang="en-US" sz="5200" b="1">
                <a:solidFill>
                  <a:srgbClr val="FFFFFF"/>
                </a:solidFill>
                <a:latin typeface="Inter" pitchFamily="34" charset="0"/>
                <a:ea typeface="Inter" pitchFamily="34" charset="-122"/>
                <a:cs typeface="Inter" pitchFamily="34" charset="-120"/>
              </a:rPr>
              <a:t>8:38</a:t>
            </a:r>
            <a:endParaRPr lang="en-US" sz="5200"/>
          </a:p>
        </p:txBody>
      </p:sp>
      <p:sp>
        <p:nvSpPr>
          <p:cNvPr id="15" name="Text 13"/>
          <p:cNvSpPr/>
          <p:nvPr/>
        </p:nvSpPr>
        <p:spPr>
          <a:xfrm>
            <a:off x="4526280" y="2761488"/>
            <a:ext cx="3108960" cy="228600"/>
          </a:xfrm>
          <a:prstGeom prst="rect">
            <a:avLst/>
          </a:prstGeom>
          <a:noFill/>
          <a:ln/>
        </p:spPr>
        <p:txBody>
          <a:bodyPr wrap="square" lIns="0" tIns="0" rIns="0" bIns="0" rtlCol="0" anchor="ctr"/>
          <a:lstStyle/>
          <a:p>
            <a:pPr marL="0" indent="0" algn="ctr">
              <a:buNone/>
            </a:pPr>
            <a:r>
              <a:rPr lang="en-US" sz="1000">
                <a:solidFill>
                  <a:srgbClr val="DDDDDD"/>
                </a:solidFill>
                <a:latin typeface="Inter" pitchFamily="34" charset="0"/>
                <a:ea typeface="Inter" pitchFamily="34" charset="-122"/>
                <a:cs typeface="Inter" pitchFamily="34" charset="-120"/>
              </a:rPr>
              <a:t>Friday, February 13</a:t>
            </a:r>
            <a:endParaRPr lang="en-US" sz="1000"/>
          </a:p>
        </p:txBody>
      </p:sp>
      <p:sp>
        <p:nvSpPr>
          <p:cNvPr id="16" name="Shape 14"/>
          <p:cNvSpPr/>
          <p:nvPr/>
        </p:nvSpPr>
        <p:spPr>
          <a:xfrm>
            <a:off x="4617720" y="3127248"/>
            <a:ext cx="2926080" cy="411480"/>
          </a:xfrm>
          <a:prstGeom prst="roundRect">
            <a:avLst>
              <a:gd name="adj" fmla="val 28889"/>
            </a:avLst>
          </a:prstGeom>
          <a:solidFill>
            <a:srgbClr val="1C1C1E"/>
          </a:solidFill>
          <a:ln w="12700">
            <a:solidFill>
              <a:srgbClr val="1C1C1E"/>
            </a:solidFill>
            <a:prstDash val="solid"/>
          </a:ln>
        </p:spPr>
      </p:sp>
      <p:sp>
        <p:nvSpPr>
          <p:cNvPr id="17" name="Shape 15"/>
          <p:cNvSpPr/>
          <p:nvPr/>
        </p:nvSpPr>
        <p:spPr>
          <a:xfrm>
            <a:off x="4690872" y="3191256"/>
            <a:ext cx="292608" cy="292608"/>
          </a:xfrm>
          <a:prstGeom prst="roundRect">
            <a:avLst>
              <a:gd name="adj" fmla="val 25000"/>
            </a:avLst>
          </a:prstGeom>
          <a:solidFill>
            <a:srgbClr val="E60023"/>
          </a:solidFill>
          <a:ln w="12700">
            <a:solidFill>
              <a:srgbClr val="E60023"/>
            </a:solidFill>
            <a:prstDash val="solid"/>
          </a:ln>
        </p:spPr>
      </p:sp>
      <p:sp>
        <p:nvSpPr>
          <p:cNvPr id="18" name="Text 16"/>
          <p:cNvSpPr/>
          <p:nvPr/>
        </p:nvSpPr>
        <p:spPr>
          <a:xfrm>
            <a:off x="5056632" y="3172968"/>
            <a:ext cx="1554480" cy="164592"/>
          </a:xfrm>
          <a:prstGeom prst="rect">
            <a:avLst/>
          </a:prstGeom>
          <a:noFill/>
          <a:ln/>
        </p:spPr>
        <p:txBody>
          <a:bodyPr wrap="square" lIns="0" tIns="0" rIns="0" bIns="0" rtlCol="0" anchor="ctr"/>
          <a:lstStyle/>
          <a:p>
            <a:pPr marL="0" indent="0">
              <a:buNone/>
            </a:pPr>
            <a:r>
              <a:rPr lang="en-US" sz="700" b="1">
                <a:solidFill>
                  <a:srgbClr val="FFFFFF"/>
                </a:solidFill>
                <a:latin typeface="Inter" pitchFamily="34" charset="0"/>
                <a:ea typeface="Inter" pitchFamily="34" charset="-122"/>
                <a:cs typeface="Inter" pitchFamily="34" charset="-120"/>
              </a:rPr>
              <a:t>Pinterest</a:t>
            </a:r>
            <a:endParaRPr lang="en-US" sz="700"/>
          </a:p>
        </p:txBody>
      </p:sp>
      <p:sp>
        <p:nvSpPr>
          <p:cNvPr id="19" name="Text 17"/>
          <p:cNvSpPr/>
          <p:nvPr/>
        </p:nvSpPr>
        <p:spPr>
          <a:xfrm>
            <a:off x="6858000" y="3172968"/>
            <a:ext cx="594360" cy="164592"/>
          </a:xfrm>
          <a:prstGeom prst="rect">
            <a:avLst/>
          </a:prstGeom>
          <a:noFill/>
          <a:ln/>
        </p:spPr>
        <p:txBody>
          <a:bodyPr wrap="square" lIns="0" tIns="0" rIns="0" bIns="0" rtlCol="0" anchor="ctr"/>
          <a:lstStyle/>
          <a:p>
            <a:pPr marL="0" indent="0" algn="r">
              <a:buNone/>
            </a:pPr>
            <a:r>
              <a:rPr lang="en-US" sz="600">
                <a:solidFill>
                  <a:srgbClr val="999999"/>
                </a:solidFill>
                <a:latin typeface="Inter" pitchFamily="34" charset="0"/>
                <a:ea typeface="Inter" pitchFamily="34" charset="-122"/>
                <a:cs typeface="Inter" pitchFamily="34" charset="-120"/>
              </a:rPr>
              <a:t>8:14 PM</a:t>
            </a:r>
            <a:endParaRPr lang="en-US" sz="600"/>
          </a:p>
        </p:txBody>
      </p:sp>
      <p:sp>
        <p:nvSpPr>
          <p:cNvPr id="20" name="Text 18"/>
          <p:cNvSpPr/>
          <p:nvPr/>
        </p:nvSpPr>
        <p:spPr>
          <a:xfrm>
            <a:off x="5056632" y="3328416"/>
            <a:ext cx="2395728" cy="201168"/>
          </a:xfrm>
          <a:prstGeom prst="rect">
            <a:avLst/>
          </a:prstGeom>
          <a:noFill/>
          <a:ln/>
        </p:spPr>
        <p:txBody>
          <a:bodyPr wrap="square" lIns="0" tIns="0" rIns="0" bIns="0" rtlCol="0" anchor="t"/>
          <a:lstStyle/>
          <a:p>
            <a:pPr marL="0" indent="0">
              <a:buNone/>
            </a:pPr>
            <a:r>
              <a:rPr lang="en-US" sz="700">
                <a:solidFill>
                  <a:srgbClr val="FFFFFF"/>
                </a:solidFill>
                <a:latin typeface="Inter" pitchFamily="34" charset="0"/>
                <a:ea typeface="Inter" pitchFamily="34" charset="-122"/>
                <a:cs typeface="Inter" pitchFamily="34" charset="-120"/>
              </a:rPr>
              <a:t>20 charcuterie boards that will impress</a:t>
            </a:r>
            <a:endParaRPr lang="en-US" sz="700"/>
          </a:p>
        </p:txBody>
      </p:sp>
      <p:sp>
        <p:nvSpPr>
          <p:cNvPr id="21" name="Shape 19"/>
          <p:cNvSpPr/>
          <p:nvPr/>
        </p:nvSpPr>
        <p:spPr>
          <a:xfrm>
            <a:off x="4617720" y="3584448"/>
            <a:ext cx="2926080" cy="411480"/>
          </a:xfrm>
          <a:prstGeom prst="roundRect">
            <a:avLst>
              <a:gd name="adj" fmla="val 28889"/>
            </a:avLst>
          </a:prstGeom>
          <a:solidFill>
            <a:srgbClr val="1C1C1E"/>
          </a:solidFill>
          <a:ln w="12700">
            <a:solidFill>
              <a:srgbClr val="1C1C1E"/>
            </a:solidFill>
            <a:prstDash val="solid"/>
          </a:ln>
        </p:spPr>
      </p:sp>
      <p:sp>
        <p:nvSpPr>
          <p:cNvPr id="22" name="Shape 20"/>
          <p:cNvSpPr/>
          <p:nvPr/>
        </p:nvSpPr>
        <p:spPr>
          <a:xfrm>
            <a:off x="4690872" y="3648456"/>
            <a:ext cx="292608" cy="292608"/>
          </a:xfrm>
          <a:prstGeom prst="roundRect">
            <a:avLst>
              <a:gd name="adj" fmla="val 25000"/>
            </a:avLst>
          </a:prstGeom>
          <a:solidFill>
            <a:srgbClr val="CE3231"/>
          </a:solidFill>
          <a:ln w="12700">
            <a:solidFill>
              <a:srgbClr val="CE3231"/>
            </a:solidFill>
            <a:prstDash val="solid"/>
          </a:ln>
        </p:spPr>
      </p:sp>
      <p:sp>
        <p:nvSpPr>
          <p:cNvPr id="23" name="Text 21"/>
          <p:cNvSpPr/>
          <p:nvPr/>
        </p:nvSpPr>
        <p:spPr>
          <a:xfrm>
            <a:off x="5056632" y="3630168"/>
            <a:ext cx="1554480" cy="164592"/>
          </a:xfrm>
          <a:prstGeom prst="rect">
            <a:avLst/>
          </a:prstGeom>
          <a:noFill/>
          <a:ln/>
        </p:spPr>
        <p:txBody>
          <a:bodyPr wrap="square" lIns="0" tIns="0" rIns="0" bIns="0" rtlCol="0" anchor="ctr"/>
          <a:lstStyle/>
          <a:p>
            <a:pPr marL="0" indent="0">
              <a:buNone/>
            </a:pPr>
            <a:r>
              <a:rPr lang="en-US" sz="700" b="1">
                <a:solidFill>
                  <a:srgbClr val="FFFFFF"/>
                </a:solidFill>
                <a:latin typeface="Inter" pitchFamily="34" charset="0"/>
                <a:ea typeface="Inter" pitchFamily="34" charset="-122"/>
                <a:cs typeface="Inter" pitchFamily="34" charset="-120"/>
              </a:rPr>
              <a:t>Trader Joe's</a:t>
            </a:r>
            <a:endParaRPr lang="en-US" sz="700"/>
          </a:p>
        </p:txBody>
      </p:sp>
      <p:sp>
        <p:nvSpPr>
          <p:cNvPr id="24" name="Text 22"/>
          <p:cNvSpPr/>
          <p:nvPr/>
        </p:nvSpPr>
        <p:spPr>
          <a:xfrm>
            <a:off x="6858000" y="3630168"/>
            <a:ext cx="594360" cy="164592"/>
          </a:xfrm>
          <a:prstGeom prst="rect">
            <a:avLst/>
          </a:prstGeom>
          <a:noFill/>
          <a:ln/>
        </p:spPr>
        <p:txBody>
          <a:bodyPr wrap="square" lIns="0" tIns="0" rIns="0" bIns="0" rtlCol="0" anchor="ctr"/>
          <a:lstStyle/>
          <a:p>
            <a:pPr marL="0" indent="0" algn="r">
              <a:buNone/>
            </a:pPr>
            <a:r>
              <a:rPr lang="en-US" sz="600">
                <a:solidFill>
                  <a:srgbClr val="999999"/>
                </a:solidFill>
                <a:latin typeface="Inter" pitchFamily="34" charset="0"/>
                <a:ea typeface="Inter" pitchFamily="34" charset="-122"/>
                <a:cs typeface="Inter" pitchFamily="34" charset="-120"/>
              </a:rPr>
              <a:t>8:23 PM</a:t>
            </a:r>
            <a:endParaRPr lang="en-US" sz="600"/>
          </a:p>
        </p:txBody>
      </p:sp>
      <p:sp>
        <p:nvSpPr>
          <p:cNvPr id="25" name="Text 23"/>
          <p:cNvSpPr/>
          <p:nvPr/>
        </p:nvSpPr>
        <p:spPr>
          <a:xfrm>
            <a:off x="5056632" y="3785616"/>
            <a:ext cx="2395728" cy="201168"/>
          </a:xfrm>
          <a:prstGeom prst="rect">
            <a:avLst/>
          </a:prstGeom>
          <a:noFill/>
          <a:ln/>
        </p:spPr>
        <p:txBody>
          <a:bodyPr wrap="square" lIns="0" tIns="0" rIns="0" bIns="0" rtlCol="0" anchor="t"/>
          <a:lstStyle/>
          <a:p>
            <a:pPr marL="0" indent="0">
              <a:buNone/>
            </a:pPr>
            <a:r>
              <a:rPr lang="en-US" sz="700">
                <a:solidFill>
                  <a:srgbClr val="FFFFFF"/>
                </a:solidFill>
                <a:latin typeface="Inter" pitchFamily="34" charset="0"/>
                <a:ea typeface="Inter" pitchFamily="34" charset="-122"/>
                <a:cs typeface="Inter" pitchFamily="34" charset="-120"/>
              </a:rPr>
              <a:t>Did you mean: brie or camembert?</a:t>
            </a:r>
            <a:endParaRPr lang="en-US" sz="700"/>
          </a:p>
        </p:txBody>
      </p:sp>
      <p:sp>
        <p:nvSpPr>
          <p:cNvPr id="26" name="Shape 24"/>
          <p:cNvSpPr/>
          <p:nvPr/>
        </p:nvSpPr>
        <p:spPr>
          <a:xfrm>
            <a:off x="4617720" y="4041648"/>
            <a:ext cx="2926080" cy="411480"/>
          </a:xfrm>
          <a:prstGeom prst="roundRect">
            <a:avLst>
              <a:gd name="adj" fmla="val 28889"/>
            </a:avLst>
          </a:prstGeom>
          <a:solidFill>
            <a:srgbClr val="1C1C1E"/>
          </a:solidFill>
          <a:ln w="12700">
            <a:solidFill>
              <a:srgbClr val="1C1C1E"/>
            </a:solidFill>
            <a:prstDash val="solid"/>
          </a:ln>
        </p:spPr>
      </p:sp>
      <p:sp>
        <p:nvSpPr>
          <p:cNvPr id="27" name="Shape 25"/>
          <p:cNvSpPr/>
          <p:nvPr/>
        </p:nvSpPr>
        <p:spPr>
          <a:xfrm>
            <a:off x="4690872" y="4105656"/>
            <a:ext cx="292608" cy="292608"/>
          </a:xfrm>
          <a:prstGeom prst="roundRect">
            <a:avLst>
              <a:gd name="adj" fmla="val 25000"/>
            </a:avLst>
          </a:prstGeom>
          <a:solidFill>
            <a:srgbClr val="4A90E2"/>
          </a:solidFill>
          <a:ln w="12700">
            <a:solidFill>
              <a:srgbClr val="4A90E2"/>
            </a:solidFill>
            <a:prstDash val="solid"/>
          </a:ln>
        </p:spPr>
      </p:sp>
      <p:sp>
        <p:nvSpPr>
          <p:cNvPr id="28" name="Text 26"/>
          <p:cNvSpPr/>
          <p:nvPr/>
        </p:nvSpPr>
        <p:spPr>
          <a:xfrm>
            <a:off x="5056632" y="4087368"/>
            <a:ext cx="1554480" cy="164592"/>
          </a:xfrm>
          <a:prstGeom prst="rect">
            <a:avLst/>
          </a:prstGeom>
          <a:noFill/>
          <a:ln/>
        </p:spPr>
        <p:txBody>
          <a:bodyPr wrap="square" lIns="0" tIns="0" rIns="0" bIns="0" rtlCol="0" anchor="ctr"/>
          <a:lstStyle/>
          <a:p>
            <a:pPr marL="0" indent="0">
              <a:buNone/>
            </a:pPr>
            <a:r>
              <a:rPr lang="en-US" sz="700" b="1">
                <a:solidFill>
                  <a:srgbClr val="FFFFFF"/>
                </a:solidFill>
                <a:latin typeface="Inter" pitchFamily="34" charset="0"/>
                <a:ea typeface="Inter" pitchFamily="34" charset="-122"/>
                <a:cs typeface="Inter" pitchFamily="34" charset="-120"/>
              </a:rPr>
              <a:t>Apple Maps</a:t>
            </a:r>
            <a:endParaRPr lang="en-US" sz="700"/>
          </a:p>
        </p:txBody>
      </p:sp>
      <p:sp>
        <p:nvSpPr>
          <p:cNvPr id="29" name="Text 27"/>
          <p:cNvSpPr/>
          <p:nvPr/>
        </p:nvSpPr>
        <p:spPr>
          <a:xfrm>
            <a:off x="6858000" y="4087368"/>
            <a:ext cx="594360" cy="164592"/>
          </a:xfrm>
          <a:prstGeom prst="rect">
            <a:avLst/>
          </a:prstGeom>
          <a:noFill/>
          <a:ln/>
        </p:spPr>
        <p:txBody>
          <a:bodyPr wrap="square" lIns="0" tIns="0" rIns="0" bIns="0" rtlCol="0" anchor="ctr"/>
          <a:lstStyle/>
          <a:p>
            <a:pPr marL="0" indent="0" algn="r">
              <a:buNone/>
            </a:pPr>
            <a:r>
              <a:rPr lang="en-US" sz="600">
                <a:solidFill>
                  <a:srgbClr val="999999"/>
                </a:solidFill>
                <a:latin typeface="Inter" pitchFamily="34" charset="0"/>
                <a:ea typeface="Inter" pitchFamily="34" charset="-122"/>
                <a:cs typeface="Inter" pitchFamily="34" charset="-120"/>
              </a:rPr>
              <a:t>8:26 PM</a:t>
            </a:r>
            <a:endParaRPr lang="en-US" sz="600"/>
          </a:p>
        </p:txBody>
      </p:sp>
      <p:sp>
        <p:nvSpPr>
          <p:cNvPr id="30" name="Text 28"/>
          <p:cNvSpPr/>
          <p:nvPr/>
        </p:nvSpPr>
        <p:spPr>
          <a:xfrm>
            <a:off x="5056632" y="4242816"/>
            <a:ext cx="2395728" cy="201168"/>
          </a:xfrm>
          <a:prstGeom prst="rect">
            <a:avLst/>
          </a:prstGeom>
          <a:noFill/>
          <a:ln/>
        </p:spPr>
        <p:txBody>
          <a:bodyPr wrap="square" lIns="0" tIns="0" rIns="0" bIns="0" rtlCol="0" anchor="t"/>
          <a:lstStyle/>
          <a:p>
            <a:pPr marL="0" indent="0">
              <a:buNone/>
            </a:pPr>
            <a:r>
              <a:rPr lang="en-US" sz="700">
                <a:solidFill>
                  <a:srgbClr val="FFFFFF"/>
                </a:solidFill>
                <a:latin typeface="Inter" pitchFamily="34" charset="0"/>
                <a:ea typeface="Inter" pitchFamily="34" charset="-122"/>
                <a:cs typeface="Inter" pitchFamily="34" charset="-120"/>
              </a:rPr>
              <a:t>Trader Joe's closes in 34 minutes</a:t>
            </a:r>
            <a:endParaRPr lang="en-US" sz="700"/>
          </a:p>
        </p:txBody>
      </p:sp>
      <p:sp>
        <p:nvSpPr>
          <p:cNvPr id="31" name="Shape 29"/>
          <p:cNvSpPr/>
          <p:nvPr/>
        </p:nvSpPr>
        <p:spPr>
          <a:xfrm>
            <a:off x="4617720" y="4498848"/>
            <a:ext cx="2926080" cy="411480"/>
          </a:xfrm>
          <a:prstGeom prst="roundRect">
            <a:avLst>
              <a:gd name="adj" fmla="val 28889"/>
            </a:avLst>
          </a:prstGeom>
          <a:solidFill>
            <a:srgbClr val="1C1C1E"/>
          </a:solidFill>
          <a:ln w="12700">
            <a:solidFill>
              <a:srgbClr val="1C1C1E"/>
            </a:solidFill>
            <a:prstDash val="solid"/>
          </a:ln>
        </p:spPr>
      </p:sp>
      <p:sp>
        <p:nvSpPr>
          <p:cNvPr id="32" name="Shape 30"/>
          <p:cNvSpPr/>
          <p:nvPr/>
        </p:nvSpPr>
        <p:spPr>
          <a:xfrm>
            <a:off x="4690872" y="4562856"/>
            <a:ext cx="292608" cy="292608"/>
          </a:xfrm>
          <a:prstGeom prst="roundRect">
            <a:avLst>
              <a:gd name="adj" fmla="val 25000"/>
            </a:avLst>
          </a:prstGeom>
          <a:solidFill>
            <a:srgbClr val="2D7A3E"/>
          </a:solidFill>
          <a:ln w="12700">
            <a:solidFill>
              <a:srgbClr val="2D7A3E"/>
            </a:solidFill>
            <a:prstDash val="solid"/>
          </a:ln>
        </p:spPr>
      </p:sp>
      <p:sp>
        <p:nvSpPr>
          <p:cNvPr id="33" name="Text 31"/>
          <p:cNvSpPr/>
          <p:nvPr/>
        </p:nvSpPr>
        <p:spPr>
          <a:xfrm>
            <a:off x="5056632" y="4544568"/>
            <a:ext cx="1554480" cy="164592"/>
          </a:xfrm>
          <a:prstGeom prst="rect">
            <a:avLst/>
          </a:prstGeom>
          <a:noFill/>
          <a:ln/>
        </p:spPr>
        <p:txBody>
          <a:bodyPr wrap="square" lIns="0" tIns="0" rIns="0" bIns="0" rtlCol="0" anchor="ctr"/>
          <a:lstStyle/>
          <a:p>
            <a:pPr marL="0" indent="0">
              <a:buNone/>
            </a:pPr>
            <a:r>
              <a:rPr lang="en-US" sz="700" b="1">
                <a:solidFill>
                  <a:srgbClr val="FFFFFF"/>
                </a:solidFill>
                <a:latin typeface="Inter" pitchFamily="34" charset="0"/>
                <a:ea typeface="Inter" pitchFamily="34" charset="-122"/>
                <a:cs typeface="Inter" pitchFamily="34" charset="-120"/>
              </a:rPr>
              <a:t>Whole Foods</a:t>
            </a:r>
            <a:endParaRPr lang="en-US" sz="700"/>
          </a:p>
        </p:txBody>
      </p:sp>
      <p:sp>
        <p:nvSpPr>
          <p:cNvPr id="34" name="Text 32"/>
          <p:cNvSpPr/>
          <p:nvPr/>
        </p:nvSpPr>
        <p:spPr>
          <a:xfrm>
            <a:off x="6858000" y="4544568"/>
            <a:ext cx="594360" cy="164592"/>
          </a:xfrm>
          <a:prstGeom prst="rect">
            <a:avLst/>
          </a:prstGeom>
          <a:noFill/>
          <a:ln/>
        </p:spPr>
        <p:txBody>
          <a:bodyPr wrap="square" lIns="0" tIns="0" rIns="0" bIns="0" rtlCol="0" anchor="ctr"/>
          <a:lstStyle/>
          <a:p>
            <a:pPr marL="0" indent="0" algn="r">
              <a:buNone/>
            </a:pPr>
            <a:r>
              <a:rPr lang="en-US" sz="600">
                <a:solidFill>
                  <a:srgbClr val="999999"/>
                </a:solidFill>
                <a:latin typeface="Inter" pitchFamily="34" charset="0"/>
                <a:ea typeface="Inter" pitchFamily="34" charset="-122"/>
                <a:cs typeface="Inter" pitchFamily="34" charset="-120"/>
              </a:rPr>
              <a:t>8:31 PM</a:t>
            </a:r>
            <a:endParaRPr lang="en-US" sz="600"/>
          </a:p>
        </p:txBody>
      </p:sp>
      <p:sp>
        <p:nvSpPr>
          <p:cNvPr id="35" name="Text 33"/>
          <p:cNvSpPr/>
          <p:nvPr/>
        </p:nvSpPr>
        <p:spPr>
          <a:xfrm>
            <a:off x="5056632" y="4700016"/>
            <a:ext cx="2395728" cy="201168"/>
          </a:xfrm>
          <a:prstGeom prst="rect">
            <a:avLst/>
          </a:prstGeom>
          <a:noFill/>
          <a:ln/>
        </p:spPr>
        <p:txBody>
          <a:bodyPr wrap="square" lIns="0" tIns="0" rIns="0" bIns="0" rtlCol="0" anchor="t"/>
          <a:lstStyle/>
          <a:p>
            <a:pPr marL="0" indent="0">
              <a:buNone/>
            </a:pPr>
            <a:r>
              <a:rPr lang="en-US" sz="700">
                <a:solidFill>
                  <a:srgbClr val="FFFFFF"/>
                </a:solidFill>
                <a:latin typeface="Inter" pitchFamily="34" charset="0"/>
                <a:ea typeface="Inter" pitchFamily="34" charset="-122"/>
                <a:cs typeface="Inter" pitchFamily="34" charset="-120"/>
              </a:rPr>
              <a:t>$89.46 in your cart</a:t>
            </a:r>
            <a:endParaRPr lang="en-US" sz="700"/>
          </a:p>
        </p:txBody>
      </p:sp>
      <p:sp>
        <p:nvSpPr>
          <p:cNvPr id="36" name="Shape 34"/>
          <p:cNvSpPr/>
          <p:nvPr/>
        </p:nvSpPr>
        <p:spPr>
          <a:xfrm>
            <a:off x="4617720" y="4956048"/>
            <a:ext cx="2926080" cy="411480"/>
          </a:xfrm>
          <a:prstGeom prst="roundRect">
            <a:avLst>
              <a:gd name="adj" fmla="val 28889"/>
            </a:avLst>
          </a:prstGeom>
          <a:solidFill>
            <a:srgbClr val="1C1C1E"/>
          </a:solidFill>
          <a:ln w="12700">
            <a:solidFill>
              <a:srgbClr val="1C1C1E"/>
            </a:solidFill>
            <a:prstDash val="solid"/>
          </a:ln>
        </p:spPr>
      </p:sp>
      <p:sp>
        <p:nvSpPr>
          <p:cNvPr id="37" name="Shape 35"/>
          <p:cNvSpPr/>
          <p:nvPr/>
        </p:nvSpPr>
        <p:spPr>
          <a:xfrm>
            <a:off x="4690872" y="5020056"/>
            <a:ext cx="292608" cy="292608"/>
          </a:xfrm>
          <a:prstGeom prst="roundRect">
            <a:avLst>
              <a:gd name="adj" fmla="val 25000"/>
            </a:avLst>
          </a:prstGeom>
          <a:solidFill>
            <a:srgbClr val="F36D00"/>
          </a:solidFill>
          <a:ln w="12700">
            <a:solidFill>
              <a:srgbClr val="F36D00"/>
            </a:solidFill>
            <a:prstDash val="solid"/>
          </a:ln>
        </p:spPr>
      </p:sp>
      <p:sp>
        <p:nvSpPr>
          <p:cNvPr id="38" name="Text 36"/>
          <p:cNvSpPr/>
          <p:nvPr/>
        </p:nvSpPr>
        <p:spPr>
          <a:xfrm>
            <a:off x="5056632" y="5001768"/>
            <a:ext cx="1554480" cy="164592"/>
          </a:xfrm>
          <a:prstGeom prst="rect">
            <a:avLst/>
          </a:prstGeom>
          <a:noFill/>
          <a:ln/>
        </p:spPr>
        <p:txBody>
          <a:bodyPr wrap="square" lIns="0" tIns="0" rIns="0" bIns="0" rtlCol="0" anchor="ctr"/>
          <a:lstStyle/>
          <a:p>
            <a:pPr marL="0" indent="0">
              <a:buNone/>
            </a:pPr>
            <a:r>
              <a:rPr lang="en-US" sz="700" b="1">
                <a:solidFill>
                  <a:srgbClr val="FFFFFF"/>
                </a:solidFill>
                <a:latin typeface="Inter" pitchFamily="34" charset="0"/>
                <a:ea typeface="Inter" pitchFamily="34" charset="-122"/>
                <a:cs typeface="Inter" pitchFamily="34" charset="-120"/>
              </a:rPr>
              <a:t>Instacart</a:t>
            </a:r>
            <a:endParaRPr lang="en-US" sz="700"/>
          </a:p>
        </p:txBody>
      </p:sp>
      <p:sp>
        <p:nvSpPr>
          <p:cNvPr id="39" name="Text 37"/>
          <p:cNvSpPr/>
          <p:nvPr/>
        </p:nvSpPr>
        <p:spPr>
          <a:xfrm>
            <a:off x="6858000" y="5001768"/>
            <a:ext cx="594360" cy="164592"/>
          </a:xfrm>
          <a:prstGeom prst="rect">
            <a:avLst/>
          </a:prstGeom>
          <a:noFill/>
          <a:ln/>
        </p:spPr>
        <p:txBody>
          <a:bodyPr wrap="square" lIns="0" tIns="0" rIns="0" bIns="0" rtlCol="0" anchor="ctr"/>
          <a:lstStyle/>
          <a:p>
            <a:pPr marL="0" indent="0" algn="r">
              <a:buNone/>
            </a:pPr>
            <a:r>
              <a:rPr lang="en-US" sz="600">
                <a:solidFill>
                  <a:srgbClr val="999999"/>
                </a:solidFill>
                <a:latin typeface="Inter" pitchFamily="34" charset="0"/>
                <a:ea typeface="Inter" pitchFamily="34" charset="-122"/>
                <a:cs typeface="Inter" pitchFamily="34" charset="-120"/>
              </a:rPr>
              <a:t>8:33 PM</a:t>
            </a:r>
            <a:endParaRPr lang="en-US" sz="600"/>
          </a:p>
        </p:txBody>
      </p:sp>
      <p:sp>
        <p:nvSpPr>
          <p:cNvPr id="40" name="Text 38"/>
          <p:cNvSpPr/>
          <p:nvPr/>
        </p:nvSpPr>
        <p:spPr>
          <a:xfrm>
            <a:off x="5056632" y="5157216"/>
            <a:ext cx="2395728" cy="201168"/>
          </a:xfrm>
          <a:prstGeom prst="rect">
            <a:avLst/>
          </a:prstGeom>
          <a:noFill/>
          <a:ln/>
        </p:spPr>
        <p:txBody>
          <a:bodyPr wrap="square" lIns="0" tIns="0" rIns="0" bIns="0" rtlCol="0" anchor="t"/>
          <a:lstStyle/>
          <a:p>
            <a:pPr marL="0" indent="0">
              <a:buNone/>
            </a:pPr>
            <a:r>
              <a:rPr lang="en-US" sz="700">
                <a:solidFill>
                  <a:srgbClr val="FFFFFF"/>
                </a:solidFill>
                <a:latin typeface="Inter" pitchFamily="34" charset="0"/>
                <a:ea typeface="Inter" pitchFamily="34" charset="-122"/>
                <a:cs typeface="Inter" pitchFamily="34" charset="-120"/>
              </a:rPr>
              <a:t>Your order has 4 substitutions</a:t>
            </a:r>
            <a:endParaRPr lang="en-US" sz="700"/>
          </a:p>
        </p:txBody>
      </p:sp>
      <p:sp>
        <p:nvSpPr>
          <p:cNvPr id="41" name="Shape 39"/>
          <p:cNvSpPr/>
          <p:nvPr/>
        </p:nvSpPr>
        <p:spPr>
          <a:xfrm>
            <a:off x="4617720" y="5413248"/>
            <a:ext cx="2926080" cy="411480"/>
          </a:xfrm>
          <a:prstGeom prst="roundRect">
            <a:avLst>
              <a:gd name="adj" fmla="val 28889"/>
            </a:avLst>
          </a:prstGeom>
          <a:solidFill>
            <a:srgbClr val="1C1C1E"/>
          </a:solidFill>
          <a:ln w="12700">
            <a:solidFill>
              <a:srgbClr val="1C1C1E"/>
            </a:solidFill>
            <a:prstDash val="solid"/>
          </a:ln>
        </p:spPr>
      </p:sp>
      <p:sp>
        <p:nvSpPr>
          <p:cNvPr id="42" name="Shape 40"/>
          <p:cNvSpPr/>
          <p:nvPr/>
        </p:nvSpPr>
        <p:spPr>
          <a:xfrm>
            <a:off x="4690872" y="5477256"/>
            <a:ext cx="292608" cy="292608"/>
          </a:xfrm>
          <a:prstGeom prst="roundRect">
            <a:avLst>
              <a:gd name="adj" fmla="val 25000"/>
            </a:avLst>
          </a:prstGeom>
          <a:solidFill>
            <a:srgbClr val="F4B400"/>
          </a:solidFill>
          <a:ln w="12700">
            <a:solidFill>
              <a:srgbClr val="F4B400"/>
            </a:solidFill>
            <a:prstDash val="solid"/>
          </a:ln>
        </p:spPr>
      </p:sp>
      <p:sp>
        <p:nvSpPr>
          <p:cNvPr id="43" name="Text 41"/>
          <p:cNvSpPr/>
          <p:nvPr/>
        </p:nvSpPr>
        <p:spPr>
          <a:xfrm>
            <a:off x="5056632" y="5458968"/>
            <a:ext cx="1554480" cy="164592"/>
          </a:xfrm>
          <a:prstGeom prst="rect">
            <a:avLst/>
          </a:prstGeom>
          <a:noFill/>
          <a:ln/>
        </p:spPr>
        <p:txBody>
          <a:bodyPr wrap="square" lIns="0" tIns="0" rIns="0" bIns="0" rtlCol="0" anchor="ctr"/>
          <a:lstStyle/>
          <a:p>
            <a:pPr marL="0" indent="0">
              <a:buNone/>
            </a:pPr>
            <a:r>
              <a:rPr lang="en-US" sz="700" b="1">
                <a:solidFill>
                  <a:srgbClr val="FFFFFF"/>
                </a:solidFill>
                <a:latin typeface="Inter" pitchFamily="34" charset="0"/>
                <a:ea typeface="Inter" pitchFamily="34" charset="-122"/>
                <a:cs typeface="Inter" pitchFamily="34" charset="-120"/>
              </a:rPr>
              <a:t>Notes</a:t>
            </a:r>
            <a:endParaRPr lang="en-US" sz="700"/>
          </a:p>
        </p:txBody>
      </p:sp>
      <p:sp>
        <p:nvSpPr>
          <p:cNvPr id="44" name="Text 42"/>
          <p:cNvSpPr/>
          <p:nvPr/>
        </p:nvSpPr>
        <p:spPr>
          <a:xfrm>
            <a:off x="6858000" y="5458968"/>
            <a:ext cx="594360" cy="164592"/>
          </a:xfrm>
          <a:prstGeom prst="rect">
            <a:avLst/>
          </a:prstGeom>
          <a:noFill/>
          <a:ln/>
        </p:spPr>
        <p:txBody>
          <a:bodyPr wrap="square" lIns="0" tIns="0" rIns="0" bIns="0" rtlCol="0" anchor="ctr"/>
          <a:lstStyle/>
          <a:p>
            <a:pPr marL="0" indent="0" algn="r">
              <a:buNone/>
            </a:pPr>
            <a:r>
              <a:rPr lang="en-US" sz="600">
                <a:solidFill>
                  <a:srgbClr val="999999"/>
                </a:solidFill>
                <a:latin typeface="Inter" pitchFamily="34" charset="0"/>
                <a:ea typeface="Inter" pitchFamily="34" charset="-122"/>
                <a:cs typeface="Inter" pitchFamily="34" charset="-120"/>
              </a:rPr>
              <a:t>8:38 PM</a:t>
            </a:r>
            <a:endParaRPr lang="en-US" sz="600"/>
          </a:p>
        </p:txBody>
      </p:sp>
      <p:sp>
        <p:nvSpPr>
          <p:cNvPr id="45" name="Text 43"/>
          <p:cNvSpPr/>
          <p:nvPr/>
        </p:nvSpPr>
        <p:spPr>
          <a:xfrm>
            <a:off x="5056632" y="5614416"/>
            <a:ext cx="2395728" cy="201168"/>
          </a:xfrm>
          <a:prstGeom prst="rect">
            <a:avLst/>
          </a:prstGeom>
          <a:noFill/>
          <a:ln/>
        </p:spPr>
        <p:txBody>
          <a:bodyPr wrap="square" lIns="0" tIns="0" rIns="0" bIns="0" rtlCol="0" anchor="t"/>
          <a:lstStyle/>
          <a:p>
            <a:pPr marL="0" indent="0">
              <a:buNone/>
            </a:pPr>
            <a:r>
              <a:rPr lang="en-US" sz="700">
                <a:solidFill>
                  <a:srgbClr val="FFFFFF"/>
                </a:solidFill>
                <a:latin typeface="Inter" pitchFamily="34" charset="0"/>
                <a:ea typeface="Inter" pitchFamily="34" charset="-122"/>
                <a:cs typeface="Inter" pitchFamily="34" charset="-120"/>
              </a:rPr>
              <a:t>things to remember: ICE!!</a:t>
            </a:r>
            <a:endParaRPr lang="en-US" sz="700"/>
          </a:p>
        </p:txBody>
      </p:sp>
      <p:sp>
        <p:nvSpPr>
          <p:cNvPr id="46" name="Text 44"/>
          <p:cNvSpPr/>
          <p:nvPr/>
        </p:nvSpPr>
        <p:spPr>
          <a:xfrm>
            <a:off x="731520" y="2743200"/>
            <a:ext cx="3200400" cy="548640"/>
          </a:xfrm>
          <a:prstGeom prst="rect">
            <a:avLst/>
          </a:prstGeom>
          <a:noFill/>
          <a:ln/>
        </p:spPr>
        <p:txBody>
          <a:bodyPr wrap="square" lIns="0" tIns="0" rIns="0" bIns="0" rtlCol="0" anchor="ctr"/>
          <a:lstStyle/>
          <a:p>
            <a:pPr marL="0" indent="0">
              <a:buNone/>
            </a:pPr>
            <a:r>
              <a:rPr lang="en-US" sz="2400" b="1">
                <a:solidFill>
                  <a:srgbClr val="1A1A1A"/>
                </a:solidFill>
                <a:latin typeface="Inter" pitchFamily="34" charset="0"/>
                <a:ea typeface="Inter" pitchFamily="34" charset="-122"/>
                <a:cs typeface="Inter" pitchFamily="34" charset="-120"/>
              </a:rPr>
              <a:t>She's trying to host.</a:t>
            </a:r>
            <a:endParaRPr lang="en-US" sz="2400"/>
          </a:p>
        </p:txBody>
      </p:sp>
      <p:sp>
        <p:nvSpPr>
          <p:cNvPr id="47" name="Text 45"/>
          <p:cNvSpPr/>
          <p:nvPr/>
        </p:nvSpPr>
        <p:spPr>
          <a:xfrm>
            <a:off x="731520" y="3337560"/>
            <a:ext cx="3200400" cy="365760"/>
          </a:xfrm>
          <a:prstGeom prst="rect">
            <a:avLst/>
          </a:prstGeom>
          <a:noFill/>
          <a:ln/>
        </p:spPr>
        <p:txBody>
          <a:bodyPr wrap="square" lIns="0" tIns="0" rIns="0" bIns="0" rtlCol="0" anchor="ctr"/>
          <a:lstStyle/>
          <a:p>
            <a:pPr marL="0" indent="0">
              <a:buNone/>
            </a:pPr>
            <a:r>
              <a:rPr lang="en-US" sz="1400" i="1">
                <a:solidFill>
                  <a:srgbClr val="6B6B6B"/>
                </a:solidFill>
                <a:latin typeface="Inter" pitchFamily="34" charset="0"/>
                <a:ea typeface="Inter" pitchFamily="34" charset="-122"/>
                <a:cs typeface="Inter" pitchFamily="34" charset="-120"/>
              </a:rPr>
              <a:t>That's it. That's the goal.</a:t>
            </a:r>
            <a:endParaRPr lang="en-US" sz="1400"/>
          </a:p>
        </p:txBody>
      </p:sp>
      <p:sp>
        <p:nvSpPr>
          <p:cNvPr id="48" name="Text 46"/>
          <p:cNvSpPr/>
          <p:nvPr/>
        </p:nvSpPr>
        <p:spPr>
          <a:xfrm>
            <a:off x="8229600" y="2743200"/>
            <a:ext cx="3200400" cy="457200"/>
          </a:xfrm>
          <a:prstGeom prst="rect">
            <a:avLst/>
          </a:prstGeom>
          <a:noFill/>
          <a:ln/>
        </p:spPr>
        <p:txBody>
          <a:bodyPr wrap="square" lIns="0" tIns="0" rIns="0" bIns="0" rtlCol="0" anchor="ctr"/>
          <a:lstStyle/>
          <a:p>
            <a:pPr marL="0" indent="0">
              <a:buNone/>
            </a:pPr>
            <a:r>
              <a:rPr lang="en-US" sz="2400" b="1">
                <a:solidFill>
                  <a:srgbClr val="EB1700"/>
                </a:solidFill>
                <a:latin typeface="Inter" pitchFamily="34" charset="0"/>
                <a:ea typeface="Inter" pitchFamily="34" charset="-122"/>
                <a:cs typeface="Inter" pitchFamily="34" charset="-120"/>
              </a:rPr>
              <a:t>Five apps.</a:t>
            </a:r>
            <a:endParaRPr lang="en-US" sz="2400"/>
          </a:p>
        </p:txBody>
      </p:sp>
      <p:sp>
        <p:nvSpPr>
          <p:cNvPr id="49" name="Text 47"/>
          <p:cNvSpPr/>
          <p:nvPr/>
        </p:nvSpPr>
        <p:spPr>
          <a:xfrm>
            <a:off x="8229600" y="3200400"/>
            <a:ext cx="3200400" cy="457200"/>
          </a:xfrm>
          <a:prstGeom prst="rect">
            <a:avLst/>
          </a:prstGeom>
          <a:noFill/>
          <a:ln/>
        </p:spPr>
        <p:txBody>
          <a:bodyPr wrap="square" lIns="0" tIns="0" rIns="0" bIns="0" rtlCol="0" anchor="ctr"/>
          <a:lstStyle/>
          <a:p>
            <a:pPr marL="0" indent="0">
              <a:buNone/>
            </a:pPr>
            <a:r>
              <a:rPr lang="en-US" sz="2400" b="1">
                <a:solidFill>
                  <a:srgbClr val="EB1700"/>
                </a:solidFill>
                <a:latin typeface="Inter" pitchFamily="34" charset="0"/>
                <a:ea typeface="Inter" pitchFamily="34" charset="-122"/>
                <a:cs typeface="Inter" pitchFamily="34" charset="-120"/>
              </a:rPr>
              <a:t>Five carts.</a:t>
            </a:r>
            <a:endParaRPr lang="en-US" sz="2400"/>
          </a:p>
        </p:txBody>
      </p:sp>
      <p:sp>
        <p:nvSpPr>
          <p:cNvPr id="50" name="Text 48"/>
          <p:cNvSpPr/>
          <p:nvPr/>
        </p:nvSpPr>
        <p:spPr>
          <a:xfrm>
            <a:off x="8229600" y="3657600"/>
            <a:ext cx="3200400" cy="457200"/>
          </a:xfrm>
          <a:prstGeom prst="rect">
            <a:avLst/>
          </a:prstGeom>
          <a:noFill/>
          <a:ln/>
        </p:spPr>
        <p:txBody>
          <a:bodyPr wrap="square" lIns="0" tIns="0" rIns="0" bIns="0" rtlCol="0" anchor="ctr"/>
          <a:lstStyle/>
          <a:p>
            <a:pPr marL="0" indent="0">
              <a:buNone/>
            </a:pPr>
            <a:r>
              <a:rPr lang="en-US" sz="2400" b="1">
                <a:solidFill>
                  <a:srgbClr val="EB1700"/>
                </a:solidFill>
                <a:latin typeface="Inter" pitchFamily="34" charset="0"/>
                <a:ea typeface="Inter" pitchFamily="34" charset="-122"/>
                <a:cs typeface="Inter" pitchFamily="34" charset="-120"/>
              </a:rPr>
              <a:t>Five checkouts.</a:t>
            </a:r>
            <a:endParaRPr lang="en-US" sz="2400"/>
          </a:p>
        </p:txBody>
      </p:sp>
      <p:sp>
        <p:nvSpPr>
          <p:cNvPr id="51" name="Text 49"/>
          <p:cNvSpPr/>
          <p:nvPr/>
        </p:nvSpPr>
        <p:spPr>
          <a:xfrm>
            <a:off x="8229600" y="4160520"/>
            <a:ext cx="3200400" cy="457200"/>
          </a:xfrm>
          <a:prstGeom prst="rect">
            <a:avLst/>
          </a:prstGeom>
          <a:noFill/>
          <a:ln/>
        </p:spPr>
        <p:txBody>
          <a:bodyPr wrap="square" lIns="0" tIns="0" rIns="0" bIns="0" rtlCol="0" anchor="ctr"/>
          <a:lstStyle/>
          <a:p>
            <a:pPr marL="0" indent="0">
              <a:buNone/>
            </a:pPr>
            <a:r>
              <a:rPr lang="en-US" sz="2400" b="1">
                <a:solidFill>
                  <a:srgbClr val="1A1A1A"/>
                </a:solidFill>
                <a:latin typeface="Inter" pitchFamily="34" charset="0"/>
                <a:ea typeface="Inter" pitchFamily="34" charset="-122"/>
                <a:cs typeface="Inter" pitchFamily="34" charset="-120"/>
              </a:rPr>
              <a:t>One host.</a:t>
            </a:r>
            <a:endParaRPr 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731520" y="1645920"/>
            <a:ext cx="10698480" cy="1097280"/>
          </a:xfrm>
          <a:prstGeom prst="rect">
            <a:avLst/>
          </a:prstGeom>
          <a:noFill/>
          <a:ln/>
        </p:spPr>
        <p:txBody>
          <a:bodyPr wrap="square" lIns="0" tIns="0" rIns="0" bIns="0" rtlCol="0" anchor="ctr"/>
          <a:lstStyle/>
          <a:p>
            <a:pPr marL="0" indent="0" algn="ctr">
              <a:buNone/>
            </a:pPr>
            <a:r>
              <a:rPr lang="en-US" sz="8000" b="1">
                <a:solidFill>
                  <a:srgbClr val="FFFFFF"/>
                </a:solidFill>
                <a:latin typeface="Inter" pitchFamily="34" charset="0"/>
                <a:ea typeface="Inter" pitchFamily="34" charset="-122"/>
                <a:cs typeface="Inter" pitchFamily="34" charset="-120"/>
              </a:rPr>
              <a:t>It's a lot.</a:t>
            </a:r>
            <a:endParaRPr lang="en-US" sz="8000"/>
          </a:p>
        </p:txBody>
      </p:sp>
      <p:sp>
        <p:nvSpPr>
          <p:cNvPr id="3" name="Text 1"/>
          <p:cNvSpPr/>
          <p:nvPr/>
        </p:nvSpPr>
        <p:spPr>
          <a:xfrm>
            <a:off x="731520" y="2743200"/>
            <a:ext cx="10698480" cy="1097280"/>
          </a:xfrm>
          <a:prstGeom prst="rect">
            <a:avLst/>
          </a:prstGeom>
          <a:noFill/>
          <a:ln/>
        </p:spPr>
        <p:txBody>
          <a:bodyPr wrap="square" lIns="0" tIns="0" rIns="0" bIns="0" rtlCol="0" anchor="ctr"/>
          <a:lstStyle/>
          <a:p>
            <a:pPr marL="0" indent="0" algn="ctr">
              <a:buNone/>
            </a:pPr>
            <a:r>
              <a:rPr lang="en-US" sz="8000" b="1">
                <a:solidFill>
                  <a:srgbClr val="FFFFFF"/>
                </a:solidFill>
                <a:latin typeface="Inter" pitchFamily="34" charset="0"/>
                <a:ea typeface="Inter" pitchFamily="34" charset="-122"/>
                <a:cs typeface="Inter" pitchFamily="34" charset="-120"/>
              </a:rPr>
              <a:t>It's tomorrow.</a:t>
            </a:r>
            <a:endParaRPr lang="en-US" sz="8000"/>
          </a:p>
        </p:txBody>
      </p:sp>
      <p:sp>
        <p:nvSpPr>
          <p:cNvPr id="4" name="Text 2"/>
          <p:cNvSpPr/>
          <p:nvPr/>
        </p:nvSpPr>
        <p:spPr>
          <a:xfrm>
            <a:off x="731520" y="4206240"/>
            <a:ext cx="10698480" cy="914400"/>
          </a:xfrm>
          <a:prstGeom prst="rect">
            <a:avLst/>
          </a:prstGeom>
          <a:noFill/>
          <a:ln/>
        </p:spPr>
        <p:txBody>
          <a:bodyPr wrap="square" lIns="0" tIns="0" rIns="0" bIns="0" rtlCol="0" anchor="ctr"/>
          <a:lstStyle/>
          <a:p>
            <a:pPr marL="0" indent="0" algn="ctr">
              <a:buNone/>
            </a:pPr>
            <a:r>
              <a:rPr lang="en-US" sz="3200" i="1">
                <a:solidFill>
                  <a:srgbClr val="C7C0B9"/>
                </a:solidFill>
                <a:latin typeface="Inter" pitchFamily="34" charset="0"/>
                <a:ea typeface="Inter" pitchFamily="34" charset="-122"/>
                <a:cs typeface="Inter" pitchFamily="34" charset="-120"/>
              </a:rPr>
              <a:t>She just wants to put her phone down.</a:t>
            </a:r>
            <a:endParaRPr lang="en-US" sz="3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8F3"/>
        </a:solidFill>
        <a:effectLst/>
      </p:bgPr>
    </p:bg>
    <p:spTree>
      <p:nvGrpSpPr>
        <p:cNvPr id="1" name=""/>
        <p:cNvGrpSpPr/>
        <p:nvPr/>
      </p:nvGrpSpPr>
      <p:grpSpPr>
        <a:xfrm>
          <a:off x="0" y="0"/>
          <a:ext cx="0" cy="0"/>
          <a:chOff x="0" y="0"/>
          <a:chExt cx="0" cy="0"/>
        </a:xfrm>
      </p:grpSpPr>
      <p:sp>
        <p:nvSpPr>
          <p:cNvPr id="2" name="Text 0"/>
          <p:cNvSpPr/>
          <p:nvPr/>
        </p:nvSpPr>
        <p:spPr>
          <a:xfrm>
            <a:off x="731520" y="1645920"/>
            <a:ext cx="5029200" cy="1828800"/>
          </a:xfrm>
          <a:prstGeom prst="rect">
            <a:avLst/>
          </a:prstGeom>
          <a:noFill/>
          <a:ln/>
        </p:spPr>
        <p:txBody>
          <a:bodyPr wrap="square" lIns="0" tIns="0" rIns="0" bIns="0" rtlCol="0" anchor="ctr"/>
          <a:lstStyle/>
          <a:p>
            <a:pPr marL="0" indent="0">
              <a:buNone/>
            </a:pPr>
            <a:r>
              <a:rPr lang="en-US" sz="4000" b="1">
                <a:solidFill>
                  <a:srgbClr val="1A1A1A"/>
                </a:solidFill>
                <a:latin typeface="Inter" pitchFamily="34" charset="0"/>
                <a:ea typeface="Inter" pitchFamily="34" charset="-122"/>
                <a:cs typeface="Inter" pitchFamily="34" charset="-120"/>
              </a:rPr>
              <a:t>So they do</a:t>
            </a:r>
            <a:endParaRPr lang="en-US" sz="4000"/>
          </a:p>
          <a:p>
            <a:pPr marL="0" indent="0">
              <a:buNone/>
            </a:pPr>
            <a:r>
              <a:rPr lang="en-US" sz="4000" b="1">
                <a:solidFill>
                  <a:srgbClr val="1A1A1A"/>
                </a:solidFill>
                <a:latin typeface="Inter" pitchFamily="34" charset="0"/>
                <a:ea typeface="Inter" pitchFamily="34" charset="-122"/>
                <a:cs typeface="Inter" pitchFamily="34" charset="-120"/>
              </a:rPr>
              <a:t>what they always do.</a:t>
            </a:r>
            <a:endParaRPr lang="en-US" sz="4000"/>
          </a:p>
        </p:txBody>
      </p:sp>
      <p:sp>
        <p:nvSpPr>
          <p:cNvPr id="3" name="Text 1"/>
          <p:cNvSpPr/>
          <p:nvPr/>
        </p:nvSpPr>
        <p:spPr>
          <a:xfrm>
            <a:off x="731520" y="4023360"/>
            <a:ext cx="5029200" cy="914400"/>
          </a:xfrm>
          <a:prstGeom prst="rect">
            <a:avLst/>
          </a:prstGeom>
          <a:noFill/>
          <a:ln/>
        </p:spPr>
        <p:txBody>
          <a:bodyPr wrap="square" lIns="0" tIns="0" rIns="0" bIns="0" rtlCol="0" anchor="ctr"/>
          <a:lstStyle/>
          <a:p>
            <a:pPr marL="0" indent="0">
              <a:buNone/>
            </a:pPr>
            <a:r>
              <a:rPr lang="en-US" sz="4800" b="1">
                <a:solidFill>
                  <a:srgbClr val="EB1700"/>
                </a:solidFill>
                <a:latin typeface="Inter" pitchFamily="34" charset="0"/>
                <a:ea typeface="Inter" pitchFamily="34" charset="-122"/>
                <a:cs typeface="Inter" pitchFamily="34" charset="-120"/>
              </a:rPr>
              <a:t>They downgrade.</a:t>
            </a:r>
            <a:endParaRPr lang="en-US" sz="4800"/>
          </a:p>
        </p:txBody>
      </p:sp>
      <p:sp>
        <p:nvSpPr>
          <p:cNvPr id="4" name="Shape 2"/>
          <p:cNvSpPr/>
          <p:nvPr/>
        </p:nvSpPr>
        <p:spPr>
          <a:xfrm>
            <a:off x="6858000" y="731520"/>
            <a:ext cx="4389120" cy="5394960"/>
          </a:xfrm>
          <a:prstGeom prst="roundRect">
            <a:avLst>
              <a:gd name="adj" fmla="val 6250"/>
            </a:avLst>
          </a:prstGeom>
          <a:solidFill>
            <a:srgbClr val="FFFFFF"/>
          </a:solidFill>
          <a:ln w="25400">
            <a:solidFill>
              <a:srgbClr val="E8E2DC"/>
            </a:solidFill>
            <a:prstDash val="solid"/>
          </a:ln>
          <a:effectLst>
            <a:outerShdw blurRad="152400" dist="50800" dir="5400000" algn="bl" rotWithShape="0">
              <a:srgbClr val="000000">
                <a:alpha val="10000"/>
              </a:srgbClr>
            </a:outerShdw>
          </a:effectLst>
        </p:spPr>
      </p:sp>
      <p:sp>
        <p:nvSpPr>
          <p:cNvPr id="5" name="Text 3"/>
          <p:cNvSpPr/>
          <p:nvPr/>
        </p:nvSpPr>
        <p:spPr>
          <a:xfrm>
            <a:off x="7223760" y="1097280"/>
            <a:ext cx="3657600" cy="365760"/>
          </a:xfrm>
          <a:prstGeom prst="rect">
            <a:avLst/>
          </a:prstGeom>
          <a:noFill/>
          <a:ln/>
        </p:spPr>
        <p:txBody>
          <a:bodyPr wrap="square" lIns="0" tIns="0" rIns="0" bIns="0" rtlCol="0" anchor="ctr"/>
          <a:lstStyle/>
          <a:p>
            <a:pPr marL="0" indent="0" algn="ctr">
              <a:buNone/>
            </a:pPr>
            <a:r>
              <a:rPr lang="en-US" sz="1300" b="1">
                <a:solidFill>
                  <a:srgbClr val="1A1A1A"/>
                </a:solidFill>
                <a:latin typeface="Inter" pitchFamily="34" charset="0"/>
                <a:ea typeface="Inter" pitchFamily="34" charset="-122"/>
                <a:cs typeface="Inter" pitchFamily="34" charset="-120"/>
              </a:rPr>
              <a:t>galentines 💖</a:t>
            </a:r>
            <a:endParaRPr lang="en-US" sz="1300"/>
          </a:p>
        </p:txBody>
      </p:sp>
      <p:sp>
        <p:nvSpPr>
          <p:cNvPr id="6" name="Shape 4"/>
          <p:cNvSpPr/>
          <p:nvPr/>
        </p:nvSpPr>
        <p:spPr>
          <a:xfrm>
            <a:off x="7132320" y="1600200"/>
            <a:ext cx="3840480" cy="0"/>
          </a:xfrm>
          <a:prstGeom prst="line">
            <a:avLst/>
          </a:prstGeom>
          <a:noFill/>
          <a:ln w="12700">
            <a:solidFill>
              <a:srgbClr val="E8E2DC"/>
            </a:solidFill>
            <a:prstDash val="solid"/>
          </a:ln>
        </p:spPr>
      </p:sp>
      <p:sp>
        <p:nvSpPr>
          <p:cNvPr id="7" name="Shape 5"/>
          <p:cNvSpPr/>
          <p:nvPr/>
        </p:nvSpPr>
        <p:spPr>
          <a:xfrm>
            <a:off x="7223760" y="1920240"/>
            <a:ext cx="2926080" cy="502920"/>
          </a:xfrm>
          <a:prstGeom prst="roundRect">
            <a:avLst>
              <a:gd name="adj" fmla="val 36364"/>
            </a:avLst>
          </a:prstGeom>
          <a:solidFill>
            <a:srgbClr val="F0F0F0"/>
          </a:solidFill>
          <a:ln w="12700">
            <a:solidFill>
              <a:srgbClr val="F0F0F0"/>
            </a:solidFill>
            <a:prstDash val="solid"/>
          </a:ln>
        </p:spPr>
      </p:sp>
      <p:sp>
        <p:nvSpPr>
          <p:cNvPr id="8" name="Text 6"/>
          <p:cNvSpPr/>
          <p:nvPr/>
        </p:nvSpPr>
        <p:spPr>
          <a:xfrm>
            <a:off x="7360920" y="1965960"/>
            <a:ext cx="2743200" cy="411480"/>
          </a:xfrm>
          <a:prstGeom prst="rect">
            <a:avLst/>
          </a:prstGeom>
          <a:noFill/>
          <a:ln/>
        </p:spPr>
        <p:txBody>
          <a:bodyPr wrap="square" lIns="0" tIns="0" rIns="0" bIns="0" rtlCol="0" anchor="ctr"/>
          <a:lstStyle/>
          <a:p>
            <a:pPr marL="0" indent="0">
              <a:buNone/>
            </a:pPr>
            <a:r>
              <a:rPr lang="en-US" sz="1100">
                <a:solidFill>
                  <a:srgbClr val="1A1A1A"/>
                </a:solidFill>
                <a:latin typeface="Inter" pitchFamily="34" charset="0"/>
                <a:ea typeface="Inter" pitchFamily="34" charset="-122"/>
                <a:cs typeface="Inter" pitchFamily="34" charset="-120"/>
              </a:rPr>
              <a:t>ok hosting is too much…</a:t>
            </a:r>
            <a:endParaRPr lang="en-US" sz="1100"/>
          </a:p>
        </p:txBody>
      </p:sp>
      <p:sp>
        <p:nvSpPr>
          <p:cNvPr id="9" name="Shape 7"/>
          <p:cNvSpPr/>
          <p:nvPr/>
        </p:nvSpPr>
        <p:spPr>
          <a:xfrm>
            <a:off x="7955280" y="2743200"/>
            <a:ext cx="2926080" cy="502920"/>
          </a:xfrm>
          <a:prstGeom prst="roundRect">
            <a:avLst>
              <a:gd name="adj" fmla="val 36364"/>
            </a:avLst>
          </a:prstGeom>
          <a:solidFill>
            <a:srgbClr val="EB1700"/>
          </a:solidFill>
          <a:ln w="12700">
            <a:solidFill>
              <a:srgbClr val="EB1700"/>
            </a:solidFill>
            <a:prstDash val="solid"/>
          </a:ln>
        </p:spPr>
      </p:sp>
      <p:sp>
        <p:nvSpPr>
          <p:cNvPr id="10" name="Text 8"/>
          <p:cNvSpPr/>
          <p:nvPr/>
        </p:nvSpPr>
        <p:spPr>
          <a:xfrm>
            <a:off x="8092440" y="2788920"/>
            <a:ext cx="2743200" cy="411480"/>
          </a:xfrm>
          <a:prstGeom prst="rect">
            <a:avLst/>
          </a:prstGeom>
          <a:noFill/>
          <a:ln/>
        </p:spPr>
        <p:txBody>
          <a:bodyPr wrap="square" lIns="0" tIns="0" rIns="0" bIns="0" rtlCol="0" anchor="ctr"/>
          <a:lstStyle/>
          <a:p>
            <a:pPr marL="0" indent="0">
              <a:buNone/>
            </a:pPr>
            <a:r>
              <a:rPr lang="en-US" sz="1100">
                <a:solidFill>
                  <a:srgbClr val="FFFFFF"/>
                </a:solidFill>
                <a:latin typeface="Inter"/>
                <a:ea typeface="Inter"/>
                <a:cs typeface="Inter" pitchFamily="34" charset="-120"/>
              </a:rPr>
              <a:t>just meet at the ridge?</a:t>
            </a:r>
            <a:endParaRPr lang="en-US" sz="1100">
              <a:latin typeface="Inter"/>
              <a:ea typeface="Inter"/>
            </a:endParaRPr>
          </a:p>
        </p:txBody>
      </p:sp>
      <p:sp>
        <p:nvSpPr>
          <p:cNvPr id="11" name="Shape 9"/>
          <p:cNvSpPr/>
          <p:nvPr/>
        </p:nvSpPr>
        <p:spPr>
          <a:xfrm>
            <a:off x="7223760" y="3383280"/>
            <a:ext cx="3291840" cy="502920"/>
          </a:xfrm>
          <a:prstGeom prst="roundRect">
            <a:avLst>
              <a:gd name="adj" fmla="val 36364"/>
            </a:avLst>
          </a:prstGeom>
          <a:solidFill>
            <a:srgbClr val="F0F0F0"/>
          </a:solidFill>
          <a:ln w="12700">
            <a:solidFill>
              <a:srgbClr val="F0F0F0"/>
            </a:solidFill>
            <a:prstDash val="solid"/>
          </a:ln>
        </p:spPr>
      </p:sp>
      <p:sp>
        <p:nvSpPr>
          <p:cNvPr id="12" name="Text 10"/>
          <p:cNvSpPr/>
          <p:nvPr/>
        </p:nvSpPr>
        <p:spPr>
          <a:xfrm>
            <a:off x="7360920" y="3429000"/>
            <a:ext cx="3108960" cy="411480"/>
          </a:xfrm>
          <a:prstGeom prst="rect">
            <a:avLst/>
          </a:prstGeom>
          <a:noFill/>
          <a:ln/>
        </p:spPr>
        <p:txBody>
          <a:bodyPr wrap="square" lIns="0" tIns="0" rIns="0" bIns="0" rtlCol="0" anchor="ctr"/>
          <a:lstStyle/>
          <a:p>
            <a:pPr marL="0" indent="0">
              <a:buNone/>
            </a:pPr>
            <a:endParaRPr lang="en-US" sz="1100">
              <a:solidFill>
                <a:srgbClr val="1A1A1A"/>
              </a:solidFill>
              <a:latin typeface="Inter"/>
              <a:ea typeface="Inter"/>
            </a:endParaRPr>
          </a:p>
        </p:txBody>
      </p:sp>
      <p:sp>
        <p:nvSpPr>
          <p:cNvPr id="13" name="Text 11"/>
          <p:cNvSpPr/>
          <p:nvPr/>
        </p:nvSpPr>
        <p:spPr>
          <a:xfrm>
            <a:off x="7223760" y="4069080"/>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Inter" pitchFamily="34" charset="0"/>
                <a:ea typeface="Inter" pitchFamily="34" charset="-122"/>
                <a:cs typeface="Inter" pitchFamily="34" charset="-120"/>
              </a:rPr>
              <a:t>seen 11:42 PM</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8F3"/>
        </a:solidFill>
        <a:effectLst/>
      </p:bgPr>
    </p:bg>
    <p:spTree>
      <p:nvGrpSpPr>
        <p:cNvPr id="1" name=""/>
        <p:cNvGrpSpPr/>
        <p:nvPr/>
      </p:nvGrpSpPr>
      <p:grpSpPr>
        <a:xfrm>
          <a:off x="0" y="0"/>
          <a:ext cx="0" cy="0"/>
          <a:chOff x="0" y="0"/>
          <a:chExt cx="0" cy="0"/>
        </a:xfrm>
      </p:grpSpPr>
      <p:sp>
        <p:nvSpPr>
          <p:cNvPr id="2" name="Shape 0"/>
          <p:cNvSpPr/>
          <p:nvPr/>
        </p:nvSpPr>
        <p:spPr>
          <a:xfrm>
            <a:off x="6080760" y="731520"/>
            <a:ext cx="0" cy="5394960"/>
          </a:xfrm>
          <a:prstGeom prst="line">
            <a:avLst/>
          </a:prstGeom>
          <a:noFill/>
          <a:ln w="12700">
            <a:solidFill>
              <a:srgbClr val="E8E2DC"/>
            </a:solidFill>
            <a:prstDash val="solid"/>
          </a:ln>
        </p:spPr>
      </p:sp>
      <p:sp>
        <p:nvSpPr>
          <p:cNvPr id="3" name="Text 1"/>
          <p:cNvSpPr/>
          <p:nvPr/>
        </p:nvSpPr>
        <p:spPr>
          <a:xfrm>
            <a:off x="731520" y="731520"/>
            <a:ext cx="4754880" cy="365760"/>
          </a:xfrm>
          <a:prstGeom prst="rect">
            <a:avLst/>
          </a:prstGeom>
          <a:noFill/>
          <a:ln/>
        </p:spPr>
        <p:txBody>
          <a:bodyPr wrap="square" lIns="0" tIns="0" rIns="0" bIns="0" rtlCol="0" anchor="ctr"/>
          <a:lstStyle/>
          <a:p>
            <a:pPr marL="0" indent="0">
              <a:buNone/>
            </a:pPr>
            <a:r>
              <a:rPr lang="en-US" sz="1100" b="1" kern="0" spc="800">
                <a:solidFill>
                  <a:srgbClr val="C7C0B9"/>
                </a:solidFill>
                <a:latin typeface="Inter" pitchFamily="34" charset="0"/>
                <a:ea typeface="Inter" pitchFamily="34" charset="-122"/>
                <a:cs typeface="Inter" pitchFamily="34" charset="-120"/>
              </a:rPr>
              <a:t>WHAT SHE WANTED</a:t>
            </a:r>
            <a:endParaRPr lang="en-US" sz="1100"/>
          </a:p>
        </p:txBody>
      </p:sp>
      <p:sp>
        <p:nvSpPr>
          <p:cNvPr id="4" name="Text 2"/>
          <p:cNvSpPr/>
          <p:nvPr/>
        </p:nvSpPr>
        <p:spPr>
          <a:xfrm>
            <a:off x="731520" y="1371600"/>
            <a:ext cx="5029200" cy="2743200"/>
          </a:xfrm>
          <a:prstGeom prst="rect">
            <a:avLst/>
          </a:prstGeom>
          <a:noFill/>
          <a:ln/>
        </p:spPr>
        <p:txBody>
          <a:bodyPr wrap="square" lIns="0" tIns="0" rIns="0" bIns="0" rtlCol="0" anchor="t"/>
          <a:lstStyle/>
          <a:p>
            <a:pPr marL="0" indent="0">
              <a:buNone/>
            </a:pPr>
            <a:r>
              <a:rPr lang="en-US" sz="3800">
                <a:solidFill>
                  <a:srgbClr val="C7C0B9"/>
                </a:solidFill>
                <a:latin typeface="Inter" pitchFamily="34" charset="0"/>
                <a:ea typeface="Inter" pitchFamily="34" charset="-122"/>
                <a:cs typeface="Inter" pitchFamily="34" charset="-120"/>
              </a:rPr>
              <a:t>A curated</a:t>
            </a:r>
            <a:endParaRPr lang="en-US" sz="3800"/>
          </a:p>
          <a:p>
            <a:pPr marL="0" indent="0">
              <a:buNone/>
            </a:pPr>
            <a:r>
              <a:rPr lang="en-US" sz="3800">
                <a:solidFill>
                  <a:srgbClr val="C7C0B9"/>
                </a:solidFill>
                <a:latin typeface="Inter" pitchFamily="34" charset="0"/>
                <a:ea typeface="Inter" pitchFamily="34" charset="-122"/>
                <a:cs typeface="Inter" pitchFamily="34" charset="-120"/>
              </a:rPr>
              <a:t>Galentine's</a:t>
            </a:r>
            <a:endParaRPr lang="en-US" sz="3800"/>
          </a:p>
          <a:p>
            <a:pPr marL="0" indent="0">
              <a:buNone/>
            </a:pPr>
            <a:r>
              <a:rPr lang="en-US" sz="3800">
                <a:solidFill>
                  <a:srgbClr val="C7C0B9"/>
                </a:solidFill>
                <a:latin typeface="Inter" pitchFamily="34" charset="0"/>
                <a:ea typeface="Inter" pitchFamily="34" charset="-122"/>
                <a:cs typeface="Inter" pitchFamily="34" charset="-120"/>
              </a:rPr>
              <a:t>at home.</a:t>
            </a:r>
            <a:endParaRPr lang="en-US" sz="3800"/>
          </a:p>
        </p:txBody>
      </p:sp>
      <p:sp>
        <p:nvSpPr>
          <p:cNvPr id="5" name="Text 3"/>
          <p:cNvSpPr/>
          <p:nvPr/>
        </p:nvSpPr>
        <p:spPr>
          <a:xfrm>
            <a:off x="731520" y="4297680"/>
            <a:ext cx="5029200" cy="365760"/>
          </a:xfrm>
          <a:prstGeom prst="rect">
            <a:avLst/>
          </a:prstGeom>
          <a:noFill/>
          <a:ln/>
        </p:spPr>
        <p:txBody>
          <a:bodyPr wrap="square" lIns="0" tIns="0" rIns="0" bIns="0" rtlCol="0" anchor="ctr"/>
          <a:lstStyle/>
          <a:p>
            <a:pPr marL="0" indent="0">
              <a:buNone/>
            </a:pPr>
            <a:r>
              <a:rPr lang="en-US" sz="1500" i="1">
                <a:solidFill>
                  <a:srgbClr val="C7C0B9"/>
                </a:solidFill>
                <a:latin typeface="Inter" pitchFamily="34" charset="0"/>
                <a:ea typeface="Inter" pitchFamily="34" charset="-122"/>
                <a:cs typeface="Inter" pitchFamily="34" charset="-120"/>
              </a:rPr>
              <a:t>Pink everything.</a:t>
            </a:r>
            <a:endParaRPr lang="en-US" sz="1500"/>
          </a:p>
        </p:txBody>
      </p:sp>
      <p:sp>
        <p:nvSpPr>
          <p:cNvPr id="6" name="Text 4"/>
          <p:cNvSpPr/>
          <p:nvPr/>
        </p:nvSpPr>
        <p:spPr>
          <a:xfrm>
            <a:off x="731520" y="4663440"/>
            <a:ext cx="5029200" cy="365760"/>
          </a:xfrm>
          <a:prstGeom prst="rect">
            <a:avLst/>
          </a:prstGeom>
          <a:noFill/>
          <a:ln/>
        </p:spPr>
        <p:txBody>
          <a:bodyPr wrap="square" lIns="0" tIns="0" rIns="0" bIns="0" rtlCol="0" anchor="ctr"/>
          <a:lstStyle/>
          <a:p>
            <a:pPr marL="0" indent="0">
              <a:buNone/>
            </a:pPr>
            <a:r>
              <a:rPr lang="en-US" sz="1500" i="1">
                <a:solidFill>
                  <a:srgbClr val="C7C0B9"/>
                </a:solidFill>
                <a:latin typeface="Inter" pitchFamily="34" charset="0"/>
                <a:ea typeface="Inter" pitchFamily="34" charset="-122"/>
                <a:cs typeface="Inter" pitchFamily="34" charset="-120"/>
              </a:rPr>
              <a:t>Good rosé. A cheese board.</a:t>
            </a:r>
            <a:endParaRPr lang="en-US" sz="1500"/>
          </a:p>
        </p:txBody>
      </p:sp>
      <p:sp>
        <p:nvSpPr>
          <p:cNvPr id="7" name="Text 5"/>
          <p:cNvSpPr/>
          <p:nvPr/>
        </p:nvSpPr>
        <p:spPr>
          <a:xfrm>
            <a:off x="731520" y="5029200"/>
            <a:ext cx="5029200" cy="365760"/>
          </a:xfrm>
          <a:prstGeom prst="rect">
            <a:avLst/>
          </a:prstGeom>
          <a:noFill/>
          <a:ln/>
        </p:spPr>
        <p:txBody>
          <a:bodyPr wrap="square" lIns="0" tIns="0" rIns="0" bIns="0" rtlCol="0" anchor="ctr"/>
          <a:lstStyle/>
          <a:p>
            <a:pPr marL="0" indent="0">
              <a:buNone/>
            </a:pPr>
            <a:r>
              <a:rPr lang="en-US" sz="1500" i="1">
                <a:solidFill>
                  <a:srgbClr val="C7C0B9"/>
                </a:solidFill>
                <a:latin typeface="Inter" pitchFamily="34" charset="0"/>
                <a:ea typeface="Inter" pitchFamily="34" charset="-122"/>
                <a:cs typeface="Inter" pitchFamily="34" charset="-120"/>
              </a:rPr>
              <a:t>Flowers on the table.</a:t>
            </a:r>
            <a:endParaRPr lang="en-US" sz="1500"/>
          </a:p>
        </p:txBody>
      </p:sp>
      <p:sp>
        <p:nvSpPr>
          <p:cNvPr id="8" name="Text 6"/>
          <p:cNvSpPr/>
          <p:nvPr/>
        </p:nvSpPr>
        <p:spPr>
          <a:xfrm>
            <a:off x="731520" y="5394960"/>
            <a:ext cx="5029200" cy="365760"/>
          </a:xfrm>
          <a:prstGeom prst="rect">
            <a:avLst/>
          </a:prstGeom>
          <a:noFill/>
          <a:ln/>
        </p:spPr>
        <p:txBody>
          <a:bodyPr wrap="square" lIns="0" tIns="0" rIns="0" bIns="0" rtlCol="0" anchor="ctr"/>
          <a:lstStyle/>
          <a:p>
            <a:pPr marL="0" indent="0">
              <a:buNone/>
            </a:pPr>
            <a:r>
              <a:rPr lang="en-US" sz="1500" i="1">
                <a:solidFill>
                  <a:srgbClr val="C7C0B9"/>
                </a:solidFill>
                <a:latin typeface="Inter" pitchFamily="34" charset="0"/>
                <a:ea typeface="Inter" pitchFamily="34" charset="-122"/>
                <a:cs typeface="Inter" pitchFamily="34" charset="-120"/>
              </a:rPr>
              <a:t>Six of her favorite people.</a:t>
            </a:r>
            <a:endParaRPr lang="en-US" sz="1500"/>
          </a:p>
        </p:txBody>
      </p:sp>
      <p:sp>
        <p:nvSpPr>
          <p:cNvPr id="9" name="Text 7"/>
          <p:cNvSpPr/>
          <p:nvPr/>
        </p:nvSpPr>
        <p:spPr>
          <a:xfrm>
            <a:off x="6583680" y="731520"/>
            <a:ext cx="4754880" cy="365760"/>
          </a:xfrm>
          <a:prstGeom prst="rect">
            <a:avLst/>
          </a:prstGeom>
          <a:noFill/>
          <a:ln/>
        </p:spPr>
        <p:txBody>
          <a:bodyPr wrap="square" lIns="0" tIns="0" rIns="0" bIns="0" rtlCol="0" anchor="ctr"/>
          <a:lstStyle/>
          <a:p>
            <a:pPr marL="0" indent="0">
              <a:buNone/>
            </a:pPr>
            <a:r>
              <a:rPr lang="en-US" sz="1100" b="1" kern="0" spc="800">
                <a:solidFill>
                  <a:srgbClr val="EB1700"/>
                </a:solidFill>
                <a:latin typeface="Inter" pitchFamily="34" charset="0"/>
                <a:ea typeface="Inter" pitchFamily="34" charset="-122"/>
                <a:cs typeface="Inter" pitchFamily="34" charset="-120"/>
              </a:rPr>
              <a:t>WHAT SHE GOT</a:t>
            </a:r>
            <a:endParaRPr lang="en-US" sz="1100"/>
          </a:p>
        </p:txBody>
      </p:sp>
      <p:sp>
        <p:nvSpPr>
          <p:cNvPr id="10" name="Text 8"/>
          <p:cNvSpPr/>
          <p:nvPr/>
        </p:nvSpPr>
        <p:spPr>
          <a:xfrm>
            <a:off x="6583680" y="1371600"/>
            <a:ext cx="5029200" cy="2743200"/>
          </a:xfrm>
          <a:prstGeom prst="rect">
            <a:avLst/>
          </a:prstGeom>
          <a:noFill/>
          <a:ln/>
        </p:spPr>
        <p:txBody>
          <a:bodyPr wrap="square" lIns="0" tIns="0" rIns="0" bIns="0" rtlCol="0" anchor="t"/>
          <a:lstStyle/>
          <a:p>
            <a:pPr marL="0" indent="0">
              <a:buNone/>
            </a:pPr>
            <a:r>
              <a:rPr lang="en-US" sz="5200" b="1">
                <a:solidFill>
                  <a:srgbClr val="1A1A1A"/>
                </a:solidFill>
                <a:latin typeface="Inter" pitchFamily="34" charset="0"/>
                <a:ea typeface="Inter" pitchFamily="34" charset="-122"/>
                <a:cs typeface="Inter" pitchFamily="34" charset="-120"/>
              </a:rPr>
              <a:t>A loud bar.</a:t>
            </a:r>
            <a:endParaRPr lang="en-US" sz="5200"/>
          </a:p>
          <a:p>
            <a:pPr marL="0" indent="0">
              <a:buNone/>
            </a:pPr>
            <a:r>
              <a:rPr lang="en-US" sz="5200" b="1">
                <a:solidFill>
                  <a:srgbClr val="1A1A1A"/>
                </a:solidFill>
                <a:latin typeface="Inter" pitchFamily="34" charset="0"/>
                <a:ea typeface="Inter" pitchFamily="34" charset="-122"/>
                <a:cs typeface="Inter" pitchFamily="34" charset="-120"/>
              </a:rPr>
              <a:t>$18 rosé.</a:t>
            </a:r>
            <a:endParaRPr lang="en-US" sz="5200"/>
          </a:p>
        </p:txBody>
      </p:sp>
      <p:sp>
        <p:nvSpPr>
          <p:cNvPr id="11" name="Text 9"/>
          <p:cNvSpPr/>
          <p:nvPr/>
        </p:nvSpPr>
        <p:spPr>
          <a:xfrm>
            <a:off x="6583680" y="4297680"/>
            <a:ext cx="5029200" cy="365760"/>
          </a:xfrm>
          <a:prstGeom prst="rect">
            <a:avLst/>
          </a:prstGeom>
          <a:noFill/>
          <a:ln/>
        </p:spPr>
        <p:txBody>
          <a:bodyPr wrap="square" lIns="0" tIns="0" rIns="0" bIns="0" rtlCol="0" anchor="ctr"/>
          <a:lstStyle/>
          <a:p>
            <a:pPr marL="0" indent="0">
              <a:buNone/>
            </a:pPr>
            <a:r>
              <a:rPr lang="en-US" sz="1500">
                <a:solidFill>
                  <a:srgbClr val="1A1A1A"/>
                </a:solidFill>
                <a:latin typeface="Inter" pitchFamily="34" charset="0"/>
                <a:ea typeface="Inter" pitchFamily="34" charset="-122"/>
                <a:cs typeface="Inter" pitchFamily="34" charset="-120"/>
              </a:rPr>
              <a:t>The DJ played Mr. Brightside.</a:t>
            </a:r>
            <a:endParaRPr lang="en-US" sz="1500"/>
          </a:p>
        </p:txBody>
      </p:sp>
      <p:sp>
        <p:nvSpPr>
          <p:cNvPr id="12" name="Text 10"/>
          <p:cNvSpPr/>
          <p:nvPr/>
        </p:nvSpPr>
        <p:spPr>
          <a:xfrm>
            <a:off x="6583680" y="4663440"/>
            <a:ext cx="5029200" cy="365760"/>
          </a:xfrm>
          <a:prstGeom prst="rect">
            <a:avLst/>
          </a:prstGeom>
          <a:noFill/>
          <a:ln/>
        </p:spPr>
        <p:txBody>
          <a:bodyPr wrap="square" lIns="0" tIns="0" rIns="0" bIns="0" rtlCol="0" anchor="ctr"/>
          <a:lstStyle/>
          <a:p>
            <a:pPr marL="0" indent="0">
              <a:buNone/>
            </a:pPr>
            <a:r>
              <a:rPr lang="en-US" sz="1500">
                <a:solidFill>
                  <a:srgbClr val="1A1A1A"/>
                </a:solidFill>
                <a:latin typeface="Inter" pitchFamily="34" charset="0"/>
                <a:ea typeface="Inter" pitchFamily="34" charset="-122"/>
                <a:cs typeface="Inter" pitchFamily="34" charset="-120"/>
              </a:rPr>
              <a:t>Four Venmo requests, no chairs.</a:t>
            </a:r>
            <a:endParaRPr lang="en-US" sz="1500"/>
          </a:p>
        </p:txBody>
      </p:sp>
      <p:sp>
        <p:nvSpPr>
          <p:cNvPr id="13" name="Text 11"/>
          <p:cNvSpPr/>
          <p:nvPr/>
        </p:nvSpPr>
        <p:spPr>
          <a:xfrm>
            <a:off x="6583680" y="5029200"/>
            <a:ext cx="5029200" cy="365760"/>
          </a:xfrm>
          <a:prstGeom prst="rect">
            <a:avLst/>
          </a:prstGeom>
          <a:noFill/>
          <a:ln/>
        </p:spPr>
        <p:txBody>
          <a:bodyPr wrap="square" lIns="0" tIns="0" rIns="0" bIns="0" rtlCol="0" anchor="ctr"/>
          <a:lstStyle/>
          <a:p>
            <a:pPr marL="0" indent="0">
              <a:buNone/>
            </a:pPr>
            <a:r>
              <a:rPr lang="en-US" sz="1500">
                <a:solidFill>
                  <a:srgbClr val="1A1A1A"/>
                </a:solidFill>
                <a:latin typeface="Inter" pitchFamily="34" charset="0"/>
                <a:ea typeface="Inter" pitchFamily="34" charset="-122"/>
                <a:cs typeface="Inter" pitchFamily="34" charset="-120"/>
              </a:rPr>
              <a:t>Home by 10:30.</a:t>
            </a:r>
            <a:endParaRPr lang="en-US" sz="1500"/>
          </a:p>
        </p:txBody>
      </p:sp>
      <p:sp>
        <p:nvSpPr>
          <p:cNvPr id="14" name="Text 12"/>
          <p:cNvSpPr/>
          <p:nvPr/>
        </p:nvSpPr>
        <p:spPr>
          <a:xfrm>
            <a:off x="6583680" y="5394960"/>
            <a:ext cx="5029200" cy="365760"/>
          </a:xfrm>
          <a:prstGeom prst="rect">
            <a:avLst/>
          </a:prstGeom>
          <a:noFill/>
          <a:ln/>
        </p:spPr>
        <p:txBody>
          <a:bodyPr wrap="square" lIns="0" tIns="0" rIns="0" bIns="0" rtlCol="0" anchor="ctr"/>
          <a:lstStyle/>
          <a:p>
            <a:pPr marL="0" indent="0">
              <a:buNone/>
            </a:pPr>
            <a:r>
              <a:rPr lang="en-US" sz="1500" i="1">
                <a:solidFill>
                  <a:srgbClr val="EB1700"/>
                </a:solidFill>
                <a:latin typeface="Inter" pitchFamily="34" charset="0"/>
                <a:ea typeface="Inter" pitchFamily="34" charset="-122"/>
                <a:cs typeface="Inter" pitchFamily="34" charset="-120"/>
              </a:rPr>
              <a:t>Already thinking about next year.</a:t>
            </a:r>
            <a:endParaRPr lang="en-US" sz="15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EB1700"/>
        </a:solidFill>
        <a:effectLst/>
      </p:bgPr>
    </p:bg>
    <p:spTree>
      <p:nvGrpSpPr>
        <p:cNvPr id="1" name=""/>
        <p:cNvGrpSpPr/>
        <p:nvPr/>
      </p:nvGrpSpPr>
      <p:grpSpPr>
        <a:xfrm>
          <a:off x="0" y="0"/>
          <a:ext cx="0" cy="0"/>
          <a:chOff x="0" y="0"/>
          <a:chExt cx="0" cy="0"/>
        </a:xfrm>
      </p:grpSpPr>
      <p:sp>
        <p:nvSpPr>
          <p:cNvPr id="2" name="Text 0"/>
          <p:cNvSpPr/>
          <p:nvPr/>
        </p:nvSpPr>
        <p:spPr>
          <a:xfrm>
            <a:off x="731520" y="2194560"/>
            <a:ext cx="10698480" cy="548640"/>
          </a:xfrm>
          <a:prstGeom prst="rect">
            <a:avLst/>
          </a:prstGeom>
          <a:noFill/>
          <a:ln/>
        </p:spPr>
        <p:txBody>
          <a:bodyPr wrap="square" lIns="0" tIns="0" rIns="0" bIns="0" rtlCol="0" anchor="ctr"/>
          <a:lstStyle/>
          <a:p>
            <a:pPr marL="0" indent="0" algn="ctr">
              <a:buNone/>
            </a:pPr>
            <a:r>
              <a:rPr lang="en-US" sz="1400" b="1" kern="0" spc="800">
                <a:solidFill>
                  <a:srgbClr val="FFFFFF"/>
                </a:solidFill>
                <a:latin typeface="Inter" pitchFamily="34" charset="0"/>
                <a:ea typeface="Inter" pitchFamily="34" charset="-122"/>
                <a:cs typeface="Inter" pitchFamily="34" charset="-120"/>
              </a:rPr>
              <a:t>THE PROBLEM ISN'T HOSTING.</a:t>
            </a:r>
            <a:endParaRPr lang="en-US" sz="1400"/>
          </a:p>
        </p:txBody>
      </p:sp>
      <p:sp>
        <p:nvSpPr>
          <p:cNvPr id="3" name="Text 1"/>
          <p:cNvSpPr/>
          <p:nvPr/>
        </p:nvSpPr>
        <p:spPr>
          <a:xfrm>
            <a:off x="731520" y="2834640"/>
            <a:ext cx="10698480" cy="2743200"/>
          </a:xfrm>
          <a:prstGeom prst="rect">
            <a:avLst/>
          </a:prstGeom>
          <a:noFill/>
          <a:ln/>
        </p:spPr>
        <p:txBody>
          <a:bodyPr wrap="square" lIns="0" tIns="0" rIns="0" bIns="0" rtlCol="0" anchor="t"/>
          <a:lstStyle/>
          <a:p>
            <a:pPr marL="0" indent="0" algn="ctr">
              <a:buNone/>
            </a:pPr>
            <a:r>
              <a:rPr lang="en-US" sz="9600" b="1">
                <a:solidFill>
                  <a:srgbClr val="FFFFFF"/>
                </a:solidFill>
                <a:latin typeface="Inter" pitchFamily="34" charset="0"/>
                <a:ea typeface="Inter" pitchFamily="34" charset="-122"/>
                <a:cs typeface="Inter" pitchFamily="34" charset="-120"/>
              </a:rPr>
              <a:t>It's everything</a:t>
            </a:r>
            <a:endParaRPr lang="en-US" sz="9600"/>
          </a:p>
          <a:p>
            <a:pPr marL="0" indent="0" algn="ctr">
              <a:buNone/>
            </a:pPr>
            <a:r>
              <a:rPr lang="en-US" sz="9600" b="1">
                <a:solidFill>
                  <a:srgbClr val="FFFFFF"/>
                </a:solidFill>
                <a:latin typeface="Inter" pitchFamily="34" charset="0"/>
                <a:ea typeface="Inter" pitchFamily="34" charset="-122"/>
                <a:cs typeface="Inter" pitchFamily="34" charset="-120"/>
              </a:rPr>
              <a:t>in between.</a:t>
            </a:r>
            <a:endParaRPr lang="en-US" sz="9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8F3"/>
        </a:solidFill>
        <a:effectLst/>
      </p:bgPr>
    </p:bg>
    <p:spTree>
      <p:nvGrpSpPr>
        <p:cNvPr id="1" name=""/>
        <p:cNvGrpSpPr/>
        <p:nvPr/>
      </p:nvGrpSpPr>
      <p:grpSpPr>
        <a:xfrm>
          <a:off x="0" y="0"/>
          <a:ext cx="0" cy="0"/>
          <a:chOff x="0" y="0"/>
          <a:chExt cx="0" cy="0"/>
        </a:xfrm>
      </p:grpSpPr>
      <p:sp>
        <p:nvSpPr>
          <p:cNvPr id="2" name="Text 0"/>
          <p:cNvSpPr/>
          <p:nvPr/>
        </p:nvSpPr>
        <p:spPr>
          <a:xfrm>
            <a:off x="731520" y="640080"/>
            <a:ext cx="10698480" cy="365760"/>
          </a:xfrm>
          <a:prstGeom prst="rect">
            <a:avLst/>
          </a:prstGeom>
          <a:noFill/>
          <a:ln/>
        </p:spPr>
        <p:txBody>
          <a:bodyPr wrap="square" lIns="0" tIns="0" rIns="0" bIns="0" rtlCol="0" anchor="ctr"/>
          <a:lstStyle/>
          <a:p>
            <a:pPr marL="0" indent="0">
              <a:buNone/>
            </a:pPr>
            <a:r>
              <a:rPr lang="en-US" sz="1100" b="1" kern="0" spc="800">
                <a:solidFill>
                  <a:srgbClr val="EB1700"/>
                </a:solidFill>
                <a:latin typeface="Inter" pitchFamily="34" charset="0"/>
                <a:ea typeface="Inter" pitchFamily="34" charset="-122"/>
                <a:cs typeface="Inter" pitchFamily="34" charset="-120"/>
              </a:rPr>
              <a:t>OUR BET</a:t>
            </a:r>
            <a:endParaRPr lang="en-US" sz="1100"/>
          </a:p>
        </p:txBody>
      </p:sp>
      <p:sp>
        <p:nvSpPr>
          <p:cNvPr id="3" name="Text 1"/>
          <p:cNvSpPr/>
          <p:nvPr/>
        </p:nvSpPr>
        <p:spPr>
          <a:xfrm>
            <a:off x="731520" y="1280160"/>
            <a:ext cx="10698480" cy="2011680"/>
          </a:xfrm>
          <a:prstGeom prst="rect">
            <a:avLst/>
          </a:prstGeom>
          <a:noFill/>
          <a:ln/>
        </p:spPr>
        <p:txBody>
          <a:bodyPr wrap="square" lIns="0" tIns="0" rIns="0" bIns="0" rtlCol="0" anchor="ctr"/>
          <a:lstStyle/>
          <a:p>
            <a:pPr marL="0" indent="0">
              <a:buNone/>
            </a:pPr>
            <a:r>
              <a:rPr lang="en-US" sz="4000" b="1">
                <a:solidFill>
                  <a:srgbClr val="1A1A1A"/>
                </a:solidFill>
                <a:latin typeface="Inter" pitchFamily="34" charset="0"/>
                <a:ea typeface="Inter" pitchFamily="34" charset="-122"/>
                <a:cs typeface="Inter" pitchFamily="34" charset="-120"/>
              </a:rPr>
              <a:t>DoorDash stops delivering parts.</a:t>
            </a:r>
            <a:endParaRPr lang="en-US" sz="4000"/>
          </a:p>
          <a:p>
            <a:pPr marL="0" indent="0">
              <a:buNone/>
            </a:pPr>
            <a:r>
              <a:rPr lang="en-US" sz="4000" b="1">
                <a:solidFill>
                  <a:srgbClr val="1A1A1A"/>
                </a:solidFill>
                <a:latin typeface="Inter" pitchFamily="34" charset="0"/>
                <a:ea typeface="Inter" pitchFamily="34" charset="-122"/>
                <a:cs typeface="Inter" pitchFamily="34" charset="-120"/>
              </a:rPr>
              <a:t>It starts orchestrating gatherings.</a:t>
            </a:r>
            <a:endParaRPr lang="en-US" sz="4000"/>
          </a:p>
        </p:txBody>
      </p:sp>
      <p:sp>
        <p:nvSpPr>
          <p:cNvPr id="4" name="Shape 2"/>
          <p:cNvSpPr/>
          <p:nvPr/>
        </p:nvSpPr>
        <p:spPr>
          <a:xfrm>
            <a:off x="731520" y="4023360"/>
            <a:ext cx="548640" cy="0"/>
          </a:xfrm>
          <a:prstGeom prst="line">
            <a:avLst/>
          </a:prstGeom>
          <a:noFill/>
          <a:ln w="38100">
            <a:solidFill>
              <a:srgbClr val="EB1700"/>
            </a:solidFill>
            <a:prstDash val="solid"/>
          </a:ln>
        </p:spPr>
      </p:sp>
      <p:sp>
        <p:nvSpPr>
          <p:cNvPr id="5" name="Text 3"/>
          <p:cNvSpPr/>
          <p:nvPr/>
        </p:nvSpPr>
        <p:spPr>
          <a:xfrm>
            <a:off x="731520" y="4206240"/>
            <a:ext cx="5029200" cy="640080"/>
          </a:xfrm>
          <a:prstGeom prst="rect">
            <a:avLst/>
          </a:prstGeom>
          <a:noFill/>
          <a:ln/>
        </p:spPr>
        <p:txBody>
          <a:bodyPr wrap="square" lIns="0" tIns="0" rIns="0" bIns="0" rtlCol="0" anchor="ctr"/>
          <a:lstStyle/>
          <a:p>
            <a:pPr marL="0" indent="0">
              <a:buNone/>
            </a:pPr>
            <a:r>
              <a:rPr lang="en-US" sz="2800">
                <a:solidFill>
                  <a:srgbClr val="EB1700"/>
                </a:solidFill>
                <a:latin typeface="Inter" pitchFamily="34" charset="0"/>
                <a:ea typeface="Inter" pitchFamily="34" charset="-122"/>
                <a:cs typeface="Inter" pitchFamily="34" charset="-120"/>
              </a:rPr>
              <a:t>Mission Intelligence.</a:t>
            </a:r>
            <a:endParaRPr lang="en-US" sz="2800"/>
          </a:p>
        </p:txBody>
      </p:sp>
      <p:sp>
        <p:nvSpPr>
          <p:cNvPr id="6" name="Text 4"/>
          <p:cNvSpPr/>
          <p:nvPr/>
        </p:nvSpPr>
        <p:spPr>
          <a:xfrm>
            <a:off x="731520" y="4937760"/>
            <a:ext cx="5029200" cy="914400"/>
          </a:xfrm>
          <a:prstGeom prst="rect">
            <a:avLst/>
          </a:prstGeom>
          <a:noFill/>
          <a:ln/>
        </p:spPr>
        <p:txBody>
          <a:bodyPr wrap="square" lIns="0" tIns="0" rIns="0" bIns="0" rtlCol="0" anchor="t"/>
          <a:lstStyle/>
          <a:p>
            <a:pPr marL="0" indent="0">
              <a:buNone/>
            </a:pPr>
            <a:r>
              <a:rPr lang="en-US" sz="1500">
                <a:solidFill>
                  <a:srgbClr val="1A1A1A"/>
                </a:solidFill>
                <a:latin typeface="Inter" pitchFamily="34" charset="0"/>
                <a:ea typeface="Inter" pitchFamily="34" charset="-122"/>
                <a:cs typeface="Inter" pitchFamily="34" charset="-120"/>
              </a:rPr>
              <a:t>Order data tells us what. Mission data tells us why.</a:t>
            </a:r>
            <a:endParaRPr lang="en-US" sz="1500"/>
          </a:p>
        </p:txBody>
      </p:sp>
      <p:sp>
        <p:nvSpPr>
          <p:cNvPr id="7" name="Shape 5"/>
          <p:cNvSpPr/>
          <p:nvPr/>
        </p:nvSpPr>
        <p:spPr>
          <a:xfrm>
            <a:off x="6400800" y="4023360"/>
            <a:ext cx="548640" cy="0"/>
          </a:xfrm>
          <a:prstGeom prst="line">
            <a:avLst/>
          </a:prstGeom>
          <a:noFill/>
          <a:ln w="38100">
            <a:solidFill>
              <a:srgbClr val="EB1700"/>
            </a:solidFill>
            <a:prstDash val="solid"/>
          </a:ln>
        </p:spPr>
      </p:sp>
      <p:sp>
        <p:nvSpPr>
          <p:cNvPr id="8" name="Text 6"/>
          <p:cNvSpPr/>
          <p:nvPr/>
        </p:nvSpPr>
        <p:spPr>
          <a:xfrm>
            <a:off x="6400800" y="4206240"/>
            <a:ext cx="5029200" cy="640080"/>
          </a:xfrm>
          <a:prstGeom prst="rect">
            <a:avLst/>
          </a:prstGeom>
          <a:noFill/>
          <a:ln/>
        </p:spPr>
        <p:txBody>
          <a:bodyPr wrap="square" lIns="0" tIns="0" rIns="0" bIns="0" rtlCol="0" anchor="ctr"/>
          <a:lstStyle/>
          <a:p>
            <a:pPr marL="0" indent="0">
              <a:buNone/>
            </a:pPr>
            <a:r>
              <a:rPr lang="en-US" sz="2800">
                <a:solidFill>
                  <a:srgbClr val="EB1700"/>
                </a:solidFill>
                <a:latin typeface="Inter" pitchFamily="34" charset="0"/>
                <a:ea typeface="Inter" pitchFamily="34" charset="-122"/>
                <a:cs typeface="Inter" pitchFamily="34" charset="-120"/>
              </a:rPr>
              <a:t>Trust.</a:t>
            </a:r>
            <a:endParaRPr lang="en-US" sz="2800"/>
          </a:p>
        </p:txBody>
      </p:sp>
      <p:sp>
        <p:nvSpPr>
          <p:cNvPr id="9" name="Text 7"/>
          <p:cNvSpPr/>
          <p:nvPr/>
        </p:nvSpPr>
        <p:spPr>
          <a:xfrm>
            <a:off x="6400800" y="4937760"/>
            <a:ext cx="5029200" cy="914400"/>
          </a:xfrm>
          <a:prstGeom prst="rect">
            <a:avLst/>
          </a:prstGeom>
          <a:noFill/>
          <a:ln/>
        </p:spPr>
        <p:txBody>
          <a:bodyPr wrap="square" lIns="0" tIns="0" rIns="0" bIns="0" rtlCol="0" anchor="t"/>
          <a:lstStyle/>
          <a:p>
            <a:pPr marL="0" indent="0">
              <a:buNone/>
            </a:pPr>
            <a:r>
              <a:rPr lang="en-US" sz="1500">
                <a:solidFill>
                  <a:srgbClr val="1A1A1A"/>
                </a:solidFill>
                <a:latin typeface="Inter" pitchFamily="34" charset="0"/>
                <a:ea typeface="Inter" pitchFamily="34" charset="-122"/>
                <a:cs typeface="Inter" pitchFamily="34" charset="-120"/>
              </a:rPr>
              <a:t>Reliable missions earn the next hand-off.</a:t>
            </a:r>
            <a:endParaRPr lang="en-US" sz="1500"/>
          </a:p>
        </p:txBody>
      </p:sp>
      <p:sp>
        <p:nvSpPr>
          <p:cNvPr id="10" name="Text 8"/>
          <p:cNvSpPr/>
          <p:nvPr/>
        </p:nvSpPr>
        <p:spPr>
          <a:xfrm>
            <a:off x="731520" y="6126480"/>
            <a:ext cx="10698480" cy="365760"/>
          </a:xfrm>
          <a:prstGeom prst="rect">
            <a:avLst/>
          </a:prstGeom>
          <a:noFill/>
          <a:ln/>
        </p:spPr>
        <p:txBody>
          <a:bodyPr wrap="square" lIns="0" tIns="0" rIns="0" bIns="0" rtlCol="0" anchor="ctr"/>
          <a:lstStyle/>
          <a:p>
            <a:pPr marL="0" indent="0" algn="ctr">
              <a:buNone/>
            </a:pPr>
            <a:r>
              <a:rPr lang="en-US" sz="1400" i="1">
                <a:solidFill>
                  <a:srgbClr val="6B6B6B"/>
                </a:solidFill>
                <a:latin typeface="Inter" pitchFamily="34" charset="0"/>
                <a:ea typeface="Inter" pitchFamily="34" charset="-122"/>
                <a:cs typeface="Inter" pitchFamily="34" charset="-120"/>
              </a:rPr>
              <a:t>Both compound. Both feed more missions completed on DoorDash.</a:t>
            </a:r>
            <a:endParaRPr lang="en-US"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rot="16200000">
            <a:off x="4069080" y="2103120"/>
            <a:ext cx="2194560" cy="1645920"/>
          </a:xfrm>
          <a:prstGeom prst="triangle">
            <a:avLst/>
          </a:prstGeom>
          <a:solidFill>
            <a:srgbClr val="EB1700"/>
          </a:solidFill>
          <a:ln w="12700">
            <a:solidFill>
              <a:srgbClr val="EB1700"/>
            </a:solidFill>
            <a:prstDash val="solid"/>
          </a:ln>
        </p:spPr>
        <p:txBody>
          <a:bodyPr/>
          <a:lstStyle/>
          <a:p>
            <a:endParaRPr lang="en-US"/>
          </a:p>
        </p:txBody>
      </p:sp>
      <p:sp>
        <p:nvSpPr>
          <p:cNvPr id="3" name="Shape 1"/>
          <p:cNvSpPr/>
          <p:nvPr/>
        </p:nvSpPr>
        <p:spPr>
          <a:xfrm rot="16200000">
            <a:off x="5897880" y="2103120"/>
            <a:ext cx="2194560" cy="1645920"/>
          </a:xfrm>
          <a:prstGeom prst="triangle">
            <a:avLst/>
          </a:prstGeom>
          <a:solidFill>
            <a:srgbClr val="EB1700"/>
          </a:solidFill>
          <a:ln w="12700">
            <a:solidFill>
              <a:srgbClr val="EB1700"/>
            </a:solidFill>
            <a:prstDash val="solid"/>
          </a:ln>
        </p:spPr>
        <p:txBody>
          <a:bodyPr/>
          <a:lstStyle/>
          <a:p>
            <a:endParaRPr lang="en-US"/>
          </a:p>
        </p:txBody>
      </p:sp>
      <p:sp>
        <p:nvSpPr>
          <p:cNvPr id="4" name="Text 2"/>
          <p:cNvSpPr/>
          <p:nvPr/>
        </p:nvSpPr>
        <p:spPr>
          <a:xfrm>
            <a:off x="731520" y="4480560"/>
            <a:ext cx="10698480" cy="914400"/>
          </a:xfrm>
          <a:prstGeom prst="rect">
            <a:avLst/>
          </a:prstGeom>
          <a:noFill/>
          <a:ln/>
        </p:spPr>
        <p:txBody>
          <a:bodyPr wrap="square" lIns="0" tIns="0" rIns="0" bIns="0" rtlCol="0" anchor="ctr"/>
          <a:lstStyle/>
          <a:p>
            <a:pPr marL="0" indent="0" algn="ctr">
              <a:buNone/>
            </a:pPr>
            <a:r>
              <a:rPr lang="en-US" sz="5600">
                <a:solidFill>
                  <a:srgbClr val="FFFFFF"/>
                </a:solidFill>
                <a:latin typeface="Georgia" pitchFamily="34" charset="0"/>
                <a:ea typeface="Georgia" pitchFamily="34" charset="-122"/>
                <a:cs typeface="Georgia" pitchFamily="34" charset="-120"/>
              </a:rPr>
              <a:t>Let's rewind.</a:t>
            </a:r>
            <a:endParaRPr lang="en-US" sz="5600"/>
          </a:p>
        </p:txBody>
      </p:sp>
      <p:sp>
        <p:nvSpPr>
          <p:cNvPr id="5" name="Text 3"/>
          <p:cNvSpPr/>
          <p:nvPr/>
        </p:nvSpPr>
        <p:spPr>
          <a:xfrm>
            <a:off x="731520" y="5394960"/>
            <a:ext cx="10698480" cy="457200"/>
          </a:xfrm>
          <a:prstGeom prst="rect">
            <a:avLst/>
          </a:prstGeom>
          <a:noFill/>
          <a:ln/>
        </p:spPr>
        <p:txBody>
          <a:bodyPr wrap="square" lIns="0" tIns="0" rIns="0" bIns="0" rtlCol="0" anchor="ctr"/>
          <a:lstStyle/>
          <a:p>
            <a:pPr marL="0" indent="0" algn="ctr">
              <a:buNone/>
            </a:pPr>
            <a:r>
              <a:rPr lang="en-US" sz="1800" i="1">
                <a:solidFill>
                  <a:srgbClr val="C7C0B9"/>
                </a:solidFill>
                <a:latin typeface="Helvetica" pitchFamily="34" charset="0"/>
                <a:ea typeface="Helvetica" pitchFamily="34" charset="-122"/>
                <a:cs typeface="Helvetica" pitchFamily="34" charset="-120"/>
              </a:rPr>
              <a:t>Same Saturday. Same Maya. One thing changes.</a:t>
            </a:r>
            <a:endParaRPr lang="en-US" sz="1800"/>
          </a:p>
        </p:txBody>
      </p:sp>
      <p:pic>
        <p:nvPicPr>
          <p:cNvPr id="6" name="TPM_Final_Pres">
            <a:hlinkClick r:id="" action="ppaction://media"/>
            <a:extLst>
              <a:ext uri="{FF2B5EF4-FFF2-40B4-BE49-F238E27FC236}">
                <a16:creationId xmlns:a16="http://schemas.microsoft.com/office/drawing/2014/main" id="{53B5438A-C7ED-6634-6A01-CC421C0FFF4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776282" y="587928"/>
            <a:ext cx="2643931" cy="14876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8F3"/>
        </a:solidFill>
        <a:effectLst/>
      </p:bgPr>
    </p:bg>
    <p:spTree>
      <p:nvGrpSpPr>
        <p:cNvPr id="1" name=""/>
        <p:cNvGrpSpPr/>
        <p:nvPr/>
      </p:nvGrpSpPr>
      <p:grpSpPr>
        <a:xfrm>
          <a:off x="0" y="0"/>
          <a:ext cx="0" cy="0"/>
          <a:chOff x="0" y="0"/>
          <a:chExt cx="0" cy="0"/>
        </a:xfrm>
      </p:grpSpPr>
      <p:sp>
        <p:nvSpPr>
          <p:cNvPr id="2" name="Text 0"/>
          <p:cNvSpPr/>
          <p:nvPr/>
        </p:nvSpPr>
        <p:spPr>
          <a:xfrm>
            <a:off x="731520" y="640080"/>
            <a:ext cx="10698480" cy="365760"/>
          </a:xfrm>
          <a:prstGeom prst="rect">
            <a:avLst/>
          </a:prstGeom>
          <a:noFill/>
          <a:ln/>
        </p:spPr>
        <p:txBody>
          <a:bodyPr wrap="square" lIns="0" tIns="0" rIns="0" bIns="0" rtlCol="0" anchor="ctr"/>
          <a:lstStyle/>
          <a:p>
            <a:pPr marL="0" indent="0">
              <a:buNone/>
            </a:pPr>
            <a:r>
              <a:rPr lang="en-US" sz="1100" b="1" kern="0" spc="800">
                <a:solidFill>
                  <a:srgbClr val="EB1700"/>
                </a:solidFill>
                <a:latin typeface="Inter" pitchFamily="34" charset="0"/>
                <a:ea typeface="Inter" pitchFamily="34" charset="-122"/>
                <a:cs typeface="Inter" pitchFamily="34" charset="-120"/>
              </a:rPr>
              <a:t>MISSION-FIRST HOME</a:t>
            </a:r>
            <a:endParaRPr lang="en-US" sz="1100"/>
          </a:p>
        </p:txBody>
      </p:sp>
      <p:sp>
        <p:nvSpPr>
          <p:cNvPr id="3" name="Text 1"/>
          <p:cNvSpPr/>
          <p:nvPr/>
        </p:nvSpPr>
        <p:spPr>
          <a:xfrm>
            <a:off x="731520" y="1188720"/>
            <a:ext cx="10698480" cy="1005840"/>
          </a:xfrm>
          <a:prstGeom prst="rect">
            <a:avLst/>
          </a:prstGeom>
          <a:noFill/>
          <a:ln/>
        </p:spPr>
        <p:txBody>
          <a:bodyPr wrap="square" lIns="0" tIns="0" rIns="0" bIns="0" rtlCol="0" anchor="ctr"/>
          <a:lstStyle/>
          <a:p>
            <a:pPr marL="0" indent="0">
              <a:buNone/>
            </a:pPr>
            <a:r>
              <a:rPr lang="en-US" sz="4400" b="1">
                <a:solidFill>
                  <a:srgbClr val="1A1A1A"/>
                </a:solidFill>
                <a:latin typeface="Inter" pitchFamily="34" charset="0"/>
                <a:ea typeface="Inter" pitchFamily="34" charset="-122"/>
                <a:cs typeface="Inter" pitchFamily="34" charset="-120"/>
              </a:rPr>
              <a:t>Three things have to be true.</a:t>
            </a:r>
            <a:endParaRPr lang="en-US" sz="4400"/>
          </a:p>
        </p:txBody>
      </p:sp>
      <p:sp>
        <p:nvSpPr>
          <p:cNvPr id="4" name="Text 2"/>
          <p:cNvSpPr/>
          <p:nvPr/>
        </p:nvSpPr>
        <p:spPr>
          <a:xfrm>
            <a:off x="731520" y="2194560"/>
            <a:ext cx="10698480" cy="457200"/>
          </a:xfrm>
          <a:prstGeom prst="rect">
            <a:avLst/>
          </a:prstGeom>
          <a:noFill/>
          <a:ln/>
        </p:spPr>
        <p:txBody>
          <a:bodyPr wrap="square" lIns="0" tIns="0" rIns="0" bIns="0" rtlCol="0" anchor="ctr"/>
          <a:lstStyle/>
          <a:p>
            <a:pPr marL="0" indent="0">
              <a:buNone/>
            </a:pPr>
            <a:r>
              <a:rPr lang="en-US" sz="1600" i="1">
                <a:solidFill>
                  <a:srgbClr val="6B6B6B"/>
                </a:solidFill>
                <a:latin typeface="Inter" pitchFamily="34" charset="0"/>
                <a:ea typeface="Inter" pitchFamily="34" charset="-122"/>
                <a:cs typeface="Inter" pitchFamily="34" charset="-120"/>
              </a:rPr>
              <a:t>Each one already exists at DoorDash. We just wire them together.</a:t>
            </a:r>
            <a:endParaRPr lang="en-US" sz="1600"/>
          </a:p>
        </p:txBody>
      </p:sp>
      <p:sp>
        <p:nvSpPr>
          <p:cNvPr id="5" name="Shape 3"/>
          <p:cNvSpPr/>
          <p:nvPr/>
        </p:nvSpPr>
        <p:spPr>
          <a:xfrm>
            <a:off x="731520" y="3291840"/>
            <a:ext cx="868680" cy="868680"/>
          </a:xfrm>
          <a:prstGeom prst="ellipse">
            <a:avLst/>
          </a:prstGeom>
          <a:solidFill>
            <a:srgbClr val="EB1700"/>
          </a:solidFill>
          <a:ln w="12700">
            <a:solidFill>
              <a:srgbClr val="EB1700"/>
            </a:solidFill>
            <a:prstDash val="solid"/>
          </a:ln>
        </p:spPr>
      </p:sp>
      <p:sp>
        <p:nvSpPr>
          <p:cNvPr id="6" name="Text 4"/>
          <p:cNvSpPr/>
          <p:nvPr/>
        </p:nvSpPr>
        <p:spPr>
          <a:xfrm>
            <a:off x="731520" y="3291840"/>
            <a:ext cx="868680" cy="868680"/>
          </a:xfrm>
          <a:prstGeom prst="rect">
            <a:avLst/>
          </a:prstGeom>
          <a:noFill/>
          <a:ln/>
        </p:spPr>
        <p:txBody>
          <a:bodyPr wrap="square" lIns="0" tIns="0" rIns="0" bIns="0" rtlCol="0" anchor="ctr"/>
          <a:lstStyle/>
          <a:p>
            <a:pPr marL="0" indent="0" algn="ctr">
              <a:buNone/>
            </a:pPr>
            <a:r>
              <a:rPr lang="en-US" sz="4000" b="1">
                <a:solidFill>
                  <a:srgbClr val="FFFFFF"/>
                </a:solidFill>
                <a:latin typeface="Inter" pitchFamily="34" charset="0"/>
                <a:ea typeface="Inter" pitchFamily="34" charset="-122"/>
                <a:cs typeface="Inter" pitchFamily="34" charset="-120"/>
              </a:rPr>
              <a:t>1</a:t>
            </a:r>
            <a:endParaRPr lang="en-US" sz="4000"/>
          </a:p>
        </p:txBody>
      </p:sp>
      <p:sp>
        <p:nvSpPr>
          <p:cNvPr id="7" name="Text 5"/>
          <p:cNvSpPr/>
          <p:nvPr/>
        </p:nvSpPr>
        <p:spPr>
          <a:xfrm>
            <a:off x="1920240" y="3246120"/>
            <a:ext cx="5029200" cy="640080"/>
          </a:xfrm>
          <a:prstGeom prst="rect">
            <a:avLst/>
          </a:prstGeom>
          <a:noFill/>
          <a:ln/>
        </p:spPr>
        <p:txBody>
          <a:bodyPr wrap="square" lIns="0" tIns="0" rIns="0" bIns="0" rtlCol="0" anchor="ctr"/>
          <a:lstStyle/>
          <a:p>
            <a:pPr marL="0" indent="0">
              <a:buNone/>
            </a:pPr>
            <a:r>
              <a:rPr lang="en-US" sz="2200" b="1">
                <a:solidFill>
                  <a:srgbClr val="1A1A1A"/>
                </a:solidFill>
                <a:latin typeface="Inter" pitchFamily="34" charset="0"/>
                <a:ea typeface="Inter" pitchFamily="34" charset="-122"/>
                <a:cs typeface="Inter" pitchFamily="34" charset="-120"/>
              </a:rPr>
              <a:t>A mission lives on the home screen.</a:t>
            </a:r>
            <a:endParaRPr lang="en-US" sz="2200"/>
          </a:p>
        </p:txBody>
      </p:sp>
      <p:sp>
        <p:nvSpPr>
          <p:cNvPr id="8" name="Text 6"/>
          <p:cNvSpPr/>
          <p:nvPr/>
        </p:nvSpPr>
        <p:spPr>
          <a:xfrm>
            <a:off x="7132320" y="3337560"/>
            <a:ext cx="4389120" cy="822960"/>
          </a:xfrm>
          <a:prstGeom prst="rect">
            <a:avLst/>
          </a:prstGeom>
          <a:noFill/>
          <a:ln/>
        </p:spPr>
        <p:txBody>
          <a:bodyPr wrap="square" lIns="0" tIns="0" rIns="0" bIns="0" rtlCol="0" anchor="t"/>
          <a:lstStyle/>
          <a:p>
            <a:pPr marL="0" indent="0">
              <a:buNone/>
            </a:pPr>
            <a:r>
              <a:rPr lang="en-US" sz="1300">
                <a:solidFill>
                  <a:srgbClr val="6B6B6B"/>
                </a:solidFill>
                <a:latin typeface="Inter" pitchFamily="34" charset="0"/>
                <a:ea typeface="Inter" pitchFamily="34" charset="-122"/>
                <a:cs typeface="Inter" pitchFamily="34" charset="-120"/>
              </a:rPr>
              <a:t>Host Galentine's. Game day. Birthday. Discovery starts before the cart does.</a:t>
            </a:r>
            <a:endParaRPr lang="en-US" sz="1300"/>
          </a:p>
        </p:txBody>
      </p:sp>
      <p:sp>
        <p:nvSpPr>
          <p:cNvPr id="9" name="Shape 7"/>
          <p:cNvSpPr/>
          <p:nvPr/>
        </p:nvSpPr>
        <p:spPr>
          <a:xfrm>
            <a:off x="1920240" y="4251960"/>
            <a:ext cx="9601200" cy="0"/>
          </a:xfrm>
          <a:prstGeom prst="line">
            <a:avLst/>
          </a:prstGeom>
          <a:noFill/>
          <a:ln w="12700">
            <a:solidFill>
              <a:srgbClr val="E8E2DC"/>
            </a:solidFill>
            <a:prstDash val="solid"/>
          </a:ln>
        </p:spPr>
      </p:sp>
      <p:sp>
        <p:nvSpPr>
          <p:cNvPr id="10" name="Shape 8"/>
          <p:cNvSpPr/>
          <p:nvPr/>
        </p:nvSpPr>
        <p:spPr>
          <a:xfrm>
            <a:off x="731520" y="4480560"/>
            <a:ext cx="868680" cy="868680"/>
          </a:xfrm>
          <a:prstGeom prst="ellipse">
            <a:avLst/>
          </a:prstGeom>
          <a:solidFill>
            <a:srgbClr val="EB1700"/>
          </a:solidFill>
          <a:ln w="12700">
            <a:solidFill>
              <a:srgbClr val="EB1700"/>
            </a:solidFill>
            <a:prstDash val="solid"/>
          </a:ln>
        </p:spPr>
      </p:sp>
      <p:sp>
        <p:nvSpPr>
          <p:cNvPr id="11" name="Text 9"/>
          <p:cNvSpPr/>
          <p:nvPr/>
        </p:nvSpPr>
        <p:spPr>
          <a:xfrm>
            <a:off x="731520" y="4480560"/>
            <a:ext cx="868680" cy="868680"/>
          </a:xfrm>
          <a:prstGeom prst="rect">
            <a:avLst/>
          </a:prstGeom>
          <a:noFill/>
          <a:ln/>
        </p:spPr>
        <p:txBody>
          <a:bodyPr wrap="square" lIns="0" tIns="0" rIns="0" bIns="0" rtlCol="0" anchor="ctr"/>
          <a:lstStyle/>
          <a:p>
            <a:pPr marL="0" indent="0" algn="ctr">
              <a:buNone/>
            </a:pPr>
            <a:r>
              <a:rPr lang="en-US" sz="4000" b="1">
                <a:solidFill>
                  <a:srgbClr val="FFFFFF"/>
                </a:solidFill>
                <a:latin typeface="Inter" pitchFamily="34" charset="0"/>
                <a:ea typeface="Inter" pitchFamily="34" charset="-122"/>
                <a:cs typeface="Inter" pitchFamily="34" charset="-120"/>
              </a:rPr>
              <a:t>2</a:t>
            </a:r>
            <a:endParaRPr lang="en-US" sz="4000"/>
          </a:p>
        </p:txBody>
      </p:sp>
      <p:sp>
        <p:nvSpPr>
          <p:cNvPr id="12" name="Text 10"/>
          <p:cNvSpPr/>
          <p:nvPr/>
        </p:nvSpPr>
        <p:spPr>
          <a:xfrm>
            <a:off x="1920240" y="4434840"/>
            <a:ext cx="5029200" cy="640080"/>
          </a:xfrm>
          <a:prstGeom prst="rect">
            <a:avLst/>
          </a:prstGeom>
          <a:noFill/>
          <a:ln/>
        </p:spPr>
        <p:txBody>
          <a:bodyPr wrap="square" lIns="0" tIns="0" rIns="0" bIns="0" rtlCol="0" anchor="ctr"/>
          <a:lstStyle/>
          <a:p>
            <a:pPr marL="0" indent="0">
              <a:buNone/>
            </a:pPr>
            <a:r>
              <a:rPr lang="en-US" sz="2200" b="1">
                <a:solidFill>
                  <a:srgbClr val="1A1A1A"/>
                </a:solidFill>
                <a:latin typeface="Inter" pitchFamily="34" charset="0"/>
                <a:ea typeface="Inter" pitchFamily="34" charset="-122"/>
                <a:cs typeface="Inter" pitchFamily="34" charset="-120"/>
              </a:rPr>
              <a:t>One cart spans every merchant.</a:t>
            </a:r>
            <a:endParaRPr lang="en-US" sz="2200"/>
          </a:p>
        </p:txBody>
      </p:sp>
      <p:sp>
        <p:nvSpPr>
          <p:cNvPr id="13" name="Text 11"/>
          <p:cNvSpPr/>
          <p:nvPr/>
        </p:nvSpPr>
        <p:spPr>
          <a:xfrm>
            <a:off x="7132320" y="4526280"/>
            <a:ext cx="4389120" cy="822960"/>
          </a:xfrm>
          <a:prstGeom prst="rect">
            <a:avLst/>
          </a:prstGeom>
          <a:noFill/>
          <a:ln/>
        </p:spPr>
        <p:txBody>
          <a:bodyPr wrap="square" lIns="0" tIns="0" rIns="0" bIns="0" rtlCol="0" anchor="t"/>
          <a:lstStyle/>
          <a:p>
            <a:pPr marL="0" indent="0">
              <a:buNone/>
            </a:pPr>
            <a:r>
              <a:rPr lang="en-US" sz="1300">
                <a:solidFill>
                  <a:srgbClr val="6B6B6B"/>
                </a:solidFill>
                <a:latin typeface="Inter" pitchFamily="34" charset="0"/>
                <a:ea typeface="Inter" pitchFamily="34" charset="-122"/>
                <a:cs typeface="Inter" pitchFamily="34" charset="-120"/>
              </a:rPr>
              <a:t>Wine, cheese, flowers, candles. Six merchants, one checkout, one fee.</a:t>
            </a:r>
            <a:endParaRPr lang="en-US" sz="1300"/>
          </a:p>
        </p:txBody>
      </p:sp>
      <p:sp>
        <p:nvSpPr>
          <p:cNvPr id="14" name="Shape 12"/>
          <p:cNvSpPr/>
          <p:nvPr/>
        </p:nvSpPr>
        <p:spPr>
          <a:xfrm>
            <a:off x="1920240" y="5440680"/>
            <a:ext cx="9601200" cy="0"/>
          </a:xfrm>
          <a:prstGeom prst="line">
            <a:avLst/>
          </a:prstGeom>
          <a:noFill/>
          <a:ln w="12700">
            <a:solidFill>
              <a:srgbClr val="E8E2DC"/>
            </a:solidFill>
            <a:prstDash val="solid"/>
          </a:ln>
        </p:spPr>
      </p:sp>
      <p:sp>
        <p:nvSpPr>
          <p:cNvPr id="15" name="Shape 13"/>
          <p:cNvSpPr/>
          <p:nvPr/>
        </p:nvSpPr>
        <p:spPr>
          <a:xfrm>
            <a:off x="731520" y="5669280"/>
            <a:ext cx="868680" cy="868680"/>
          </a:xfrm>
          <a:prstGeom prst="ellipse">
            <a:avLst/>
          </a:prstGeom>
          <a:solidFill>
            <a:srgbClr val="EB1700"/>
          </a:solidFill>
          <a:ln w="12700">
            <a:solidFill>
              <a:srgbClr val="EB1700"/>
            </a:solidFill>
            <a:prstDash val="solid"/>
          </a:ln>
        </p:spPr>
      </p:sp>
      <p:sp>
        <p:nvSpPr>
          <p:cNvPr id="16" name="Text 14"/>
          <p:cNvSpPr/>
          <p:nvPr/>
        </p:nvSpPr>
        <p:spPr>
          <a:xfrm>
            <a:off x="731520" y="5669280"/>
            <a:ext cx="868680" cy="868680"/>
          </a:xfrm>
          <a:prstGeom prst="rect">
            <a:avLst/>
          </a:prstGeom>
          <a:noFill/>
          <a:ln/>
        </p:spPr>
        <p:txBody>
          <a:bodyPr wrap="square" lIns="0" tIns="0" rIns="0" bIns="0" rtlCol="0" anchor="ctr"/>
          <a:lstStyle/>
          <a:p>
            <a:pPr marL="0" indent="0" algn="ctr">
              <a:buNone/>
            </a:pPr>
            <a:r>
              <a:rPr lang="en-US" sz="4000" b="1">
                <a:solidFill>
                  <a:srgbClr val="FFFFFF"/>
                </a:solidFill>
                <a:latin typeface="Inter" pitchFamily="34" charset="0"/>
                <a:ea typeface="Inter" pitchFamily="34" charset="-122"/>
                <a:cs typeface="Inter" pitchFamily="34" charset="-120"/>
              </a:rPr>
              <a:t>3</a:t>
            </a:r>
            <a:endParaRPr lang="en-US" sz="4000"/>
          </a:p>
        </p:txBody>
      </p:sp>
      <p:sp>
        <p:nvSpPr>
          <p:cNvPr id="17" name="Text 15"/>
          <p:cNvSpPr/>
          <p:nvPr/>
        </p:nvSpPr>
        <p:spPr>
          <a:xfrm>
            <a:off x="1920240" y="5623560"/>
            <a:ext cx="5029200" cy="640080"/>
          </a:xfrm>
          <a:prstGeom prst="rect">
            <a:avLst/>
          </a:prstGeom>
          <a:noFill/>
          <a:ln/>
        </p:spPr>
        <p:txBody>
          <a:bodyPr wrap="square" lIns="0" tIns="0" rIns="0" bIns="0" rtlCol="0" anchor="ctr"/>
          <a:lstStyle/>
          <a:p>
            <a:pPr marL="0" indent="0">
              <a:buNone/>
            </a:pPr>
            <a:r>
              <a:rPr lang="en-US" sz="2200" b="1">
                <a:solidFill>
                  <a:srgbClr val="1A1A1A"/>
                </a:solidFill>
                <a:latin typeface="Inter" pitchFamily="34" charset="0"/>
                <a:ea typeface="Inter" pitchFamily="34" charset="-122"/>
                <a:cs typeface="Inter" pitchFamily="34" charset="-120"/>
              </a:rPr>
              <a:t>Templates are authored by ops.</a:t>
            </a:r>
            <a:endParaRPr lang="en-US" sz="2200"/>
          </a:p>
        </p:txBody>
      </p:sp>
      <p:sp>
        <p:nvSpPr>
          <p:cNvPr id="18" name="Text 16"/>
          <p:cNvSpPr/>
          <p:nvPr/>
        </p:nvSpPr>
        <p:spPr>
          <a:xfrm>
            <a:off x="7132320" y="5715000"/>
            <a:ext cx="4389120" cy="822960"/>
          </a:xfrm>
          <a:prstGeom prst="rect">
            <a:avLst/>
          </a:prstGeom>
          <a:noFill/>
          <a:ln/>
        </p:spPr>
        <p:txBody>
          <a:bodyPr wrap="square" lIns="0" tIns="0" rIns="0" bIns="0" rtlCol="0" anchor="t"/>
          <a:lstStyle/>
          <a:p>
            <a:pPr marL="0" indent="0">
              <a:buNone/>
            </a:pPr>
            <a:r>
              <a:rPr lang="en-US" sz="1300">
                <a:solidFill>
                  <a:srgbClr val="6B6B6B"/>
                </a:solidFill>
                <a:latin typeface="Inter" pitchFamily="34" charset="0"/>
                <a:ea typeface="Inter" pitchFamily="34" charset="-122"/>
                <a:cs typeface="Inter" pitchFamily="34" charset="-120"/>
              </a:rPr>
              <a:t>Curated bundles per mission. Editable. No model required to launch.</a:t>
            </a:r>
            <a:endParaRPr lang="en-US" sz="1300"/>
          </a:p>
        </p:txBody>
      </p:sp>
      <p:pic>
        <p:nvPicPr>
          <p:cNvPr id="20" name="TPM_Final_Pres2">
            <a:hlinkClick r:id="" action="ppaction://media"/>
            <a:extLst>
              <a:ext uri="{FF2B5EF4-FFF2-40B4-BE49-F238E27FC236}">
                <a16:creationId xmlns:a16="http://schemas.microsoft.com/office/drawing/2014/main" id="{0F902BBF-17C2-3AB5-8F56-37B9CA5368B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846191" y="137952"/>
            <a:ext cx="3021435" cy="1737454"/>
          </a:xfrm>
          <a:prstGeom prst="rect">
            <a:avLst/>
          </a:prstGeom>
        </p:spPr>
      </p:pic>
    </p:spTree>
    <p:extLst>
      <p:ext uri="{BB962C8B-B14F-4D97-AF65-F5344CB8AC3E}">
        <p14:creationId xmlns:p14="http://schemas.microsoft.com/office/powerpoint/2010/main" val="868155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8F3"/>
        </a:solidFill>
        <a:effectLst/>
      </p:bgPr>
    </p:bg>
    <p:spTree>
      <p:nvGrpSpPr>
        <p:cNvPr id="1" name=""/>
        <p:cNvGrpSpPr/>
        <p:nvPr/>
      </p:nvGrpSpPr>
      <p:grpSpPr>
        <a:xfrm>
          <a:off x="0" y="0"/>
          <a:ext cx="0" cy="0"/>
          <a:chOff x="0" y="0"/>
          <a:chExt cx="0" cy="0"/>
        </a:xfrm>
      </p:grpSpPr>
      <p:sp>
        <p:nvSpPr>
          <p:cNvPr id="2" name="Text 0"/>
          <p:cNvSpPr/>
          <p:nvPr/>
        </p:nvSpPr>
        <p:spPr>
          <a:xfrm>
            <a:off x="731520" y="191845"/>
            <a:ext cx="10698480" cy="365760"/>
          </a:xfrm>
          <a:prstGeom prst="rect">
            <a:avLst/>
          </a:prstGeom>
          <a:noFill/>
          <a:ln/>
        </p:spPr>
        <p:txBody>
          <a:bodyPr wrap="square" lIns="0" tIns="0" rIns="0" bIns="0" rtlCol="0" anchor="ctr"/>
          <a:lstStyle/>
          <a:p>
            <a:pPr marL="0" indent="0">
              <a:buNone/>
            </a:pPr>
            <a:r>
              <a:rPr lang="en-US" sz="1100" b="1" kern="0" spc="600">
                <a:solidFill>
                  <a:srgbClr val="EB1700"/>
                </a:solidFill>
                <a:latin typeface="Helvetica" pitchFamily="34" charset="0"/>
                <a:ea typeface="Helvetica" pitchFamily="34" charset="-122"/>
                <a:cs typeface="Helvetica" pitchFamily="34" charset="-120"/>
              </a:rPr>
              <a:t>ONE TAP. ONE CART. ONE HOST WHO ACTUALLY HOSTS.</a:t>
            </a:r>
            <a:endParaRPr lang="en-US" sz="1100"/>
          </a:p>
        </p:txBody>
      </p:sp>
      <p:sp>
        <p:nvSpPr>
          <p:cNvPr id="39" name="Text 37"/>
          <p:cNvSpPr/>
          <p:nvPr/>
        </p:nvSpPr>
        <p:spPr>
          <a:xfrm>
            <a:off x="731520" y="6289638"/>
            <a:ext cx="10698480" cy="365760"/>
          </a:xfrm>
          <a:prstGeom prst="rect">
            <a:avLst/>
          </a:prstGeom>
          <a:noFill/>
          <a:ln/>
        </p:spPr>
        <p:txBody>
          <a:bodyPr wrap="square" lIns="0" tIns="0" rIns="0" bIns="0" rtlCol="0" anchor="ctr"/>
          <a:lstStyle/>
          <a:p>
            <a:pPr marL="0" indent="0" algn="ctr">
              <a:buNone/>
            </a:pPr>
            <a:r>
              <a:rPr lang="en-US" sz="1600" i="1">
                <a:solidFill>
                  <a:srgbClr val="1A1A1A"/>
                </a:solidFill>
                <a:latin typeface="Georgia" pitchFamily="34" charset="0"/>
                <a:ea typeface="Georgia" pitchFamily="34" charset="-122"/>
                <a:cs typeface="Georgia" pitchFamily="34" charset="-120"/>
              </a:rPr>
              <a:t>Three minutes of planning. Saturday she's ready.</a:t>
            </a:r>
            <a:endParaRPr lang="en-US" sz="1600"/>
          </a:p>
        </p:txBody>
      </p:sp>
      <p:pic>
        <p:nvPicPr>
          <p:cNvPr id="5" name="Picture 4" descr="A collage of a person using a phone&#10;&#10;AI-generated content may be incorrect.">
            <a:extLst>
              <a:ext uri="{FF2B5EF4-FFF2-40B4-BE49-F238E27FC236}">
                <a16:creationId xmlns:a16="http://schemas.microsoft.com/office/drawing/2014/main" id="{0DD6670C-36A0-E93A-9AC4-4D0314ED9CCC}"/>
              </a:ext>
            </a:extLst>
          </p:cNvPr>
          <p:cNvPicPr>
            <a:picLocks noChangeAspect="1"/>
          </p:cNvPicPr>
          <p:nvPr/>
        </p:nvPicPr>
        <p:blipFill>
          <a:blip r:embed="rId5"/>
          <a:stretch>
            <a:fillRect/>
          </a:stretch>
        </p:blipFill>
        <p:spPr>
          <a:xfrm>
            <a:off x="730826" y="698736"/>
            <a:ext cx="8157724" cy="5469106"/>
          </a:xfrm>
          <a:prstGeom prst="rect">
            <a:avLst/>
          </a:prstGeom>
        </p:spPr>
      </p:pic>
      <p:pic>
        <p:nvPicPr>
          <p:cNvPr id="4" name="TPM_Final_3">
            <a:hlinkClick r:id="" action="ppaction://media"/>
            <a:extLst>
              <a:ext uri="{FF2B5EF4-FFF2-40B4-BE49-F238E27FC236}">
                <a16:creationId xmlns:a16="http://schemas.microsoft.com/office/drawing/2014/main" id="{AB1AF751-0E19-693D-57B9-8E3290386D4F}"/>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9090870" y="697219"/>
            <a:ext cx="2622958" cy="1471802"/>
          </a:xfrm>
          <a:prstGeom prst="rect">
            <a:avLst/>
          </a:prstGeom>
        </p:spPr>
      </p:pic>
    </p:spTree>
    <p:extLst>
      <p:ext uri="{BB962C8B-B14F-4D97-AF65-F5344CB8AC3E}">
        <p14:creationId xmlns:p14="http://schemas.microsoft.com/office/powerpoint/2010/main" val="4187001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731520" y="271214"/>
            <a:ext cx="10698480" cy="365760"/>
          </a:xfrm>
          <a:prstGeom prst="rect">
            <a:avLst/>
          </a:prstGeom>
          <a:noFill/>
          <a:ln/>
        </p:spPr>
        <p:txBody>
          <a:bodyPr wrap="square" lIns="0" tIns="0" rIns="0" bIns="0" rtlCol="0" anchor="ctr"/>
          <a:lstStyle/>
          <a:p>
            <a:pPr marL="0" indent="0" algn="ctr">
              <a:buNone/>
            </a:pPr>
            <a:r>
              <a:rPr lang="en-US" sz="1100" b="1" kern="0" spc="800">
                <a:solidFill>
                  <a:srgbClr val="EB1700"/>
                </a:solidFill>
                <a:latin typeface="Helvetica" pitchFamily="34" charset="0"/>
                <a:ea typeface="Helvetica" pitchFamily="34" charset="-122"/>
                <a:cs typeface="Helvetica" pitchFamily="34" charset="-120"/>
              </a:rPr>
              <a:t>LIVE FROM THE PROTOTYPE</a:t>
            </a:r>
            <a:endParaRPr lang="en-US" sz="1100"/>
          </a:p>
        </p:txBody>
      </p:sp>
      <p:sp>
        <p:nvSpPr>
          <p:cNvPr id="4" name="Shape 2"/>
          <p:cNvSpPr/>
          <p:nvPr/>
        </p:nvSpPr>
        <p:spPr>
          <a:xfrm rot="5400000">
            <a:off x="5532120" y="3081528"/>
            <a:ext cx="1097280" cy="1280160"/>
          </a:xfrm>
          <a:prstGeom prst="triangle">
            <a:avLst/>
          </a:prstGeom>
          <a:solidFill>
            <a:srgbClr val="EB1700"/>
          </a:solidFill>
          <a:ln w="12700">
            <a:solidFill>
              <a:srgbClr val="EB1700"/>
            </a:solidFill>
            <a:prstDash val="solid"/>
          </a:ln>
        </p:spPr>
        <p:txBody>
          <a:bodyPr/>
          <a:lstStyle/>
          <a:p>
            <a:endParaRPr lang="en-US"/>
          </a:p>
        </p:txBody>
      </p:sp>
      <p:sp>
        <p:nvSpPr>
          <p:cNvPr id="5" name="Text 3"/>
          <p:cNvSpPr/>
          <p:nvPr/>
        </p:nvSpPr>
        <p:spPr>
          <a:xfrm>
            <a:off x="1737360" y="5705856"/>
            <a:ext cx="8686800" cy="274320"/>
          </a:xfrm>
          <a:prstGeom prst="rect">
            <a:avLst/>
          </a:prstGeom>
          <a:noFill/>
          <a:ln/>
        </p:spPr>
        <p:txBody>
          <a:bodyPr wrap="square" lIns="0" tIns="0" rIns="0" bIns="0" rtlCol="0" anchor="ctr"/>
          <a:lstStyle/>
          <a:p>
            <a:pPr marL="0" indent="0" algn="ctr">
              <a:buNone/>
            </a:pPr>
            <a:r>
              <a:rPr lang="en-US" sz="1000" i="1">
                <a:solidFill>
                  <a:srgbClr val="6B6B6B"/>
                </a:solidFill>
                <a:latin typeface="Helvetica" pitchFamily="34" charset="0"/>
                <a:ea typeface="Helvetica" pitchFamily="34" charset="-122"/>
                <a:cs typeface="Helvetica" pitchFamily="34" charset="-120"/>
              </a:rPr>
              <a:t>[ insert demo recording ]</a:t>
            </a:r>
            <a:endParaRPr lang="en-US" sz="1000"/>
          </a:p>
        </p:txBody>
      </p:sp>
      <p:sp>
        <p:nvSpPr>
          <p:cNvPr id="6" name="Text 4"/>
          <p:cNvSpPr/>
          <p:nvPr/>
        </p:nvSpPr>
        <p:spPr>
          <a:xfrm>
            <a:off x="731520" y="6355080"/>
            <a:ext cx="10698480" cy="365760"/>
          </a:xfrm>
          <a:prstGeom prst="rect">
            <a:avLst/>
          </a:prstGeom>
          <a:noFill/>
          <a:ln/>
        </p:spPr>
        <p:txBody>
          <a:bodyPr wrap="square" lIns="0" tIns="0" rIns="0" bIns="0" rtlCol="0" anchor="ctr"/>
          <a:lstStyle/>
          <a:p>
            <a:pPr marL="0" indent="0" algn="ctr">
              <a:buNone/>
            </a:pPr>
            <a:r>
              <a:rPr lang="en-US" sz="1600" i="1">
                <a:solidFill>
                  <a:srgbClr val="C7C0B9"/>
                </a:solidFill>
                <a:latin typeface="Georgia" pitchFamily="34" charset="0"/>
                <a:ea typeface="Georgia" pitchFamily="34" charset="-122"/>
                <a:cs typeface="Georgia" pitchFamily="34" charset="-120"/>
              </a:rPr>
              <a:t>Watch Maya do it in real time.</a:t>
            </a:r>
            <a:endParaRPr lang="en-US" sz="1600"/>
          </a:p>
        </p:txBody>
      </p:sp>
      <p:pic>
        <p:nvPicPr>
          <p:cNvPr id="8" name="Online Media 7" title="Screen Recording 2026-05-28 at 11.43.22 AM.mov">
            <a:hlinkClick r:id="" action="ppaction://noaction"/>
            <a:extLst>
              <a:ext uri="{FF2B5EF4-FFF2-40B4-BE49-F238E27FC236}">
                <a16:creationId xmlns:a16="http://schemas.microsoft.com/office/drawing/2014/main" id="{2A44F20E-3E8D-503A-AD96-41F1ECC82966}"/>
              </a:ext>
            </a:extLst>
          </p:cNvPr>
          <p:cNvPicPr>
            <a:picLocks noRot="1" noChangeAspect="1"/>
          </p:cNvPicPr>
          <p:nvPr>
            <a:videoFile r:link="rId1"/>
          </p:nvPr>
        </p:nvPicPr>
        <p:blipFill>
          <a:blip r:embed="rId4"/>
          <a:stretch>
            <a:fillRect/>
          </a:stretch>
        </p:blipFill>
        <p:spPr>
          <a:xfrm>
            <a:off x="2123013" y="865380"/>
            <a:ext cx="8848725" cy="5486400"/>
          </a:xfrm>
          <a:prstGeom prst="rect">
            <a:avLst/>
          </a:prstGeom>
        </p:spPr>
      </p:pic>
      <p:pic>
        <p:nvPicPr>
          <p:cNvPr id="9" name="Picture 8" descr="A qr code with black squares&#10;&#10;AI-generated content may be incorrect.">
            <a:extLst>
              <a:ext uri="{FF2B5EF4-FFF2-40B4-BE49-F238E27FC236}">
                <a16:creationId xmlns:a16="http://schemas.microsoft.com/office/drawing/2014/main" id="{5646856A-2562-8A40-62CA-376D4E03DE87}"/>
              </a:ext>
            </a:extLst>
          </p:cNvPr>
          <p:cNvPicPr>
            <a:picLocks noChangeAspect="1"/>
          </p:cNvPicPr>
          <p:nvPr/>
        </p:nvPicPr>
        <p:blipFill>
          <a:blip r:embed="rId5"/>
          <a:stretch>
            <a:fillRect/>
          </a:stretch>
        </p:blipFill>
        <p:spPr>
          <a:xfrm>
            <a:off x="99496" y="4848650"/>
            <a:ext cx="1718142" cy="17132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8F3"/>
        </a:solidFill>
        <a:effectLst/>
      </p:bgPr>
    </p:bg>
    <p:spTree>
      <p:nvGrpSpPr>
        <p:cNvPr id="1" name=""/>
        <p:cNvGrpSpPr/>
        <p:nvPr/>
      </p:nvGrpSpPr>
      <p:grpSpPr>
        <a:xfrm>
          <a:off x="0" y="0"/>
          <a:ext cx="0" cy="0"/>
          <a:chOff x="0" y="0"/>
          <a:chExt cx="0" cy="0"/>
        </a:xfrm>
      </p:grpSpPr>
      <p:sp>
        <p:nvSpPr>
          <p:cNvPr id="2" name="Text 0"/>
          <p:cNvSpPr/>
          <p:nvPr/>
        </p:nvSpPr>
        <p:spPr>
          <a:xfrm>
            <a:off x="731520" y="1371600"/>
            <a:ext cx="5486400" cy="548640"/>
          </a:xfrm>
          <a:prstGeom prst="rect">
            <a:avLst/>
          </a:prstGeom>
          <a:noFill/>
          <a:ln/>
        </p:spPr>
        <p:txBody>
          <a:bodyPr wrap="square" lIns="0" tIns="0" rIns="0" bIns="0" rtlCol="0" anchor="ctr"/>
          <a:lstStyle/>
          <a:p>
            <a:pPr marL="0" indent="0">
              <a:buNone/>
            </a:pPr>
            <a:r>
              <a:rPr lang="en-US" sz="1600" i="1">
                <a:solidFill>
                  <a:srgbClr val="6B6B6B"/>
                </a:solidFill>
                <a:latin typeface="Inter" pitchFamily="34" charset="0"/>
                <a:ea typeface="Inter" pitchFamily="34" charset="-122"/>
                <a:cs typeface="Inter" pitchFamily="34" charset="-120"/>
              </a:rPr>
              <a:t>Meet</a:t>
            </a:r>
            <a:endParaRPr lang="en-US" sz="1600"/>
          </a:p>
        </p:txBody>
      </p:sp>
      <p:sp>
        <p:nvSpPr>
          <p:cNvPr id="3" name="Text 1"/>
          <p:cNvSpPr/>
          <p:nvPr/>
        </p:nvSpPr>
        <p:spPr>
          <a:xfrm>
            <a:off x="731520" y="1828800"/>
            <a:ext cx="6400800" cy="1828800"/>
          </a:xfrm>
          <a:prstGeom prst="rect">
            <a:avLst/>
          </a:prstGeom>
          <a:noFill/>
          <a:ln/>
        </p:spPr>
        <p:txBody>
          <a:bodyPr wrap="square" lIns="0" tIns="0" rIns="0" bIns="0" rtlCol="0" anchor="ctr"/>
          <a:lstStyle/>
          <a:p>
            <a:pPr marL="0" indent="0">
              <a:buNone/>
            </a:pPr>
            <a:r>
              <a:rPr lang="en-US" sz="12000" b="1">
                <a:solidFill>
                  <a:srgbClr val="1A1A1A"/>
                </a:solidFill>
                <a:latin typeface="Inter" pitchFamily="34" charset="0"/>
                <a:ea typeface="Inter" pitchFamily="34" charset="-122"/>
                <a:cs typeface="Inter" pitchFamily="34" charset="-120"/>
              </a:rPr>
              <a:t>Maya.</a:t>
            </a:r>
            <a:endParaRPr lang="en-US" sz="12000"/>
          </a:p>
        </p:txBody>
      </p:sp>
      <p:sp>
        <p:nvSpPr>
          <p:cNvPr id="4" name="Text 2"/>
          <p:cNvSpPr/>
          <p:nvPr/>
        </p:nvSpPr>
        <p:spPr>
          <a:xfrm>
            <a:off x="731520" y="4206240"/>
            <a:ext cx="8229600" cy="457200"/>
          </a:xfrm>
          <a:prstGeom prst="rect">
            <a:avLst/>
          </a:prstGeom>
          <a:noFill/>
          <a:ln/>
        </p:spPr>
        <p:txBody>
          <a:bodyPr wrap="square" lIns="0" tIns="0" rIns="0" bIns="0" rtlCol="0" anchor="ctr"/>
          <a:lstStyle/>
          <a:p>
            <a:pPr marL="0" indent="0">
              <a:buNone/>
            </a:pPr>
            <a:r>
              <a:rPr lang="en-US" sz="1600">
                <a:solidFill>
                  <a:srgbClr val="6B6B6B"/>
                </a:solidFill>
                <a:latin typeface="Inter" pitchFamily="34" charset="0"/>
                <a:ea typeface="Inter" pitchFamily="34" charset="-122"/>
                <a:cs typeface="Inter" pitchFamily="34" charset="-120"/>
              </a:rPr>
              <a:t>Same second-year MBA. Same E2 apartment. Same Saturday.</a:t>
            </a:r>
            <a:endParaRPr lang="en-US" sz="1600"/>
          </a:p>
        </p:txBody>
      </p:sp>
      <p:sp>
        <p:nvSpPr>
          <p:cNvPr id="5" name="Text 3"/>
          <p:cNvSpPr/>
          <p:nvPr/>
        </p:nvSpPr>
        <p:spPr>
          <a:xfrm>
            <a:off x="731520" y="4754880"/>
            <a:ext cx="8229600" cy="457200"/>
          </a:xfrm>
          <a:prstGeom prst="rect">
            <a:avLst/>
          </a:prstGeom>
          <a:noFill/>
          <a:ln/>
        </p:spPr>
        <p:txBody>
          <a:bodyPr wrap="square" lIns="0" tIns="0" rIns="0" bIns="0" rtlCol="0" anchor="ctr"/>
          <a:lstStyle/>
          <a:p>
            <a:pPr marL="0" indent="0">
              <a:buNone/>
            </a:pPr>
            <a:r>
              <a:rPr lang="en-US" sz="1600" i="1">
                <a:solidFill>
                  <a:srgbClr val="EB1700"/>
                </a:solidFill>
                <a:latin typeface="Inter" pitchFamily="34" charset="0"/>
                <a:ea typeface="Inter" pitchFamily="34" charset="-122"/>
                <a:cs typeface="Inter" pitchFamily="34" charset="-120"/>
              </a:rPr>
              <a:t>This time, she actually hosts.</a:t>
            </a:r>
            <a:endParaRPr lang="en-US" sz="1600"/>
          </a:p>
        </p:txBody>
      </p:sp>
      <p:sp>
        <p:nvSpPr>
          <p:cNvPr id="6" name="Text 4"/>
          <p:cNvSpPr/>
          <p:nvPr/>
        </p:nvSpPr>
        <p:spPr>
          <a:xfrm>
            <a:off x="731520" y="5394960"/>
            <a:ext cx="10058400" cy="365760"/>
          </a:xfrm>
          <a:prstGeom prst="rect">
            <a:avLst/>
          </a:prstGeom>
          <a:noFill/>
          <a:ln/>
        </p:spPr>
        <p:txBody>
          <a:bodyPr wrap="square" lIns="0" tIns="0" rIns="0" bIns="0" rtlCol="0" anchor="ctr"/>
          <a:lstStyle/>
          <a:p>
            <a:pPr marL="0" indent="0">
              <a:buNone/>
            </a:pPr>
            <a:r>
              <a:rPr lang="en-US" sz="1300" b="1">
                <a:solidFill>
                  <a:srgbClr val="1A1A1A"/>
                </a:solidFill>
                <a:latin typeface="Inter" pitchFamily="34" charset="0"/>
                <a:ea typeface="Inter" pitchFamily="34" charset="-122"/>
                <a:cs typeface="Inter" pitchFamily="34" charset="-120"/>
              </a:rPr>
              <a:t>Confidence level: 9/10. Wine in fridge: 6 bottles. Cart in hand: 1.</a:t>
            </a:r>
            <a:endParaRPr lang="en-US" sz="1300"/>
          </a:p>
        </p:txBody>
      </p:sp>
      <p:sp>
        <p:nvSpPr>
          <p:cNvPr id="7" name="Shape 5"/>
          <p:cNvSpPr/>
          <p:nvPr/>
        </p:nvSpPr>
        <p:spPr>
          <a:xfrm>
            <a:off x="8961120" y="2011680"/>
            <a:ext cx="2560320" cy="2560320"/>
          </a:xfrm>
          <a:prstGeom prst="ellipse">
            <a:avLst/>
          </a:prstGeom>
          <a:solidFill>
            <a:srgbClr val="EB1700"/>
          </a:solidFill>
          <a:ln w="12700">
            <a:solidFill>
              <a:srgbClr val="EB1700"/>
            </a:solidFill>
            <a:prstDash val="solid"/>
          </a:ln>
        </p:spPr>
      </p:sp>
      <p:sp>
        <p:nvSpPr>
          <p:cNvPr id="8" name="Text 6"/>
          <p:cNvSpPr/>
          <p:nvPr/>
        </p:nvSpPr>
        <p:spPr>
          <a:xfrm>
            <a:off x="8961120" y="2011680"/>
            <a:ext cx="2560320" cy="2560320"/>
          </a:xfrm>
          <a:prstGeom prst="rect">
            <a:avLst/>
          </a:prstGeom>
          <a:noFill/>
          <a:ln/>
        </p:spPr>
        <p:txBody>
          <a:bodyPr wrap="square" lIns="0" tIns="0" rIns="0" bIns="0" rtlCol="0" anchor="ctr"/>
          <a:lstStyle/>
          <a:p>
            <a:pPr marL="0" indent="0" algn="ctr">
              <a:buNone/>
            </a:pPr>
            <a:r>
              <a:rPr lang="en-US" sz="14000" b="1">
                <a:solidFill>
                  <a:srgbClr val="FFFFFF"/>
                </a:solidFill>
                <a:latin typeface="Inter" pitchFamily="34" charset="0"/>
                <a:ea typeface="Inter" pitchFamily="34" charset="-122"/>
                <a:cs typeface="Inter" pitchFamily="34" charset="-120"/>
              </a:rPr>
              <a:t>M</a:t>
            </a:r>
            <a:endParaRPr lang="en-US" sz="14000"/>
          </a:p>
        </p:txBody>
      </p:sp>
    </p:spTree>
    <p:extLst>
      <p:ext uri="{BB962C8B-B14F-4D97-AF65-F5344CB8AC3E}">
        <p14:creationId xmlns:p14="http://schemas.microsoft.com/office/powerpoint/2010/main" val="3531076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8F3"/>
        </a:solidFill>
        <a:effectLst/>
      </p:bgPr>
    </p:bg>
    <p:spTree>
      <p:nvGrpSpPr>
        <p:cNvPr id="1" name=""/>
        <p:cNvGrpSpPr/>
        <p:nvPr/>
      </p:nvGrpSpPr>
      <p:grpSpPr>
        <a:xfrm>
          <a:off x="0" y="0"/>
          <a:ext cx="0" cy="0"/>
          <a:chOff x="0" y="0"/>
          <a:chExt cx="0" cy="0"/>
        </a:xfrm>
      </p:grpSpPr>
      <p:sp>
        <p:nvSpPr>
          <p:cNvPr id="2" name="Text 0"/>
          <p:cNvSpPr/>
          <p:nvPr/>
        </p:nvSpPr>
        <p:spPr>
          <a:xfrm>
            <a:off x="731520" y="640080"/>
            <a:ext cx="10698480" cy="365760"/>
          </a:xfrm>
          <a:prstGeom prst="rect">
            <a:avLst/>
          </a:prstGeom>
          <a:noFill/>
          <a:ln/>
        </p:spPr>
        <p:txBody>
          <a:bodyPr wrap="square" lIns="0" tIns="0" rIns="0" bIns="0" rtlCol="0" anchor="ctr"/>
          <a:lstStyle/>
          <a:p>
            <a:pPr marL="0" indent="0">
              <a:buNone/>
            </a:pPr>
            <a:r>
              <a:rPr lang="en-US" sz="1100" b="1" kern="0" spc="800">
                <a:solidFill>
                  <a:srgbClr val="EB1700"/>
                </a:solidFill>
                <a:latin typeface="Inter" pitchFamily="34" charset="0"/>
                <a:ea typeface="Inter" pitchFamily="34" charset="-122"/>
                <a:cs typeface="Inter" pitchFamily="34" charset="-120"/>
              </a:rPr>
              <a:t>WHAT IT'S WORTH TO DOORDASH</a:t>
            </a:r>
            <a:endParaRPr lang="en-US" sz="1100"/>
          </a:p>
        </p:txBody>
      </p:sp>
      <p:sp>
        <p:nvSpPr>
          <p:cNvPr id="3" name="Text 1"/>
          <p:cNvSpPr/>
          <p:nvPr/>
        </p:nvSpPr>
        <p:spPr>
          <a:xfrm>
            <a:off x="731520" y="1097280"/>
            <a:ext cx="10698480" cy="1828800"/>
          </a:xfrm>
          <a:prstGeom prst="rect">
            <a:avLst/>
          </a:prstGeom>
          <a:noFill/>
          <a:ln/>
        </p:spPr>
        <p:txBody>
          <a:bodyPr wrap="square" lIns="0" tIns="0" rIns="0" bIns="0" rtlCol="0" anchor="ctr"/>
          <a:lstStyle/>
          <a:p>
            <a:pPr marL="0" indent="0">
              <a:buNone/>
            </a:pPr>
            <a:r>
              <a:rPr lang="en-US" sz="4000" b="1">
                <a:solidFill>
                  <a:srgbClr val="1A1A1A"/>
                </a:solidFill>
                <a:latin typeface="Inter" pitchFamily="34" charset="0"/>
                <a:ea typeface="Inter" pitchFamily="34" charset="-122"/>
                <a:cs typeface="Inter" pitchFamily="34" charset="-120"/>
              </a:rPr>
              <a:t>$108M incremental GOV.</a:t>
            </a:r>
            <a:endParaRPr lang="en-US" sz="4000"/>
          </a:p>
          <a:p>
            <a:pPr marL="0" indent="0">
              <a:buNone/>
            </a:pPr>
            <a:r>
              <a:rPr lang="en-US" sz="4000" b="1">
                <a:solidFill>
                  <a:srgbClr val="1A1A1A"/>
                </a:solidFill>
                <a:latin typeface="Inter" pitchFamily="34" charset="0"/>
                <a:ea typeface="Inter" pitchFamily="34" charset="-122"/>
                <a:cs typeface="Inter" pitchFamily="34" charset="-120"/>
              </a:rPr>
              <a:t>And a new retention vector.</a:t>
            </a:r>
            <a:endParaRPr lang="en-US" sz="4000"/>
          </a:p>
        </p:txBody>
      </p:sp>
      <p:sp>
        <p:nvSpPr>
          <p:cNvPr id="4" name="Shape 2"/>
          <p:cNvSpPr/>
          <p:nvPr/>
        </p:nvSpPr>
        <p:spPr>
          <a:xfrm>
            <a:off x="502920" y="3200400"/>
            <a:ext cx="3566160" cy="2103120"/>
          </a:xfrm>
          <a:prstGeom prst="rect">
            <a:avLst/>
          </a:prstGeom>
          <a:solidFill>
            <a:srgbClr val="FFFFFF"/>
          </a:solidFill>
          <a:ln w="12700">
            <a:solidFill>
              <a:srgbClr val="E8E2DC"/>
            </a:solidFill>
            <a:prstDash val="solid"/>
          </a:ln>
          <a:effectLst>
            <a:outerShdw blurRad="76200" dist="12700" dir="5400000" algn="bl" rotWithShape="0">
              <a:srgbClr val="000000">
                <a:alpha val="4000"/>
              </a:srgbClr>
            </a:outerShdw>
          </a:effectLst>
        </p:spPr>
      </p:sp>
      <p:sp>
        <p:nvSpPr>
          <p:cNvPr id="5" name="Text 3"/>
          <p:cNvSpPr/>
          <p:nvPr/>
        </p:nvSpPr>
        <p:spPr>
          <a:xfrm>
            <a:off x="777240" y="3429000"/>
            <a:ext cx="3017520" cy="365760"/>
          </a:xfrm>
          <a:prstGeom prst="rect">
            <a:avLst/>
          </a:prstGeom>
          <a:noFill/>
          <a:ln/>
        </p:spPr>
        <p:txBody>
          <a:bodyPr wrap="square" lIns="0" tIns="0" rIns="0" bIns="0" rtlCol="0" anchor="ctr"/>
          <a:lstStyle/>
          <a:p>
            <a:pPr marL="0" indent="0">
              <a:buNone/>
            </a:pPr>
            <a:r>
              <a:rPr lang="en-US" sz="1100" b="1" kern="0" spc="600">
                <a:solidFill>
                  <a:srgbClr val="6B6B6B"/>
                </a:solidFill>
                <a:latin typeface="Inter" pitchFamily="34" charset="0"/>
                <a:ea typeface="Inter" pitchFamily="34" charset="-122"/>
                <a:cs typeface="Inter" pitchFamily="34" charset="-120"/>
              </a:rPr>
              <a:t>PESSIMISTIC</a:t>
            </a:r>
            <a:endParaRPr lang="en-US" sz="1100"/>
          </a:p>
        </p:txBody>
      </p:sp>
      <p:sp>
        <p:nvSpPr>
          <p:cNvPr id="6" name="Text 4"/>
          <p:cNvSpPr/>
          <p:nvPr/>
        </p:nvSpPr>
        <p:spPr>
          <a:xfrm>
            <a:off x="777240" y="3767328"/>
            <a:ext cx="3017520" cy="320040"/>
          </a:xfrm>
          <a:prstGeom prst="rect">
            <a:avLst/>
          </a:prstGeom>
          <a:noFill/>
          <a:ln/>
        </p:spPr>
        <p:txBody>
          <a:bodyPr wrap="square" lIns="0" tIns="0" rIns="0" bIns="0" rtlCol="0" anchor="ctr"/>
          <a:lstStyle/>
          <a:p>
            <a:pPr marL="0" indent="0">
              <a:buNone/>
            </a:pPr>
            <a:r>
              <a:rPr lang="en-US" sz="1200">
                <a:solidFill>
                  <a:srgbClr val="6B6B6B"/>
                </a:solidFill>
                <a:latin typeface="Inter" pitchFamily="34" charset="0"/>
                <a:ea typeface="Inter" pitchFamily="34" charset="-122"/>
                <a:cs typeface="Inter" pitchFamily="34" charset="-120"/>
              </a:rPr>
              <a:t>4% declare</a:t>
            </a:r>
            <a:endParaRPr lang="en-US" sz="1200"/>
          </a:p>
        </p:txBody>
      </p:sp>
      <p:sp>
        <p:nvSpPr>
          <p:cNvPr id="7" name="Text 5"/>
          <p:cNvSpPr/>
          <p:nvPr/>
        </p:nvSpPr>
        <p:spPr>
          <a:xfrm>
            <a:off x="777240" y="4160520"/>
            <a:ext cx="3017520" cy="868680"/>
          </a:xfrm>
          <a:prstGeom prst="rect">
            <a:avLst/>
          </a:prstGeom>
          <a:noFill/>
          <a:ln/>
        </p:spPr>
        <p:txBody>
          <a:bodyPr wrap="square" lIns="0" tIns="0" rIns="0" bIns="0" rtlCol="0" anchor="t"/>
          <a:lstStyle/>
          <a:p>
            <a:pPr marL="0" indent="0">
              <a:buNone/>
            </a:pPr>
            <a:r>
              <a:rPr lang="en-US" sz="5800" b="1">
                <a:solidFill>
                  <a:srgbClr val="1A1A1A"/>
                </a:solidFill>
                <a:latin typeface="Inter" pitchFamily="34" charset="0"/>
                <a:ea typeface="Inter" pitchFamily="34" charset="-122"/>
                <a:cs typeface="Inter" pitchFamily="34" charset="-120"/>
              </a:rPr>
              <a:t>$54M</a:t>
            </a:r>
            <a:endParaRPr lang="en-US" sz="5800"/>
          </a:p>
        </p:txBody>
      </p:sp>
      <p:sp>
        <p:nvSpPr>
          <p:cNvPr id="8" name="Text 6"/>
          <p:cNvSpPr/>
          <p:nvPr/>
        </p:nvSpPr>
        <p:spPr>
          <a:xfrm>
            <a:off x="777240" y="4892040"/>
            <a:ext cx="3017520" cy="274320"/>
          </a:xfrm>
          <a:prstGeom prst="rect">
            <a:avLst/>
          </a:prstGeom>
          <a:noFill/>
          <a:ln/>
        </p:spPr>
        <p:txBody>
          <a:bodyPr wrap="square" lIns="0" tIns="0" rIns="0" bIns="0" rtlCol="0" anchor="ctr"/>
          <a:lstStyle/>
          <a:p>
            <a:pPr marL="0" indent="0">
              <a:buNone/>
            </a:pPr>
            <a:r>
              <a:rPr lang="en-US" sz="1100" i="1">
                <a:solidFill>
                  <a:srgbClr val="6B6B6B"/>
                </a:solidFill>
                <a:latin typeface="Inter" pitchFamily="34" charset="0"/>
                <a:ea typeface="Inter" pitchFamily="34" charset="-122"/>
                <a:cs typeface="Inter" pitchFamily="34" charset="-120"/>
              </a:rPr>
              <a:t>incremental GOV / yr</a:t>
            </a:r>
            <a:endParaRPr lang="en-US" sz="1100"/>
          </a:p>
        </p:txBody>
      </p:sp>
      <p:sp>
        <p:nvSpPr>
          <p:cNvPr id="9" name="Shape 7"/>
          <p:cNvSpPr/>
          <p:nvPr/>
        </p:nvSpPr>
        <p:spPr>
          <a:xfrm>
            <a:off x="4297680" y="3200400"/>
            <a:ext cx="3566160" cy="2103120"/>
          </a:xfrm>
          <a:prstGeom prst="rect">
            <a:avLst/>
          </a:prstGeom>
          <a:solidFill>
            <a:srgbClr val="EB1700"/>
          </a:solidFill>
          <a:ln w="12700">
            <a:solidFill>
              <a:srgbClr val="EB1700"/>
            </a:solidFill>
            <a:prstDash val="solid"/>
          </a:ln>
          <a:effectLst>
            <a:outerShdw blurRad="152400" dist="38100" dir="5400000" algn="bl" rotWithShape="0">
              <a:srgbClr val="000000">
                <a:alpha val="12000"/>
              </a:srgbClr>
            </a:outerShdw>
          </a:effectLst>
        </p:spPr>
      </p:sp>
      <p:sp>
        <p:nvSpPr>
          <p:cNvPr id="10" name="Text 8"/>
          <p:cNvSpPr/>
          <p:nvPr/>
        </p:nvSpPr>
        <p:spPr>
          <a:xfrm>
            <a:off x="4572000" y="3429000"/>
            <a:ext cx="3017520" cy="365760"/>
          </a:xfrm>
          <a:prstGeom prst="rect">
            <a:avLst/>
          </a:prstGeom>
          <a:noFill/>
          <a:ln/>
        </p:spPr>
        <p:txBody>
          <a:bodyPr wrap="square" lIns="0" tIns="0" rIns="0" bIns="0" rtlCol="0" anchor="ctr"/>
          <a:lstStyle/>
          <a:p>
            <a:pPr marL="0" indent="0">
              <a:buNone/>
            </a:pPr>
            <a:r>
              <a:rPr lang="en-US" sz="1100" b="1" kern="0" spc="600">
                <a:solidFill>
                  <a:srgbClr val="FFFFFF"/>
                </a:solidFill>
                <a:latin typeface="Inter" pitchFamily="34" charset="0"/>
                <a:ea typeface="Inter" pitchFamily="34" charset="-122"/>
                <a:cs typeface="Inter" pitchFamily="34" charset="-120"/>
              </a:rPr>
              <a:t>BASE</a:t>
            </a:r>
            <a:endParaRPr lang="en-US" sz="1100"/>
          </a:p>
        </p:txBody>
      </p:sp>
      <p:sp>
        <p:nvSpPr>
          <p:cNvPr id="11" name="Text 9"/>
          <p:cNvSpPr/>
          <p:nvPr/>
        </p:nvSpPr>
        <p:spPr>
          <a:xfrm>
            <a:off x="4572000" y="3767328"/>
            <a:ext cx="3017520" cy="320040"/>
          </a:xfrm>
          <a:prstGeom prst="rect">
            <a:avLst/>
          </a:prstGeom>
          <a:noFill/>
          <a:ln/>
        </p:spPr>
        <p:txBody>
          <a:bodyPr wrap="square" lIns="0" tIns="0" rIns="0" bIns="0" rtlCol="0" anchor="ctr"/>
          <a:lstStyle/>
          <a:p>
            <a:pPr marL="0" indent="0">
              <a:buNone/>
            </a:pPr>
            <a:r>
              <a:rPr lang="en-US" sz="1200">
                <a:solidFill>
                  <a:srgbClr val="FFFFFF"/>
                </a:solidFill>
                <a:latin typeface="Inter" pitchFamily="34" charset="0"/>
                <a:ea typeface="Inter" pitchFamily="34" charset="-122"/>
                <a:cs typeface="Inter" pitchFamily="34" charset="-120"/>
              </a:rPr>
              <a:t>8% declare</a:t>
            </a:r>
            <a:endParaRPr lang="en-US" sz="1200"/>
          </a:p>
        </p:txBody>
      </p:sp>
      <p:sp>
        <p:nvSpPr>
          <p:cNvPr id="12" name="Text 10"/>
          <p:cNvSpPr/>
          <p:nvPr/>
        </p:nvSpPr>
        <p:spPr>
          <a:xfrm>
            <a:off x="4572000" y="4160520"/>
            <a:ext cx="3017520" cy="868680"/>
          </a:xfrm>
          <a:prstGeom prst="rect">
            <a:avLst/>
          </a:prstGeom>
          <a:noFill/>
          <a:ln/>
        </p:spPr>
        <p:txBody>
          <a:bodyPr wrap="square" lIns="0" tIns="0" rIns="0" bIns="0" rtlCol="0" anchor="t"/>
          <a:lstStyle/>
          <a:p>
            <a:pPr marL="0" indent="0">
              <a:buNone/>
            </a:pPr>
            <a:r>
              <a:rPr lang="en-US" sz="5800" b="1">
                <a:solidFill>
                  <a:srgbClr val="FFFFFF"/>
                </a:solidFill>
                <a:latin typeface="Inter" pitchFamily="34" charset="0"/>
                <a:ea typeface="Inter" pitchFamily="34" charset="-122"/>
                <a:cs typeface="Inter" pitchFamily="34" charset="-120"/>
              </a:rPr>
              <a:t>$108M</a:t>
            </a:r>
            <a:endParaRPr lang="en-US" sz="5800"/>
          </a:p>
        </p:txBody>
      </p:sp>
      <p:sp>
        <p:nvSpPr>
          <p:cNvPr id="13" name="Text 11"/>
          <p:cNvSpPr/>
          <p:nvPr/>
        </p:nvSpPr>
        <p:spPr>
          <a:xfrm>
            <a:off x="4572000" y="4892040"/>
            <a:ext cx="3017520" cy="274320"/>
          </a:xfrm>
          <a:prstGeom prst="rect">
            <a:avLst/>
          </a:prstGeom>
          <a:noFill/>
          <a:ln/>
        </p:spPr>
        <p:txBody>
          <a:bodyPr wrap="square" lIns="0" tIns="0" rIns="0" bIns="0" rtlCol="0" anchor="ctr"/>
          <a:lstStyle/>
          <a:p>
            <a:pPr marL="0" indent="0">
              <a:buNone/>
            </a:pPr>
            <a:r>
              <a:rPr lang="en-US" sz="1100" i="1">
                <a:solidFill>
                  <a:srgbClr val="FFFFFF"/>
                </a:solidFill>
                <a:latin typeface="Inter" pitchFamily="34" charset="0"/>
                <a:ea typeface="Inter" pitchFamily="34" charset="-122"/>
                <a:cs typeface="Inter" pitchFamily="34" charset="-120"/>
              </a:rPr>
              <a:t>incremental GOV / yr</a:t>
            </a:r>
            <a:endParaRPr lang="en-US" sz="1100"/>
          </a:p>
        </p:txBody>
      </p:sp>
      <p:sp>
        <p:nvSpPr>
          <p:cNvPr id="14" name="Shape 12"/>
          <p:cNvSpPr/>
          <p:nvPr/>
        </p:nvSpPr>
        <p:spPr>
          <a:xfrm>
            <a:off x="8092440" y="3200400"/>
            <a:ext cx="3566160" cy="2103120"/>
          </a:xfrm>
          <a:prstGeom prst="rect">
            <a:avLst/>
          </a:prstGeom>
          <a:solidFill>
            <a:srgbClr val="FFFFFF"/>
          </a:solidFill>
          <a:ln w="12700">
            <a:solidFill>
              <a:srgbClr val="E8E2DC"/>
            </a:solidFill>
            <a:prstDash val="solid"/>
          </a:ln>
          <a:effectLst>
            <a:outerShdw blurRad="76200" dist="12700" dir="5400000" algn="bl" rotWithShape="0">
              <a:srgbClr val="000000">
                <a:alpha val="4000"/>
              </a:srgbClr>
            </a:outerShdw>
          </a:effectLst>
        </p:spPr>
      </p:sp>
      <p:sp>
        <p:nvSpPr>
          <p:cNvPr id="15" name="Text 13"/>
          <p:cNvSpPr/>
          <p:nvPr/>
        </p:nvSpPr>
        <p:spPr>
          <a:xfrm>
            <a:off x="8366760" y="3429000"/>
            <a:ext cx="3017520" cy="365760"/>
          </a:xfrm>
          <a:prstGeom prst="rect">
            <a:avLst/>
          </a:prstGeom>
          <a:noFill/>
          <a:ln/>
        </p:spPr>
        <p:txBody>
          <a:bodyPr wrap="square" lIns="0" tIns="0" rIns="0" bIns="0" rtlCol="0" anchor="ctr"/>
          <a:lstStyle/>
          <a:p>
            <a:pPr marL="0" indent="0">
              <a:buNone/>
            </a:pPr>
            <a:r>
              <a:rPr lang="en-US" sz="1100" b="1" kern="0" spc="600">
                <a:solidFill>
                  <a:srgbClr val="6B6B6B"/>
                </a:solidFill>
                <a:latin typeface="Inter" pitchFamily="34" charset="0"/>
                <a:ea typeface="Inter" pitchFamily="34" charset="-122"/>
                <a:cs typeface="Inter" pitchFamily="34" charset="-120"/>
              </a:rPr>
              <a:t>OPTIMISTIC</a:t>
            </a:r>
            <a:endParaRPr lang="en-US" sz="1100"/>
          </a:p>
        </p:txBody>
      </p:sp>
      <p:sp>
        <p:nvSpPr>
          <p:cNvPr id="16" name="Text 14"/>
          <p:cNvSpPr/>
          <p:nvPr/>
        </p:nvSpPr>
        <p:spPr>
          <a:xfrm>
            <a:off x="8366760" y="3767328"/>
            <a:ext cx="3017520" cy="320040"/>
          </a:xfrm>
          <a:prstGeom prst="rect">
            <a:avLst/>
          </a:prstGeom>
          <a:noFill/>
          <a:ln/>
        </p:spPr>
        <p:txBody>
          <a:bodyPr wrap="square" lIns="0" tIns="0" rIns="0" bIns="0" rtlCol="0" anchor="ctr"/>
          <a:lstStyle/>
          <a:p>
            <a:pPr marL="0" indent="0">
              <a:buNone/>
            </a:pPr>
            <a:r>
              <a:rPr lang="en-US" sz="1200">
                <a:solidFill>
                  <a:srgbClr val="6B6B6B"/>
                </a:solidFill>
                <a:latin typeface="Inter" pitchFamily="34" charset="0"/>
                <a:ea typeface="Inter" pitchFamily="34" charset="-122"/>
                <a:cs typeface="Inter" pitchFamily="34" charset="-120"/>
              </a:rPr>
              <a:t>12% declare</a:t>
            </a:r>
            <a:endParaRPr lang="en-US" sz="1200"/>
          </a:p>
        </p:txBody>
      </p:sp>
      <p:sp>
        <p:nvSpPr>
          <p:cNvPr id="17" name="Text 15"/>
          <p:cNvSpPr/>
          <p:nvPr/>
        </p:nvSpPr>
        <p:spPr>
          <a:xfrm>
            <a:off x="8366760" y="4160520"/>
            <a:ext cx="3017520" cy="868680"/>
          </a:xfrm>
          <a:prstGeom prst="rect">
            <a:avLst/>
          </a:prstGeom>
          <a:noFill/>
          <a:ln/>
        </p:spPr>
        <p:txBody>
          <a:bodyPr wrap="square" lIns="0" tIns="0" rIns="0" bIns="0" rtlCol="0" anchor="t"/>
          <a:lstStyle/>
          <a:p>
            <a:pPr marL="0" indent="0">
              <a:buNone/>
            </a:pPr>
            <a:r>
              <a:rPr lang="en-US" sz="5800" b="1">
                <a:solidFill>
                  <a:srgbClr val="1A1A1A"/>
                </a:solidFill>
                <a:latin typeface="Inter" pitchFamily="34" charset="0"/>
                <a:ea typeface="Inter" pitchFamily="34" charset="-122"/>
                <a:cs typeface="Inter" pitchFamily="34" charset="-120"/>
              </a:rPr>
              <a:t>$162M</a:t>
            </a:r>
            <a:endParaRPr lang="en-US" sz="5800"/>
          </a:p>
        </p:txBody>
      </p:sp>
      <p:sp>
        <p:nvSpPr>
          <p:cNvPr id="18" name="Text 16"/>
          <p:cNvSpPr/>
          <p:nvPr/>
        </p:nvSpPr>
        <p:spPr>
          <a:xfrm>
            <a:off x="8366760" y="4892040"/>
            <a:ext cx="3017520" cy="274320"/>
          </a:xfrm>
          <a:prstGeom prst="rect">
            <a:avLst/>
          </a:prstGeom>
          <a:noFill/>
          <a:ln/>
        </p:spPr>
        <p:txBody>
          <a:bodyPr wrap="square" lIns="0" tIns="0" rIns="0" bIns="0" rtlCol="0" anchor="ctr"/>
          <a:lstStyle/>
          <a:p>
            <a:pPr marL="0" indent="0">
              <a:buNone/>
            </a:pPr>
            <a:r>
              <a:rPr lang="en-US" sz="1100" i="1">
                <a:solidFill>
                  <a:srgbClr val="6B6B6B"/>
                </a:solidFill>
                <a:latin typeface="Inter" pitchFamily="34" charset="0"/>
                <a:ea typeface="Inter" pitchFamily="34" charset="-122"/>
                <a:cs typeface="Inter" pitchFamily="34" charset="-120"/>
              </a:rPr>
              <a:t>incremental GOV / yr</a:t>
            </a:r>
            <a:endParaRPr lang="en-US" sz="1100"/>
          </a:p>
        </p:txBody>
      </p:sp>
      <p:sp>
        <p:nvSpPr>
          <p:cNvPr id="19" name="Text 17"/>
          <p:cNvSpPr/>
          <p:nvPr/>
        </p:nvSpPr>
        <p:spPr>
          <a:xfrm>
            <a:off x="731520" y="5623560"/>
            <a:ext cx="10698480" cy="365760"/>
          </a:xfrm>
          <a:prstGeom prst="rect">
            <a:avLst/>
          </a:prstGeom>
          <a:noFill/>
          <a:ln/>
        </p:spPr>
        <p:txBody>
          <a:bodyPr wrap="square" lIns="0" tIns="0" rIns="0" bIns="0" rtlCol="0" anchor="ctr"/>
          <a:lstStyle/>
          <a:p>
            <a:pPr marL="0" indent="0" algn="ctr">
              <a:buNone/>
            </a:pPr>
            <a:r>
              <a:rPr lang="en-US" sz="1400" i="1">
                <a:solidFill>
                  <a:srgbClr val="1A1A1A"/>
                </a:solidFill>
                <a:latin typeface="Inter" pitchFamily="34" charset="0"/>
                <a:ea typeface="Inter" pitchFamily="34" charset="-122"/>
                <a:cs typeface="Inter" pitchFamily="34" charset="-120"/>
              </a:rPr>
              <a:t>Modest as a GOV line item. Meaningful as a DashPass retention lever.</a:t>
            </a:r>
            <a:endParaRPr lang="en-US" sz="1400"/>
          </a:p>
        </p:txBody>
      </p:sp>
      <p:sp>
        <p:nvSpPr>
          <p:cNvPr id="20" name="Text 18"/>
          <p:cNvSpPr/>
          <p:nvPr/>
        </p:nvSpPr>
        <p:spPr>
          <a:xfrm>
            <a:off x="731520" y="6035040"/>
            <a:ext cx="10698480" cy="274320"/>
          </a:xfrm>
          <a:prstGeom prst="rect">
            <a:avLst/>
          </a:prstGeom>
          <a:noFill/>
          <a:ln/>
        </p:spPr>
        <p:txBody>
          <a:bodyPr wrap="square" lIns="0" tIns="0" rIns="0" bIns="0" rtlCol="0" anchor="ctr"/>
          <a:lstStyle/>
          <a:p>
            <a:pPr marL="0" indent="0" algn="ctr">
              <a:buNone/>
            </a:pPr>
            <a:r>
              <a:rPr lang="en-US" sz="1000">
                <a:solidFill>
                  <a:srgbClr val="6B6B6B"/>
                </a:solidFill>
                <a:latin typeface="Inter" pitchFamily="34" charset="0"/>
                <a:ea typeface="Inter" pitchFamily="34" charset="-122"/>
                <a:cs typeface="Inter" pitchFamily="34" charset="-120"/>
              </a:rPr>
              <a:t>5M hosting-eligible DashPass MAUs  /  $180 multi-merchant AOV  /  1.5 missions / converted user / yr</a:t>
            </a:r>
            <a:endParaRPr lang="en-US" sz="1000"/>
          </a:p>
        </p:txBody>
      </p:sp>
      <p:sp>
        <p:nvSpPr>
          <p:cNvPr id="21" name="Text 19"/>
          <p:cNvSpPr/>
          <p:nvPr/>
        </p:nvSpPr>
        <p:spPr>
          <a:xfrm>
            <a:off x="731520" y="6309360"/>
            <a:ext cx="10698480" cy="274320"/>
          </a:xfrm>
          <a:prstGeom prst="rect">
            <a:avLst/>
          </a:prstGeom>
          <a:noFill/>
          <a:ln/>
        </p:spPr>
        <p:txBody>
          <a:bodyPr wrap="square" lIns="0" tIns="0" rIns="0" bIns="0" rtlCol="0" anchor="ctr"/>
          <a:lstStyle/>
          <a:p>
            <a:pPr marL="0" indent="0" algn="ctr">
              <a:buNone/>
            </a:pPr>
            <a:r>
              <a:rPr lang="en-US" sz="900" i="1">
                <a:solidFill>
                  <a:srgbClr val="6B6B6B"/>
                </a:solidFill>
                <a:latin typeface="Inter" pitchFamily="34" charset="0"/>
                <a:ea typeface="Inter" pitchFamily="34" charset="-122"/>
                <a:cs typeface="Inter" pitchFamily="34" charset="-120"/>
              </a:rPr>
              <a:t>Anchored to Q1 2026 disclosures: $31.6B quarterly Marketplace GOV. Excludes net-new MAUs, restaurants, non-hosting missions.</a:t>
            </a:r>
            <a:endParaRPr lang="en-US" sz="900"/>
          </a:p>
        </p:txBody>
      </p:sp>
    </p:spTree>
    <p:extLst>
      <p:ext uri="{BB962C8B-B14F-4D97-AF65-F5344CB8AC3E}">
        <p14:creationId xmlns:p14="http://schemas.microsoft.com/office/powerpoint/2010/main" val="3821836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8F3"/>
        </a:solidFill>
        <a:effectLst/>
      </p:bgPr>
    </p:bg>
    <p:spTree>
      <p:nvGrpSpPr>
        <p:cNvPr id="1" name=""/>
        <p:cNvGrpSpPr/>
        <p:nvPr/>
      </p:nvGrpSpPr>
      <p:grpSpPr>
        <a:xfrm>
          <a:off x="0" y="0"/>
          <a:ext cx="0" cy="0"/>
          <a:chOff x="0" y="0"/>
          <a:chExt cx="0" cy="0"/>
        </a:xfrm>
      </p:grpSpPr>
      <p:sp>
        <p:nvSpPr>
          <p:cNvPr id="2" name="Text 0"/>
          <p:cNvSpPr/>
          <p:nvPr/>
        </p:nvSpPr>
        <p:spPr>
          <a:xfrm>
            <a:off x="731520" y="640080"/>
            <a:ext cx="10698480" cy="365760"/>
          </a:xfrm>
          <a:prstGeom prst="rect">
            <a:avLst/>
          </a:prstGeom>
          <a:noFill/>
          <a:ln/>
        </p:spPr>
        <p:txBody>
          <a:bodyPr wrap="square" lIns="0" tIns="0" rIns="0" bIns="0" rtlCol="0" anchor="ctr"/>
          <a:lstStyle/>
          <a:p>
            <a:pPr marL="0" indent="0">
              <a:buNone/>
            </a:pPr>
            <a:r>
              <a:rPr lang="en-US" sz="1100" b="1" kern="0" spc="800">
                <a:solidFill>
                  <a:srgbClr val="EB1700"/>
                </a:solidFill>
                <a:latin typeface="Inter" pitchFamily="34" charset="0"/>
                <a:ea typeface="Inter" pitchFamily="34" charset="-122"/>
                <a:cs typeface="Inter" pitchFamily="34" charset="-120"/>
              </a:rPr>
              <a:t>ONE NUMBER ON THE WALL</a:t>
            </a:r>
            <a:endParaRPr lang="en-US" sz="1100"/>
          </a:p>
        </p:txBody>
      </p:sp>
      <p:sp>
        <p:nvSpPr>
          <p:cNvPr id="3" name="Text 1"/>
          <p:cNvSpPr/>
          <p:nvPr/>
        </p:nvSpPr>
        <p:spPr>
          <a:xfrm>
            <a:off x="731520" y="1097280"/>
            <a:ext cx="10698480" cy="1005840"/>
          </a:xfrm>
          <a:prstGeom prst="rect">
            <a:avLst/>
          </a:prstGeom>
          <a:noFill/>
          <a:ln/>
        </p:spPr>
        <p:txBody>
          <a:bodyPr wrap="square" lIns="0" tIns="0" rIns="0" bIns="0" rtlCol="0" anchor="ctr"/>
          <a:lstStyle/>
          <a:p>
            <a:pPr marL="0" indent="0">
              <a:buNone/>
            </a:pPr>
            <a:r>
              <a:rPr lang="en-US" sz="4400" b="1">
                <a:solidFill>
                  <a:srgbClr val="1A1A1A"/>
                </a:solidFill>
                <a:latin typeface="Inter" pitchFamily="34" charset="0"/>
                <a:ea typeface="Inter" pitchFamily="34" charset="-122"/>
                <a:cs typeface="Inter" pitchFamily="34" charset="-120"/>
              </a:rPr>
              <a:t>Mission declaration rate.</a:t>
            </a:r>
            <a:endParaRPr lang="en-US" sz="4400"/>
          </a:p>
        </p:txBody>
      </p:sp>
      <p:sp>
        <p:nvSpPr>
          <p:cNvPr id="4" name="Text 2"/>
          <p:cNvSpPr/>
          <p:nvPr/>
        </p:nvSpPr>
        <p:spPr>
          <a:xfrm>
            <a:off x="731520" y="2103120"/>
            <a:ext cx="10698480" cy="457200"/>
          </a:xfrm>
          <a:prstGeom prst="rect">
            <a:avLst/>
          </a:prstGeom>
          <a:noFill/>
          <a:ln/>
        </p:spPr>
        <p:txBody>
          <a:bodyPr wrap="square" lIns="0" tIns="0" rIns="0" bIns="0" rtlCol="0" anchor="ctr"/>
          <a:lstStyle/>
          <a:p>
            <a:pPr marL="0" indent="0">
              <a:buNone/>
            </a:pPr>
            <a:r>
              <a:rPr lang="en-US" sz="1600" i="1">
                <a:solidFill>
                  <a:srgbClr val="6B6B6B"/>
                </a:solidFill>
                <a:latin typeface="Inter" pitchFamily="34" charset="0"/>
                <a:ea typeface="Inter" pitchFamily="34" charset="-122"/>
                <a:cs typeface="Inter" pitchFamily="34" charset="-120"/>
              </a:rPr>
              <a:t>The one metric this team rallies around. Earliest in the funnel. Fully product-controlled.</a:t>
            </a:r>
            <a:endParaRPr lang="en-US" sz="1600"/>
          </a:p>
        </p:txBody>
      </p:sp>
      <p:sp>
        <p:nvSpPr>
          <p:cNvPr id="5" name="Shape 3"/>
          <p:cNvSpPr/>
          <p:nvPr/>
        </p:nvSpPr>
        <p:spPr>
          <a:xfrm>
            <a:off x="731520" y="2926080"/>
            <a:ext cx="4114800" cy="2926080"/>
          </a:xfrm>
          <a:prstGeom prst="rect">
            <a:avLst/>
          </a:prstGeom>
          <a:solidFill>
            <a:srgbClr val="EB1700"/>
          </a:solidFill>
          <a:ln w="12700">
            <a:solidFill>
              <a:srgbClr val="EB1700"/>
            </a:solidFill>
            <a:prstDash val="solid"/>
          </a:ln>
          <a:effectLst>
            <a:outerShdw blurRad="152400" dist="38100" dir="5400000" algn="bl" rotWithShape="0">
              <a:srgbClr val="000000">
                <a:alpha val="12000"/>
              </a:srgbClr>
            </a:outerShdw>
          </a:effectLst>
        </p:spPr>
      </p:sp>
      <p:sp>
        <p:nvSpPr>
          <p:cNvPr id="6" name="Text 4"/>
          <p:cNvSpPr/>
          <p:nvPr/>
        </p:nvSpPr>
        <p:spPr>
          <a:xfrm>
            <a:off x="1097280" y="3200400"/>
            <a:ext cx="3383280" cy="320040"/>
          </a:xfrm>
          <a:prstGeom prst="rect">
            <a:avLst/>
          </a:prstGeom>
          <a:noFill/>
          <a:ln/>
        </p:spPr>
        <p:txBody>
          <a:bodyPr wrap="square" lIns="0" tIns="0" rIns="0" bIns="0" rtlCol="0" anchor="ctr"/>
          <a:lstStyle/>
          <a:p>
            <a:pPr marL="0" indent="0">
              <a:buNone/>
            </a:pPr>
            <a:r>
              <a:rPr lang="en-US" sz="1100" b="1" kern="0" spc="600">
                <a:solidFill>
                  <a:srgbClr val="FFFFFF"/>
                </a:solidFill>
                <a:latin typeface="Inter" pitchFamily="34" charset="0"/>
                <a:ea typeface="Inter" pitchFamily="34" charset="-122"/>
                <a:cs typeface="Inter" pitchFamily="34" charset="-120"/>
              </a:rPr>
              <a:t>LEADING</a:t>
            </a:r>
            <a:endParaRPr lang="en-US" sz="1100"/>
          </a:p>
        </p:txBody>
      </p:sp>
      <p:sp>
        <p:nvSpPr>
          <p:cNvPr id="7" name="Text 5"/>
          <p:cNvSpPr/>
          <p:nvPr/>
        </p:nvSpPr>
        <p:spPr>
          <a:xfrm>
            <a:off x="1097280" y="3611880"/>
            <a:ext cx="3383280" cy="502920"/>
          </a:xfrm>
          <a:prstGeom prst="rect">
            <a:avLst/>
          </a:prstGeom>
          <a:noFill/>
          <a:ln/>
        </p:spPr>
        <p:txBody>
          <a:bodyPr wrap="square" lIns="0" tIns="0" rIns="0" bIns="0" rtlCol="0" anchor="t"/>
          <a:lstStyle/>
          <a:p>
            <a:pPr marL="0" indent="0">
              <a:buNone/>
            </a:pPr>
            <a:r>
              <a:rPr lang="en-US" sz="2200">
                <a:solidFill>
                  <a:srgbClr val="FFFFFF"/>
                </a:solidFill>
                <a:latin typeface="Inter" pitchFamily="34" charset="0"/>
                <a:ea typeface="Inter" pitchFamily="34" charset="-122"/>
                <a:cs typeface="Inter" pitchFamily="34" charset="-120"/>
              </a:rPr>
              <a:t>Declaration rate</a:t>
            </a:r>
            <a:endParaRPr lang="en-US" sz="2200"/>
          </a:p>
        </p:txBody>
      </p:sp>
      <p:sp>
        <p:nvSpPr>
          <p:cNvPr id="8" name="Text 6"/>
          <p:cNvSpPr/>
          <p:nvPr/>
        </p:nvSpPr>
        <p:spPr>
          <a:xfrm>
            <a:off x="1097280" y="4251960"/>
            <a:ext cx="3383280" cy="1188720"/>
          </a:xfrm>
          <a:prstGeom prst="rect">
            <a:avLst/>
          </a:prstGeom>
          <a:noFill/>
          <a:ln/>
        </p:spPr>
        <p:txBody>
          <a:bodyPr wrap="square" lIns="0" tIns="0" rIns="0" bIns="0" rtlCol="0" anchor="t"/>
          <a:lstStyle/>
          <a:p>
            <a:pPr marL="0" indent="0">
              <a:buNone/>
            </a:pPr>
            <a:r>
              <a:rPr lang="en-US" sz="8000" b="1">
                <a:solidFill>
                  <a:srgbClr val="FFFFFF"/>
                </a:solidFill>
                <a:latin typeface="Inter" pitchFamily="34" charset="0"/>
                <a:ea typeface="Inter" pitchFamily="34" charset="-122"/>
                <a:cs typeface="Inter" pitchFamily="34" charset="-120"/>
              </a:rPr>
              <a:t>4-12%</a:t>
            </a:r>
            <a:endParaRPr lang="en-US" sz="8000"/>
          </a:p>
        </p:txBody>
      </p:sp>
      <p:sp>
        <p:nvSpPr>
          <p:cNvPr id="9" name="Text 7"/>
          <p:cNvSpPr/>
          <p:nvPr/>
        </p:nvSpPr>
        <p:spPr>
          <a:xfrm>
            <a:off x="1097280" y="5440680"/>
            <a:ext cx="3383280" cy="365760"/>
          </a:xfrm>
          <a:prstGeom prst="rect">
            <a:avLst/>
          </a:prstGeom>
          <a:noFill/>
          <a:ln/>
        </p:spPr>
        <p:txBody>
          <a:bodyPr wrap="square" lIns="0" tIns="0" rIns="0" bIns="0" rtlCol="0" anchor="t"/>
          <a:lstStyle/>
          <a:p>
            <a:pPr marL="0" indent="0">
              <a:buNone/>
            </a:pPr>
            <a:r>
              <a:rPr lang="en-US" sz="1200" i="1">
                <a:solidFill>
                  <a:srgbClr val="FFD0CC"/>
                </a:solidFill>
                <a:latin typeface="Inter" pitchFamily="34" charset="0"/>
                <a:ea typeface="Inter" pitchFamily="34" charset="-122"/>
                <a:cs typeface="Inter" pitchFamily="34" charset="-120"/>
              </a:rPr>
              <a:t>of hosting-eligible MAUs</a:t>
            </a:r>
            <a:endParaRPr lang="en-US" sz="1200"/>
          </a:p>
        </p:txBody>
      </p:sp>
      <p:sp>
        <p:nvSpPr>
          <p:cNvPr id="10" name="Shape 8"/>
          <p:cNvSpPr/>
          <p:nvPr/>
        </p:nvSpPr>
        <p:spPr>
          <a:xfrm>
            <a:off x="5074920" y="3429000"/>
            <a:ext cx="640080" cy="365760"/>
          </a:xfrm>
          <a:prstGeom prst="rightArrow">
            <a:avLst/>
          </a:prstGeom>
          <a:solidFill>
            <a:srgbClr val="EB1700"/>
          </a:solidFill>
          <a:ln w="12700">
            <a:solidFill>
              <a:srgbClr val="EB1700"/>
            </a:solidFill>
            <a:prstDash val="solid"/>
          </a:ln>
        </p:spPr>
      </p:sp>
      <p:sp>
        <p:nvSpPr>
          <p:cNvPr id="11" name="Shape 9"/>
          <p:cNvSpPr/>
          <p:nvPr/>
        </p:nvSpPr>
        <p:spPr>
          <a:xfrm>
            <a:off x="5074920" y="4297680"/>
            <a:ext cx="640080" cy="365760"/>
          </a:xfrm>
          <a:prstGeom prst="rightArrow">
            <a:avLst/>
          </a:prstGeom>
          <a:solidFill>
            <a:srgbClr val="EB1700"/>
          </a:solidFill>
          <a:ln w="12700">
            <a:solidFill>
              <a:srgbClr val="EB1700"/>
            </a:solidFill>
            <a:prstDash val="solid"/>
          </a:ln>
        </p:spPr>
      </p:sp>
      <p:sp>
        <p:nvSpPr>
          <p:cNvPr id="12" name="Shape 10"/>
          <p:cNvSpPr/>
          <p:nvPr/>
        </p:nvSpPr>
        <p:spPr>
          <a:xfrm>
            <a:off x="5074920" y="5166360"/>
            <a:ext cx="640080" cy="365760"/>
          </a:xfrm>
          <a:prstGeom prst="rightArrow">
            <a:avLst/>
          </a:prstGeom>
          <a:solidFill>
            <a:srgbClr val="EB1700"/>
          </a:solidFill>
          <a:ln w="12700">
            <a:solidFill>
              <a:srgbClr val="EB1700"/>
            </a:solidFill>
            <a:prstDash val="solid"/>
          </a:ln>
        </p:spPr>
      </p:sp>
      <p:sp>
        <p:nvSpPr>
          <p:cNvPr id="13" name="Text 11"/>
          <p:cNvSpPr/>
          <p:nvPr/>
        </p:nvSpPr>
        <p:spPr>
          <a:xfrm>
            <a:off x="5989320" y="3200400"/>
            <a:ext cx="4572000" cy="320040"/>
          </a:xfrm>
          <a:prstGeom prst="rect">
            <a:avLst/>
          </a:prstGeom>
          <a:noFill/>
          <a:ln/>
        </p:spPr>
        <p:txBody>
          <a:bodyPr wrap="square" lIns="0" tIns="0" rIns="0" bIns="0" rtlCol="0" anchor="ctr"/>
          <a:lstStyle/>
          <a:p>
            <a:pPr marL="0" indent="0">
              <a:buNone/>
            </a:pPr>
            <a:r>
              <a:rPr lang="en-US" sz="1100" b="1" kern="0" spc="600">
                <a:solidFill>
                  <a:srgbClr val="6B6B6B"/>
                </a:solidFill>
                <a:latin typeface="Inter" pitchFamily="34" charset="0"/>
                <a:ea typeface="Inter" pitchFamily="34" charset="-122"/>
                <a:cs typeface="Inter" pitchFamily="34" charset="-120"/>
              </a:rPr>
              <a:t>LAGGING</a:t>
            </a:r>
            <a:endParaRPr lang="en-US" sz="1100"/>
          </a:p>
        </p:txBody>
      </p:sp>
      <p:sp>
        <p:nvSpPr>
          <p:cNvPr id="14" name="Text 12"/>
          <p:cNvSpPr/>
          <p:nvPr/>
        </p:nvSpPr>
        <p:spPr>
          <a:xfrm>
            <a:off x="5989320" y="3611880"/>
            <a:ext cx="4572000" cy="365760"/>
          </a:xfrm>
          <a:prstGeom prst="rect">
            <a:avLst/>
          </a:prstGeom>
          <a:noFill/>
          <a:ln/>
        </p:spPr>
        <p:txBody>
          <a:bodyPr wrap="square" lIns="0" tIns="0" rIns="0" bIns="0" rtlCol="0" anchor="ctr"/>
          <a:lstStyle/>
          <a:p>
            <a:pPr marL="0" indent="0">
              <a:buNone/>
            </a:pPr>
            <a:r>
              <a:rPr lang="en-US" sz="1700">
                <a:solidFill>
                  <a:srgbClr val="1A1A1A"/>
                </a:solidFill>
                <a:latin typeface="Inter" pitchFamily="34" charset="0"/>
                <a:ea typeface="Inter" pitchFamily="34" charset="-122"/>
                <a:cs typeface="Inter" pitchFamily="34" charset="-120"/>
              </a:rPr>
              <a:t>Incremental GOV</a:t>
            </a:r>
            <a:endParaRPr lang="en-US" sz="1700"/>
          </a:p>
        </p:txBody>
      </p:sp>
      <p:sp>
        <p:nvSpPr>
          <p:cNvPr id="15" name="Text 13"/>
          <p:cNvSpPr/>
          <p:nvPr/>
        </p:nvSpPr>
        <p:spPr>
          <a:xfrm>
            <a:off x="5989320" y="3977640"/>
            <a:ext cx="4572000" cy="365760"/>
          </a:xfrm>
          <a:prstGeom prst="rect">
            <a:avLst/>
          </a:prstGeom>
          <a:noFill/>
          <a:ln/>
        </p:spPr>
        <p:txBody>
          <a:bodyPr wrap="square" lIns="0" tIns="0" rIns="0" bIns="0" rtlCol="0" anchor="ctr"/>
          <a:lstStyle/>
          <a:p>
            <a:pPr marL="0" indent="0">
              <a:buNone/>
            </a:pPr>
            <a:r>
              <a:rPr lang="en-US" sz="2000" b="1">
                <a:solidFill>
                  <a:srgbClr val="EB1700"/>
                </a:solidFill>
                <a:latin typeface="Inter" pitchFamily="34" charset="0"/>
                <a:ea typeface="Inter" pitchFamily="34" charset="-122"/>
                <a:cs typeface="Inter" pitchFamily="34" charset="-120"/>
              </a:rPr>
              <a:t>$54M-$162M / yr</a:t>
            </a:r>
            <a:endParaRPr lang="en-US" sz="2000"/>
          </a:p>
        </p:txBody>
      </p:sp>
      <p:sp>
        <p:nvSpPr>
          <p:cNvPr id="16" name="Text 14"/>
          <p:cNvSpPr/>
          <p:nvPr/>
        </p:nvSpPr>
        <p:spPr>
          <a:xfrm>
            <a:off x="5989320" y="4480560"/>
            <a:ext cx="4572000" cy="365760"/>
          </a:xfrm>
          <a:prstGeom prst="rect">
            <a:avLst/>
          </a:prstGeom>
          <a:noFill/>
          <a:ln/>
        </p:spPr>
        <p:txBody>
          <a:bodyPr wrap="square" lIns="0" tIns="0" rIns="0" bIns="0" rtlCol="0" anchor="ctr"/>
          <a:lstStyle/>
          <a:p>
            <a:pPr marL="0" indent="0">
              <a:buNone/>
            </a:pPr>
            <a:r>
              <a:rPr lang="en-US" sz="1700">
                <a:solidFill>
                  <a:srgbClr val="1A1A1A"/>
                </a:solidFill>
                <a:latin typeface="Inter" pitchFamily="34" charset="0"/>
                <a:ea typeface="Inter" pitchFamily="34" charset="-122"/>
                <a:cs typeface="Inter" pitchFamily="34" charset="-120"/>
              </a:rPr>
              <a:t>DashPass retention</a:t>
            </a:r>
            <a:endParaRPr lang="en-US" sz="1700"/>
          </a:p>
        </p:txBody>
      </p:sp>
      <p:sp>
        <p:nvSpPr>
          <p:cNvPr id="17" name="Text 15"/>
          <p:cNvSpPr/>
          <p:nvPr/>
        </p:nvSpPr>
        <p:spPr>
          <a:xfrm>
            <a:off x="5989320" y="4846320"/>
            <a:ext cx="4572000" cy="365760"/>
          </a:xfrm>
          <a:prstGeom prst="rect">
            <a:avLst/>
          </a:prstGeom>
          <a:noFill/>
          <a:ln/>
        </p:spPr>
        <p:txBody>
          <a:bodyPr wrap="square" lIns="0" tIns="0" rIns="0" bIns="0" rtlCol="0" anchor="ctr"/>
          <a:lstStyle/>
          <a:p>
            <a:pPr marL="0" indent="0">
              <a:buNone/>
            </a:pPr>
            <a:r>
              <a:rPr lang="en-US" sz="2000" b="1">
                <a:solidFill>
                  <a:srgbClr val="EB1700"/>
                </a:solidFill>
                <a:latin typeface="Inter" pitchFamily="34" charset="0"/>
                <a:ea typeface="Inter" pitchFamily="34" charset="-122"/>
                <a:cs typeface="Inter" pitchFamily="34" charset="-120"/>
              </a:rPr>
              <a:t>+1.5-4pp at 12 mo</a:t>
            </a:r>
            <a:endParaRPr lang="en-US" sz="2000"/>
          </a:p>
        </p:txBody>
      </p:sp>
      <p:sp>
        <p:nvSpPr>
          <p:cNvPr id="18" name="Text 16"/>
          <p:cNvSpPr/>
          <p:nvPr/>
        </p:nvSpPr>
        <p:spPr>
          <a:xfrm>
            <a:off x="5989320" y="5349240"/>
            <a:ext cx="4572000" cy="365760"/>
          </a:xfrm>
          <a:prstGeom prst="rect">
            <a:avLst/>
          </a:prstGeom>
          <a:noFill/>
          <a:ln/>
        </p:spPr>
        <p:txBody>
          <a:bodyPr wrap="square" lIns="0" tIns="0" rIns="0" bIns="0" rtlCol="0" anchor="ctr"/>
          <a:lstStyle/>
          <a:p>
            <a:pPr marL="0" indent="0">
              <a:buNone/>
            </a:pPr>
            <a:r>
              <a:rPr lang="en-US" sz="1700">
                <a:solidFill>
                  <a:srgbClr val="1A1A1A"/>
                </a:solidFill>
                <a:latin typeface="Inter" pitchFamily="34" charset="0"/>
                <a:ea typeface="Inter" pitchFamily="34" charset="-122"/>
                <a:cs typeface="Inter" pitchFamily="34" charset="-120"/>
              </a:rPr>
              <a:t>Multi-merchant share</a:t>
            </a:r>
            <a:endParaRPr lang="en-US" sz="1700"/>
          </a:p>
        </p:txBody>
      </p:sp>
      <p:sp>
        <p:nvSpPr>
          <p:cNvPr id="19" name="Text 17"/>
          <p:cNvSpPr/>
          <p:nvPr/>
        </p:nvSpPr>
        <p:spPr>
          <a:xfrm>
            <a:off x="5989320" y="5715000"/>
            <a:ext cx="4572000" cy="365760"/>
          </a:xfrm>
          <a:prstGeom prst="rect">
            <a:avLst/>
          </a:prstGeom>
          <a:noFill/>
          <a:ln/>
        </p:spPr>
        <p:txBody>
          <a:bodyPr wrap="square" lIns="0" tIns="0" rIns="0" bIns="0" rtlCol="0" anchor="ctr"/>
          <a:lstStyle/>
          <a:p>
            <a:pPr marL="0" indent="0">
              <a:buNone/>
            </a:pPr>
            <a:r>
              <a:rPr lang="en-US" sz="2000" b="1">
                <a:solidFill>
                  <a:srgbClr val="EB1700"/>
                </a:solidFill>
                <a:latin typeface="Inter" pitchFamily="34" charset="0"/>
                <a:ea typeface="Inter" pitchFamily="34" charset="-122"/>
                <a:cs typeface="Inter" pitchFamily="34" charset="-120"/>
              </a:rPr>
              <a:t>10-20% of party orders</a:t>
            </a:r>
            <a:endParaRPr lang="en-US" sz="2000"/>
          </a:p>
        </p:txBody>
      </p:sp>
      <p:sp>
        <p:nvSpPr>
          <p:cNvPr id="20" name="Text 18"/>
          <p:cNvSpPr/>
          <p:nvPr/>
        </p:nvSpPr>
        <p:spPr>
          <a:xfrm>
            <a:off x="731520" y="6263640"/>
            <a:ext cx="10698480" cy="274320"/>
          </a:xfrm>
          <a:prstGeom prst="rect">
            <a:avLst/>
          </a:prstGeom>
          <a:noFill/>
          <a:ln/>
        </p:spPr>
        <p:txBody>
          <a:bodyPr wrap="square" lIns="0" tIns="0" rIns="0" bIns="0" rtlCol="0" anchor="ctr"/>
          <a:lstStyle/>
          <a:p>
            <a:pPr marL="0" indent="0" algn="ctr">
              <a:buNone/>
            </a:pPr>
            <a:r>
              <a:rPr lang="en-US" sz="900" i="1">
                <a:solidFill>
                  <a:srgbClr val="6B6B6B"/>
                </a:solidFill>
                <a:latin typeface="Inter" pitchFamily="34" charset="0"/>
                <a:ea typeface="Inter" pitchFamily="34" charset="-122"/>
                <a:cs typeface="Inter" pitchFamily="34" charset="-120"/>
              </a:rPr>
              <a:t>Ranges, not point estimates. Pressure-tested against Instacart Occasions and DoorDash DashPass cohort disclosures.</a:t>
            </a:r>
            <a:endParaRPr lang="en-US" sz="900"/>
          </a:p>
        </p:txBody>
      </p:sp>
    </p:spTree>
    <p:extLst>
      <p:ext uri="{BB962C8B-B14F-4D97-AF65-F5344CB8AC3E}">
        <p14:creationId xmlns:p14="http://schemas.microsoft.com/office/powerpoint/2010/main" val="1357498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8F3"/>
        </a:solidFill>
        <a:effectLst/>
      </p:bgPr>
    </p:bg>
    <p:spTree>
      <p:nvGrpSpPr>
        <p:cNvPr id="1" name=""/>
        <p:cNvGrpSpPr/>
        <p:nvPr/>
      </p:nvGrpSpPr>
      <p:grpSpPr>
        <a:xfrm>
          <a:off x="0" y="0"/>
          <a:ext cx="0" cy="0"/>
          <a:chOff x="0" y="0"/>
          <a:chExt cx="0" cy="0"/>
        </a:xfrm>
      </p:grpSpPr>
      <p:sp>
        <p:nvSpPr>
          <p:cNvPr id="2" name="Text 0"/>
          <p:cNvSpPr/>
          <p:nvPr/>
        </p:nvSpPr>
        <p:spPr>
          <a:xfrm>
            <a:off x="731520" y="731520"/>
            <a:ext cx="10698480" cy="365760"/>
          </a:xfrm>
          <a:prstGeom prst="rect">
            <a:avLst/>
          </a:prstGeom>
          <a:noFill/>
          <a:ln/>
        </p:spPr>
        <p:txBody>
          <a:bodyPr wrap="square" lIns="0" tIns="0" rIns="0" bIns="0" rtlCol="0" anchor="ctr"/>
          <a:lstStyle/>
          <a:p>
            <a:pPr marL="0" indent="0">
              <a:buNone/>
            </a:pPr>
            <a:r>
              <a:rPr lang="en-US" sz="1100" b="1" kern="0" spc="800">
                <a:solidFill>
                  <a:srgbClr val="EB1700"/>
                </a:solidFill>
                <a:latin typeface="Helvetica" pitchFamily="34" charset="0"/>
                <a:ea typeface="Helvetica" pitchFamily="34" charset="-122"/>
                <a:cs typeface="Helvetica" pitchFamily="34" charset="-120"/>
              </a:rPr>
              <a:t>HOW WE GET THERE</a:t>
            </a:r>
            <a:endParaRPr lang="en-US" sz="1100"/>
          </a:p>
        </p:txBody>
      </p:sp>
      <p:sp>
        <p:nvSpPr>
          <p:cNvPr id="3" name="Text 1"/>
          <p:cNvSpPr/>
          <p:nvPr/>
        </p:nvSpPr>
        <p:spPr>
          <a:xfrm>
            <a:off x="731520" y="1188720"/>
            <a:ext cx="10698480" cy="914400"/>
          </a:xfrm>
          <a:prstGeom prst="rect">
            <a:avLst/>
          </a:prstGeom>
          <a:noFill/>
          <a:ln/>
        </p:spPr>
        <p:txBody>
          <a:bodyPr wrap="square" lIns="0" tIns="0" rIns="0" bIns="0" rtlCol="0" anchor="ctr"/>
          <a:lstStyle/>
          <a:p>
            <a:pPr marL="0" indent="0">
              <a:buNone/>
            </a:pPr>
            <a:r>
              <a:rPr lang="en-US" sz="4800">
                <a:solidFill>
                  <a:srgbClr val="1A1A1A"/>
                </a:solidFill>
                <a:latin typeface="Georgia" pitchFamily="34" charset="0"/>
                <a:ea typeface="Georgia" pitchFamily="34" charset="-122"/>
                <a:cs typeface="Georgia" pitchFamily="34" charset="-120"/>
              </a:rPr>
              <a:t>Three deliberate bets.</a:t>
            </a:r>
            <a:endParaRPr lang="en-US" sz="4800"/>
          </a:p>
        </p:txBody>
      </p:sp>
      <p:sp>
        <p:nvSpPr>
          <p:cNvPr id="4" name="Text 2"/>
          <p:cNvSpPr/>
          <p:nvPr/>
        </p:nvSpPr>
        <p:spPr>
          <a:xfrm>
            <a:off x="502920" y="3017520"/>
            <a:ext cx="3566160" cy="457200"/>
          </a:xfrm>
          <a:prstGeom prst="rect">
            <a:avLst/>
          </a:prstGeom>
          <a:noFill/>
          <a:ln/>
        </p:spPr>
        <p:txBody>
          <a:bodyPr wrap="square" lIns="0" tIns="0" rIns="0" bIns="0" rtlCol="0" anchor="ctr"/>
          <a:lstStyle/>
          <a:p>
            <a:pPr marL="0" indent="0">
              <a:buNone/>
            </a:pPr>
            <a:r>
              <a:rPr lang="en-US" sz="1400" b="1" kern="0" spc="400">
                <a:solidFill>
                  <a:srgbClr val="EB1700"/>
                </a:solidFill>
                <a:latin typeface="Helvetica" pitchFamily="34" charset="0"/>
                <a:ea typeface="Helvetica" pitchFamily="34" charset="-122"/>
                <a:cs typeface="Helvetica" pitchFamily="34" charset="-120"/>
              </a:rPr>
              <a:t>01</a:t>
            </a:r>
            <a:endParaRPr lang="en-US" sz="1400"/>
          </a:p>
        </p:txBody>
      </p:sp>
      <p:sp>
        <p:nvSpPr>
          <p:cNvPr id="5" name="Shape 3"/>
          <p:cNvSpPr/>
          <p:nvPr/>
        </p:nvSpPr>
        <p:spPr>
          <a:xfrm>
            <a:off x="502920" y="3520440"/>
            <a:ext cx="457200" cy="0"/>
          </a:xfrm>
          <a:prstGeom prst="line">
            <a:avLst/>
          </a:prstGeom>
          <a:noFill/>
          <a:ln w="25400">
            <a:solidFill>
              <a:srgbClr val="EB1700"/>
            </a:solidFill>
            <a:prstDash val="solid"/>
          </a:ln>
        </p:spPr>
        <p:txBody>
          <a:bodyPr/>
          <a:lstStyle/>
          <a:p>
            <a:endParaRPr lang="en-US"/>
          </a:p>
        </p:txBody>
      </p:sp>
      <p:sp>
        <p:nvSpPr>
          <p:cNvPr id="6" name="Text 4"/>
          <p:cNvSpPr/>
          <p:nvPr/>
        </p:nvSpPr>
        <p:spPr>
          <a:xfrm>
            <a:off x="502920" y="3703320"/>
            <a:ext cx="3566160" cy="914400"/>
          </a:xfrm>
          <a:prstGeom prst="rect">
            <a:avLst/>
          </a:prstGeom>
          <a:noFill/>
          <a:ln/>
        </p:spPr>
        <p:txBody>
          <a:bodyPr wrap="square" lIns="0" tIns="0" rIns="0" bIns="0" rtlCol="0" anchor="t"/>
          <a:lstStyle/>
          <a:p>
            <a:pPr marL="0" indent="0">
              <a:buNone/>
            </a:pPr>
            <a:r>
              <a:rPr lang="en-US" sz="2200">
                <a:solidFill>
                  <a:srgbClr val="1A1A1A"/>
                </a:solidFill>
                <a:latin typeface="Georgia" pitchFamily="34" charset="0"/>
                <a:ea typeface="Georgia" pitchFamily="34" charset="-122"/>
                <a:cs typeface="Georgia" pitchFamily="34" charset="-120"/>
              </a:rPr>
              <a:t>Start with hosting.</a:t>
            </a:r>
            <a:endParaRPr lang="en-US" sz="2200"/>
          </a:p>
        </p:txBody>
      </p:sp>
      <p:sp>
        <p:nvSpPr>
          <p:cNvPr id="7" name="Text 5"/>
          <p:cNvSpPr/>
          <p:nvPr/>
        </p:nvSpPr>
        <p:spPr>
          <a:xfrm>
            <a:off x="502920" y="4754880"/>
            <a:ext cx="3566160" cy="2286000"/>
          </a:xfrm>
          <a:prstGeom prst="rect">
            <a:avLst/>
          </a:prstGeom>
          <a:noFill/>
          <a:ln/>
        </p:spPr>
        <p:txBody>
          <a:bodyPr wrap="square" lIns="0" tIns="0" rIns="0" bIns="0" rtlCol="0" anchor="t"/>
          <a:lstStyle/>
          <a:p>
            <a:pPr marL="0" indent="0">
              <a:buNone/>
            </a:pPr>
            <a:r>
              <a:rPr lang="en-US" sz="1300">
                <a:solidFill>
                  <a:srgbClr val="6B6B6B"/>
                </a:solidFill>
                <a:latin typeface="Helvetica" pitchFamily="34" charset="0"/>
                <a:ea typeface="Helvetica" pitchFamily="34" charset="-122"/>
                <a:cs typeface="Helvetica" pitchFamily="34" charset="-120"/>
              </a:rPr>
              <a:t>The mission with the most user value and the most logistics moat.</a:t>
            </a:r>
            <a:endParaRPr lang="en-US" sz="1300"/>
          </a:p>
        </p:txBody>
      </p:sp>
      <p:sp>
        <p:nvSpPr>
          <p:cNvPr id="8" name="Text 6"/>
          <p:cNvSpPr/>
          <p:nvPr/>
        </p:nvSpPr>
        <p:spPr>
          <a:xfrm>
            <a:off x="4297680" y="3017520"/>
            <a:ext cx="3566160" cy="457200"/>
          </a:xfrm>
          <a:prstGeom prst="rect">
            <a:avLst/>
          </a:prstGeom>
          <a:noFill/>
          <a:ln/>
        </p:spPr>
        <p:txBody>
          <a:bodyPr wrap="square" lIns="0" tIns="0" rIns="0" bIns="0" rtlCol="0" anchor="ctr"/>
          <a:lstStyle/>
          <a:p>
            <a:pPr marL="0" indent="0">
              <a:buNone/>
            </a:pPr>
            <a:r>
              <a:rPr lang="en-US" sz="1400" b="1" kern="0" spc="400">
                <a:solidFill>
                  <a:srgbClr val="EB1700"/>
                </a:solidFill>
                <a:latin typeface="Helvetica" pitchFamily="34" charset="0"/>
                <a:ea typeface="Helvetica" pitchFamily="34" charset="-122"/>
                <a:cs typeface="Helvetica" pitchFamily="34" charset="-120"/>
              </a:rPr>
              <a:t>02</a:t>
            </a:r>
            <a:endParaRPr lang="en-US" sz="1400"/>
          </a:p>
        </p:txBody>
      </p:sp>
      <p:sp>
        <p:nvSpPr>
          <p:cNvPr id="9" name="Shape 7"/>
          <p:cNvSpPr/>
          <p:nvPr/>
        </p:nvSpPr>
        <p:spPr>
          <a:xfrm>
            <a:off x="4297680" y="3520440"/>
            <a:ext cx="457200" cy="0"/>
          </a:xfrm>
          <a:prstGeom prst="line">
            <a:avLst/>
          </a:prstGeom>
          <a:noFill/>
          <a:ln w="25400">
            <a:solidFill>
              <a:srgbClr val="EB1700"/>
            </a:solidFill>
            <a:prstDash val="solid"/>
          </a:ln>
        </p:spPr>
        <p:txBody>
          <a:bodyPr/>
          <a:lstStyle/>
          <a:p>
            <a:endParaRPr lang="en-US"/>
          </a:p>
        </p:txBody>
      </p:sp>
      <p:sp>
        <p:nvSpPr>
          <p:cNvPr id="10" name="Text 8"/>
          <p:cNvSpPr/>
          <p:nvPr/>
        </p:nvSpPr>
        <p:spPr>
          <a:xfrm>
            <a:off x="4297680" y="3703320"/>
            <a:ext cx="3566160" cy="914400"/>
          </a:xfrm>
          <a:prstGeom prst="rect">
            <a:avLst/>
          </a:prstGeom>
          <a:noFill/>
          <a:ln/>
        </p:spPr>
        <p:txBody>
          <a:bodyPr wrap="square" lIns="0" tIns="0" rIns="0" bIns="0" rtlCol="0" anchor="t"/>
          <a:lstStyle/>
          <a:p>
            <a:pPr marL="0" indent="0">
              <a:buNone/>
            </a:pPr>
            <a:r>
              <a:rPr lang="en-US" sz="2200">
                <a:solidFill>
                  <a:srgbClr val="1A1A1A"/>
                </a:solidFill>
                <a:latin typeface="Georgia" pitchFamily="34" charset="0"/>
                <a:ea typeface="Georgia" pitchFamily="34" charset="-122"/>
                <a:cs typeface="Georgia" pitchFamily="34" charset="-120"/>
              </a:rPr>
              <a:t>Rules first. ML later.</a:t>
            </a:r>
            <a:endParaRPr lang="en-US" sz="2200"/>
          </a:p>
        </p:txBody>
      </p:sp>
      <p:sp>
        <p:nvSpPr>
          <p:cNvPr id="11" name="Text 9"/>
          <p:cNvSpPr/>
          <p:nvPr/>
        </p:nvSpPr>
        <p:spPr>
          <a:xfrm>
            <a:off x="4297680" y="4754880"/>
            <a:ext cx="3566160" cy="2286000"/>
          </a:xfrm>
          <a:prstGeom prst="rect">
            <a:avLst/>
          </a:prstGeom>
          <a:noFill/>
          <a:ln/>
        </p:spPr>
        <p:txBody>
          <a:bodyPr wrap="square" lIns="0" tIns="0" rIns="0" bIns="0" rtlCol="0" anchor="t"/>
          <a:lstStyle/>
          <a:p>
            <a:pPr marL="0" indent="0">
              <a:buNone/>
            </a:pPr>
            <a:r>
              <a:rPr lang="en-US" sz="1300">
                <a:solidFill>
                  <a:srgbClr val="6B6B6B"/>
                </a:solidFill>
                <a:latin typeface="Helvetica" pitchFamily="34" charset="0"/>
                <a:ea typeface="Helvetica" pitchFamily="34" charset="-122"/>
                <a:cs typeface="Helvetica" pitchFamily="34" charset="-120"/>
              </a:rPr>
              <a:t>Real declared-mission data before any model trusts it.</a:t>
            </a:r>
            <a:endParaRPr lang="en-US" sz="1300"/>
          </a:p>
        </p:txBody>
      </p:sp>
      <p:sp>
        <p:nvSpPr>
          <p:cNvPr id="12" name="Text 10"/>
          <p:cNvSpPr/>
          <p:nvPr/>
        </p:nvSpPr>
        <p:spPr>
          <a:xfrm>
            <a:off x="8092440" y="3017520"/>
            <a:ext cx="3566160" cy="457200"/>
          </a:xfrm>
          <a:prstGeom prst="rect">
            <a:avLst/>
          </a:prstGeom>
          <a:noFill/>
          <a:ln/>
        </p:spPr>
        <p:txBody>
          <a:bodyPr wrap="square" lIns="0" tIns="0" rIns="0" bIns="0" rtlCol="0" anchor="ctr"/>
          <a:lstStyle/>
          <a:p>
            <a:pPr marL="0" indent="0">
              <a:buNone/>
            </a:pPr>
            <a:r>
              <a:rPr lang="en-US" sz="1400" b="1" kern="0" spc="400">
                <a:solidFill>
                  <a:srgbClr val="EB1700"/>
                </a:solidFill>
                <a:latin typeface="Helvetica" pitchFamily="34" charset="0"/>
                <a:ea typeface="Helvetica" pitchFamily="34" charset="-122"/>
                <a:cs typeface="Helvetica" pitchFamily="34" charset="-120"/>
              </a:rPr>
              <a:t>03</a:t>
            </a:r>
            <a:endParaRPr lang="en-US" sz="1400"/>
          </a:p>
        </p:txBody>
      </p:sp>
      <p:sp>
        <p:nvSpPr>
          <p:cNvPr id="13" name="Shape 11"/>
          <p:cNvSpPr/>
          <p:nvPr/>
        </p:nvSpPr>
        <p:spPr>
          <a:xfrm>
            <a:off x="8092440" y="3520440"/>
            <a:ext cx="457200" cy="0"/>
          </a:xfrm>
          <a:prstGeom prst="line">
            <a:avLst/>
          </a:prstGeom>
          <a:noFill/>
          <a:ln w="25400">
            <a:solidFill>
              <a:srgbClr val="EB1700"/>
            </a:solidFill>
            <a:prstDash val="solid"/>
          </a:ln>
        </p:spPr>
        <p:txBody>
          <a:bodyPr/>
          <a:lstStyle/>
          <a:p>
            <a:endParaRPr lang="en-US"/>
          </a:p>
        </p:txBody>
      </p:sp>
      <p:sp>
        <p:nvSpPr>
          <p:cNvPr id="14" name="Text 12"/>
          <p:cNvSpPr/>
          <p:nvPr/>
        </p:nvSpPr>
        <p:spPr>
          <a:xfrm>
            <a:off x="8092440" y="3703320"/>
            <a:ext cx="3566160" cy="914400"/>
          </a:xfrm>
          <a:prstGeom prst="rect">
            <a:avLst/>
          </a:prstGeom>
          <a:noFill/>
          <a:ln/>
        </p:spPr>
        <p:txBody>
          <a:bodyPr wrap="square" lIns="0" tIns="0" rIns="0" bIns="0" rtlCol="0" anchor="t"/>
          <a:lstStyle/>
          <a:p>
            <a:pPr marL="0" indent="0">
              <a:buNone/>
            </a:pPr>
            <a:r>
              <a:rPr lang="en-US" sz="2200">
                <a:solidFill>
                  <a:srgbClr val="1A1A1A"/>
                </a:solidFill>
                <a:latin typeface="Georgia" pitchFamily="34" charset="0"/>
                <a:ea typeface="Georgia" pitchFamily="34" charset="-122"/>
                <a:cs typeface="Georgia" pitchFamily="34" charset="-120"/>
              </a:rPr>
              <a:t>Measure missions.</a:t>
            </a:r>
            <a:endParaRPr lang="en-US" sz="2200"/>
          </a:p>
        </p:txBody>
      </p:sp>
      <p:sp>
        <p:nvSpPr>
          <p:cNvPr id="15" name="Text 13"/>
          <p:cNvSpPr/>
          <p:nvPr/>
        </p:nvSpPr>
        <p:spPr>
          <a:xfrm>
            <a:off x="8092440" y="4754880"/>
            <a:ext cx="3566160" cy="2286000"/>
          </a:xfrm>
          <a:prstGeom prst="rect">
            <a:avLst/>
          </a:prstGeom>
          <a:noFill/>
          <a:ln/>
        </p:spPr>
        <p:txBody>
          <a:bodyPr wrap="square" lIns="0" tIns="0" rIns="0" bIns="0" rtlCol="0" anchor="t"/>
          <a:lstStyle/>
          <a:p>
            <a:pPr marL="0" indent="0">
              <a:buNone/>
            </a:pPr>
            <a:r>
              <a:rPr lang="en-US" sz="1300">
                <a:solidFill>
                  <a:srgbClr val="6B6B6B"/>
                </a:solidFill>
                <a:latin typeface="Helvetica" pitchFamily="34" charset="0"/>
                <a:ea typeface="Helvetica" pitchFamily="34" charset="-122"/>
                <a:cs typeface="Helvetica" pitchFamily="34" charset="-120"/>
              </a:rPr>
              <a:t>New platform, new metrics. New leading indicators for retention.</a:t>
            </a:r>
            <a:endParaRPr lang="en-US" sz="13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EB1700"/>
        </a:solidFill>
        <a:effectLst/>
      </p:bgPr>
    </p:bg>
    <p:spTree>
      <p:nvGrpSpPr>
        <p:cNvPr id="1" name=""/>
        <p:cNvGrpSpPr/>
        <p:nvPr/>
      </p:nvGrpSpPr>
      <p:grpSpPr>
        <a:xfrm>
          <a:off x="0" y="0"/>
          <a:ext cx="0" cy="0"/>
          <a:chOff x="0" y="0"/>
          <a:chExt cx="0" cy="0"/>
        </a:xfrm>
      </p:grpSpPr>
      <p:sp>
        <p:nvSpPr>
          <p:cNvPr id="2" name="Text 0"/>
          <p:cNvSpPr/>
          <p:nvPr/>
        </p:nvSpPr>
        <p:spPr>
          <a:xfrm>
            <a:off x="731520" y="640080"/>
            <a:ext cx="10698480" cy="365760"/>
          </a:xfrm>
          <a:prstGeom prst="rect">
            <a:avLst/>
          </a:prstGeom>
          <a:noFill/>
          <a:ln/>
        </p:spPr>
        <p:txBody>
          <a:bodyPr wrap="square" lIns="0" tIns="0" rIns="0" bIns="0" rtlCol="0" anchor="ctr"/>
          <a:lstStyle/>
          <a:p>
            <a:pPr marL="0" indent="0">
              <a:buNone/>
            </a:pPr>
            <a:r>
              <a:rPr lang="en-US" sz="1100" b="1" kern="0" spc="800">
                <a:solidFill>
                  <a:srgbClr val="FFFFFF"/>
                </a:solidFill>
                <a:latin typeface="Inter" pitchFamily="34" charset="0"/>
                <a:ea typeface="Inter" pitchFamily="34" charset="-122"/>
                <a:cs typeface="Inter" pitchFamily="34" charset="-120"/>
              </a:rPr>
              <a:t>ONE YEAR LATER</a:t>
            </a:r>
            <a:endParaRPr lang="en-US" sz="1100"/>
          </a:p>
        </p:txBody>
      </p:sp>
      <p:sp>
        <p:nvSpPr>
          <p:cNvPr id="3" name="Text 1"/>
          <p:cNvSpPr/>
          <p:nvPr/>
        </p:nvSpPr>
        <p:spPr>
          <a:xfrm>
            <a:off x="731520" y="1463040"/>
            <a:ext cx="10698480" cy="3017520"/>
          </a:xfrm>
          <a:prstGeom prst="rect">
            <a:avLst/>
          </a:prstGeom>
          <a:noFill/>
          <a:ln/>
        </p:spPr>
        <p:txBody>
          <a:bodyPr wrap="square" lIns="0" tIns="0" rIns="0" bIns="0" rtlCol="0" anchor="t"/>
          <a:lstStyle/>
          <a:p>
            <a:pPr marL="0" indent="0">
              <a:buNone/>
            </a:pPr>
            <a:r>
              <a:rPr lang="en-US" sz="7200" b="1">
                <a:solidFill>
                  <a:srgbClr val="FFFFFF"/>
                </a:solidFill>
                <a:latin typeface="Inter" pitchFamily="34" charset="0"/>
                <a:ea typeface="Inter" pitchFamily="34" charset="-122"/>
                <a:cs typeface="Inter" pitchFamily="34" charset="-120"/>
              </a:rPr>
              <a:t>It's 6:47 PM</a:t>
            </a:r>
            <a:endParaRPr lang="en-US" sz="7200"/>
          </a:p>
          <a:p>
            <a:pPr marL="0" indent="0">
              <a:buNone/>
            </a:pPr>
            <a:r>
              <a:rPr lang="en-US" sz="7200" b="1">
                <a:solidFill>
                  <a:srgbClr val="FFFFFF"/>
                </a:solidFill>
                <a:latin typeface="Inter" pitchFamily="34" charset="0"/>
                <a:ea typeface="Inter" pitchFamily="34" charset="-122"/>
                <a:cs typeface="Inter" pitchFamily="34" charset="-120"/>
              </a:rPr>
              <a:t>on a Saturday</a:t>
            </a:r>
            <a:endParaRPr lang="en-US" sz="7200"/>
          </a:p>
          <a:p>
            <a:pPr marL="0" indent="0">
              <a:buNone/>
            </a:pPr>
            <a:r>
              <a:rPr lang="en-US" sz="7200" b="1">
                <a:solidFill>
                  <a:srgbClr val="FFFFFF"/>
                </a:solidFill>
                <a:latin typeface="Inter" pitchFamily="34" charset="0"/>
                <a:ea typeface="Inter" pitchFamily="34" charset="-122"/>
                <a:cs typeface="Inter" pitchFamily="34" charset="-120"/>
              </a:rPr>
              <a:t>in February.</a:t>
            </a:r>
            <a:endParaRPr lang="en-US" sz="7200"/>
          </a:p>
        </p:txBody>
      </p:sp>
      <p:sp>
        <p:nvSpPr>
          <p:cNvPr id="4" name="Text 2"/>
          <p:cNvSpPr/>
          <p:nvPr/>
        </p:nvSpPr>
        <p:spPr>
          <a:xfrm>
            <a:off x="731520" y="5394960"/>
            <a:ext cx="10698480" cy="548640"/>
          </a:xfrm>
          <a:prstGeom prst="rect">
            <a:avLst/>
          </a:prstGeom>
          <a:noFill/>
          <a:ln/>
        </p:spPr>
        <p:txBody>
          <a:bodyPr wrap="square" lIns="0" tIns="0" rIns="0" bIns="0" rtlCol="0" anchor="ctr"/>
          <a:lstStyle/>
          <a:p>
            <a:pPr marL="0" indent="0">
              <a:buNone/>
            </a:pPr>
            <a:r>
              <a:rPr lang="en-US" sz="2400" i="1">
                <a:solidFill>
                  <a:srgbClr val="FFFFFF"/>
                </a:solidFill>
                <a:latin typeface="Inter" pitchFamily="34" charset="0"/>
                <a:ea typeface="Inter" pitchFamily="34" charset="-122"/>
                <a:cs typeface="Inter" pitchFamily="34" charset="-120"/>
              </a:rPr>
              <a:t>Maya already poured the rosé.</a:t>
            </a:r>
            <a:endParaRPr lang="en-US" sz="2400"/>
          </a:p>
        </p:txBody>
      </p:sp>
      <p:sp>
        <p:nvSpPr>
          <p:cNvPr id="5" name="Text 3"/>
          <p:cNvSpPr/>
          <p:nvPr/>
        </p:nvSpPr>
        <p:spPr>
          <a:xfrm>
            <a:off x="731520" y="6355080"/>
            <a:ext cx="10698480" cy="274320"/>
          </a:xfrm>
          <a:prstGeom prst="rect">
            <a:avLst/>
          </a:prstGeom>
          <a:noFill/>
          <a:ln/>
        </p:spPr>
        <p:txBody>
          <a:bodyPr wrap="square" lIns="0" tIns="0" rIns="0" bIns="0" rtlCol="0" anchor="ctr"/>
          <a:lstStyle/>
          <a:p>
            <a:pPr marL="0" indent="0">
              <a:buNone/>
            </a:pPr>
            <a:r>
              <a:rPr lang="en-US" sz="900" kern="0" spc="600">
                <a:solidFill>
                  <a:srgbClr val="FFFFFF"/>
                </a:solidFill>
                <a:latin typeface="Inter" pitchFamily="34" charset="0"/>
                <a:ea typeface="Inter" pitchFamily="34" charset="-122"/>
                <a:cs typeface="Inter" pitchFamily="34" charset="-120"/>
              </a:rPr>
              <a:t>DOORDASH  /  MISSION-FIRST HOME</a:t>
            </a:r>
            <a:endParaRPr lang="en-US" sz="900"/>
          </a:p>
        </p:txBody>
      </p:sp>
    </p:spTree>
    <p:extLst>
      <p:ext uri="{BB962C8B-B14F-4D97-AF65-F5344CB8AC3E}">
        <p14:creationId xmlns:p14="http://schemas.microsoft.com/office/powerpoint/2010/main" val="2120585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8F3"/>
        </a:solidFill>
        <a:effectLst/>
      </p:bgPr>
    </p:bg>
    <p:spTree>
      <p:nvGrpSpPr>
        <p:cNvPr id="1" name="">
          <a:extLst>
            <a:ext uri="{FF2B5EF4-FFF2-40B4-BE49-F238E27FC236}">
              <a16:creationId xmlns:a16="http://schemas.microsoft.com/office/drawing/2014/main" id="{F3CA6F88-4A0D-01CD-FC38-BAB9B5FB912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0159021-5039-E40C-2A44-A88447E93D20}"/>
              </a:ext>
            </a:extLst>
          </p:cNvPr>
          <p:cNvSpPr/>
          <p:nvPr/>
        </p:nvSpPr>
        <p:spPr>
          <a:xfrm>
            <a:off x="731520" y="640080"/>
            <a:ext cx="10698480" cy="365760"/>
          </a:xfrm>
          <a:prstGeom prst="rect">
            <a:avLst/>
          </a:prstGeom>
          <a:noFill/>
          <a:ln/>
        </p:spPr>
        <p:txBody>
          <a:bodyPr wrap="square" lIns="0" tIns="0" rIns="0" bIns="0" rtlCol="0" anchor="ctr"/>
          <a:lstStyle/>
          <a:p>
            <a:pPr marL="0" indent="0">
              <a:buNone/>
            </a:pPr>
            <a:r>
              <a:rPr lang="en-US" sz="1100" b="1" kern="0" spc="600">
                <a:solidFill>
                  <a:srgbClr val="EB1700"/>
                </a:solidFill>
                <a:latin typeface="Helvetica" pitchFamily="34" charset="0"/>
                <a:ea typeface="Helvetica" pitchFamily="34" charset="-122"/>
                <a:cs typeface="Helvetica" pitchFamily="34" charset="-120"/>
              </a:rPr>
              <a:t>ONE TAP. ONE CART. ONE HOST WHO ACTUALLY HOSTS.</a:t>
            </a:r>
            <a:endParaRPr lang="en-US" sz="1100"/>
          </a:p>
        </p:txBody>
      </p:sp>
      <p:sp>
        <p:nvSpPr>
          <p:cNvPr id="3" name="Shape 1">
            <a:extLst>
              <a:ext uri="{FF2B5EF4-FFF2-40B4-BE49-F238E27FC236}">
                <a16:creationId xmlns:a16="http://schemas.microsoft.com/office/drawing/2014/main" id="{5765CCBF-EF4E-116B-259C-B0E1C4139CA2}"/>
              </a:ext>
            </a:extLst>
          </p:cNvPr>
          <p:cNvSpPr/>
          <p:nvPr/>
        </p:nvSpPr>
        <p:spPr>
          <a:xfrm>
            <a:off x="548640" y="1280160"/>
            <a:ext cx="3566160" cy="2331720"/>
          </a:xfrm>
          <a:prstGeom prst="rect">
            <a:avLst/>
          </a:prstGeom>
          <a:solidFill>
            <a:srgbClr val="FFFFFF"/>
          </a:solidFill>
          <a:ln w="12700">
            <a:solidFill>
              <a:srgbClr val="E8E2DC"/>
            </a:solidFill>
            <a:prstDash val="solid"/>
          </a:ln>
          <a:effectLst>
            <a:outerShdw blurRad="101600" dist="25400" dir="5400000" algn="bl" rotWithShape="0">
              <a:srgbClr val="000000">
                <a:alpha val="5000"/>
              </a:srgbClr>
            </a:outerShdw>
          </a:effectLst>
        </p:spPr>
        <p:txBody>
          <a:bodyPr/>
          <a:lstStyle/>
          <a:p>
            <a:endParaRPr lang="en-US"/>
          </a:p>
        </p:txBody>
      </p:sp>
      <p:sp>
        <p:nvSpPr>
          <p:cNvPr id="4" name="Text 2">
            <a:extLst>
              <a:ext uri="{FF2B5EF4-FFF2-40B4-BE49-F238E27FC236}">
                <a16:creationId xmlns:a16="http://schemas.microsoft.com/office/drawing/2014/main" id="{4E086ED1-9CB0-E0E7-EA1C-D33A023B41BC}"/>
              </a:ext>
            </a:extLst>
          </p:cNvPr>
          <p:cNvSpPr/>
          <p:nvPr/>
        </p:nvSpPr>
        <p:spPr>
          <a:xfrm>
            <a:off x="822960" y="1463040"/>
            <a:ext cx="914400" cy="365760"/>
          </a:xfrm>
          <a:prstGeom prst="rect">
            <a:avLst/>
          </a:prstGeom>
          <a:noFill/>
          <a:ln/>
        </p:spPr>
        <p:txBody>
          <a:bodyPr wrap="square" lIns="0" tIns="0" rIns="0" bIns="0" rtlCol="0" anchor="ctr"/>
          <a:lstStyle/>
          <a:p>
            <a:pPr marL="0" indent="0">
              <a:buNone/>
            </a:pPr>
            <a:r>
              <a:rPr lang="en-US" sz="1100" b="1" kern="0" spc="400">
                <a:solidFill>
                  <a:srgbClr val="EB1700"/>
                </a:solidFill>
                <a:latin typeface="Helvetica" pitchFamily="34" charset="0"/>
                <a:ea typeface="Helvetica" pitchFamily="34" charset="-122"/>
                <a:cs typeface="Helvetica" pitchFamily="34" charset="-120"/>
              </a:rPr>
              <a:t>01</a:t>
            </a:r>
            <a:endParaRPr lang="en-US" sz="1100"/>
          </a:p>
        </p:txBody>
      </p:sp>
      <p:sp>
        <p:nvSpPr>
          <p:cNvPr id="5" name="Text 3">
            <a:extLst>
              <a:ext uri="{FF2B5EF4-FFF2-40B4-BE49-F238E27FC236}">
                <a16:creationId xmlns:a16="http://schemas.microsoft.com/office/drawing/2014/main" id="{11D53252-16D9-8B15-4C3F-B2A55AE82D0D}"/>
              </a:ext>
            </a:extLst>
          </p:cNvPr>
          <p:cNvSpPr/>
          <p:nvPr/>
        </p:nvSpPr>
        <p:spPr>
          <a:xfrm>
            <a:off x="2560320" y="1463040"/>
            <a:ext cx="1371600" cy="365760"/>
          </a:xfrm>
          <a:prstGeom prst="rect">
            <a:avLst/>
          </a:prstGeom>
          <a:noFill/>
          <a:ln/>
        </p:spPr>
        <p:txBody>
          <a:bodyPr wrap="square" lIns="0" tIns="0" rIns="0" bIns="0" rtlCol="0" anchor="ctr"/>
          <a:lstStyle/>
          <a:p>
            <a:pPr marL="0" indent="0" algn="r">
              <a:buNone/>
            </a:pPr>
            <a:r>
              <a:rPr lang="en-US" sz="1100">
                <a:solidFill>
                  <a:srgbClr val="6B6B6B"/>
                </a:solidFill>
                <a:latin typeface="Helvetica" pitchFamily="34" charset="0"/>
                <a:ea typeface="Helvetica" pitchFamily="34" charset="-122"/>
                <a:cs typeface="Helvetica" pitchFamily="34" charset="-120"/>
              </a:rPr>
              <a:t>7:14 PM</a:t>
            </a:r>
            <a:endParaRPr lang="en-US" sz="1100"/>
          </a:p>
        </p:txBody>
      </p:sp>
      <p:sp>
        <p:nvSpPr>
          <p:cNvPr id="6" name="Text 4">
            <a:extLst>
              <a:ext uri="{FF2B5EF4-FFF2-40B4-BE49-F238E27FC236}">
                <a16:creationId xmlns:a16="http://schemas.microsoft.com/office/drawing/2014/main" id="{85FA8D27-6669-6C95-C6FE-6CFB056B776A}"/>
              </a:ext>
            </a:extLst>
          </p:cNvPr>
          <p:cNvSpPr/>
          <p:nvPr/>
        </p:nvSpPr>
        <p:spPr>
          <a:xfrm>
            <a:off x="822960" y="2148840"/>
            <a:ext cx="3017520" cy="822960"/>
          </a:xfrm>
          <a:prstGeom prst="rect">
            <a:avLst/>
          </a:prstGeom>
          <a:noFill/>
          <a:ln/>
        </p:spPr>
        <p:txBody>
          <a:bodyPr wrap="square" lIns="0" tIns="0" rIns="0" bIns="0" rtlCol="0" anchor="t"/>
          <a:lstStyle/>
          <a:p>
            <a:pPr marL="0" indent="0">
              <a:buNone/>
            </a:pPr>
            <a:r>
              <a:rPr lang="en-US" sz="2200">
                <a:solidFill>
                  <a:srgbClr val="1A1A1A"/>
                </a:solidFill>
                <a:latin typeface="Georgia" pitchFamily="34" charset="0"/>
                <a:ea typeface="Georgia" pitchFamily="34" charset="-122"/>
                <a:cs typeface="Georgia" pitchFamily="34" charset="-120"/>
              </a:rPr>
              <a:t>Opens DoorDash.</a:t>
            </a:r>
            <a:endParaRPr lang="en-US" sz="2200"/>
          </a:p>
        </p:txBody>
      </p:sp>
      <p:sp>
        <p:nvSpPr>
          <p:cNvPr id="7" name="Text 5">
            <a:extLst>
              <a:ext uri="{FF2B5EF4-FFF2-40B4-BE49-F238E27FC236}">
                <a16:creationId xmlns:a16="http://schemas.microsoft.com/office/drawing/2014/main" id="{420E0648-581F-A6F2-F3CA-80A44D05BB41}"/>
              </a:ext>
            </a:extLst>
          </p:cNvPr>
          <p:cNvSpPr/>
          <p:nvPr/>
        </p:nvSpPr>
        <p:spPr>
          <a:xfrm>
            <a:off x="822960" y="2971800"/>
            <a:ext cx="3017520" cy="640080"/>
          </a:xfrm>
          <a:prstGeom prst="rect">
            <a:avLst/>
          </a:prstGeom>
          <a:noFill/>
          <a:ln/>
        </p:spPr>
        <p:txBody>
          <a:bodyPr wrap="square" lIns="0" tIns="0" rIns="0" bIns="0" rtlCol="0" anchor="t"/>
          <a:lstStyle/>
          <a:p>
            <a:pPr marL="0" indent="0">
              <a:buNone/>
            </a:pPr>
            <a:r>
              <a:rPr lang="en-US" sz="1200">
                <a:solidFill>
                  <a:srgbClr val="6B6B6B"/>
                </a:solidFill>
                <a:latin typeface="Helvetica" pitchFamily="34" charset="0"/>
                <a:ea typeface="Helvetica" pitchFamily="34" charset="-122"/>
                <a:cs typeface="Helvetica" pitchFamily="34" charset="-120"/>
              </a:rPr>
              <a:t>Sees 'Host Galentine's' on home screen.</a:t>
            </a:r>
            <a:endParaRPr lang="en-US" sz="1200"/>
          </a:p>
        </p:txBody>
      </p:sp>
      <p:sp>
        <p:nvSpPr>
          <p:cNvPr id="8" name="Shape 6">
            <a:extLst>
              <a:ext uri="{FF2B5EF4-FFF2-40B4-BE49-F238E27FC236}">
                <a16:creationId xmlns:a16="http://schemas.microsoft.com/office/drawing/2014/main" id="{C12D28D1-9ACD-CF1A-061E-EE1FB59DB6CE}"/>
              </a:ext>
            </a:extLst>
          </p:cNvPr>
          <p:cNvSpPr/>
          <p:nvPr/>
        </p:nvSpPr>
        <p:spPr>
          <a:xfrm>
            <a:off x="548640" y="3538728"/>
            <a:ext cx="3566160" cy="73152"/>
          </a:xfrm>
          <a:prstGeom prst="rect">
            <a:avLst/>
          </a:prstGeom>
          <a:solidFill>
            <a:srgbClr val="EB1700"/>
          </a:solidFill>
          <a:ln w="12700">
            <a:solidFill>
              <a:srgbClr val="EB1700"/>
            </a:solidFill>
            <a:prstDash val="solid"/>
          </a:ln>
        </p:spPr>
        <p:txBody>
          <a:bodyPr/>
          <a:lstStyle/>
          <a:p>
            <a:endParaRPr lang="en-US"/>
          </a:p>
        </p:txBody>
      </p:sp>
      <p:sp>
        <p:nvSpPr>
          <p:cNvPr id="9" name="Shape 7">
            <a:extLst>
              <a:ext uri="{FF2B5EF4-FFF2-40B4-BE49-F238E27FC236}">
                <a16:creationId xmlns:a16="http://schemas.microsoft.com/office/drawing/2014/main" id="{473226B8-928C-C2DD-3DAB-2B3F28589A69}"/>
              </a:ext>
            </a:extLst>
          </p:cNvPr>
          <p:cNvSpPr/>
          <p:nvPr/>
        </p:nvSpPr>
        <p:spPr>
          <a:xfrm>
            <a:off x="4297680" y="1280160"/>
            <a:ext cx="3566160" cy="2331720"/>
          </a:xfrm>
          <a:prstGeom prst="rect">
            <a:avLst/>
          </a:prstGeom>
          <a:solidFill>
            <a:srgbClr val="FFFFFF"/>
          </a:solidFill>
          <a:ln w="12700">
            <a:solidFill>
              <a:srgbClr val="E8E2DC"/>
            </a:solidFill>
            <a:prstDash val="solid"/>
          </a:ln>
          <a:effectLst>
            <a:outerShdw blurRad="101600" dist="25400" dir="5400000" algn="bl" rotWithShape="0">
              <a:srgbClr val="000000">
                <a:alpha val="5000"/>
              </a:srgbClr>
            </a:outerShdw>
          </a:effectLst>
        </p:spPr>
        <p:txBody>
          <a:bodyPr/>
          <a:lstStyle/>
          <a:p>
            <a:endParaRPr lang="en-US"/>
          </a:p>
        </p:txBody>
      </p:sp>
      <p:sp>
        <p:nvSpPr>
          <p:cNvPr id="10" name="Text 8">
            <a:extLst>
              <a:ext uri="{FF2B5EF4-FFF2-40B4-BE49-F238E27FC236}">
                <a16:creationId xmlns:a16="http://schemas.microsoft.com/office/drawing/2014/main" id="{840F5E4B-AB2F-4B06-DED7-045D7647D144}"/>
              </a:ext>
            </a:extLst>
          </p:cNvPr>
          <p:cNvSpPr/>
          <p:nvPr/>
        </p:nvSpPr>
        <p:spPr>
          <a:xfrm>
            <a:off x="4572000" y="1463040"/>
            <a:ext cx="914400" cy="365760"/>
          </a:xfrm>
          <a:prstGeom prst="rect">
            <a:avLst/>
          </a:prstGeom>
          <a:noFill/>
          <a:ln/>
        </p:spPr>
        <p:txBody>
          <a:bodyPr wrap="square" lIns="0" tIns="0" rIns="0" bIns="0" rtlCol="0" anchor="ctr"/>
          <a:lstStyle/>
          <a:p>
            <a:pPr marL="0" indent="0">
              <a:buNone/>
            </a:pPr>
            <a:r>
              <a:rPr lang="en-US" sz="1100" b="1" kern="0" spc="400">
                <a:solidFill>
                  <a:srgbClr val="EB1700"/>
                </a:solidFill>
                <a:latin typeface="Helvetica" pitchFamily="34" charset="0"/>
                <a:ea typeface="Helvetica" pitchFamily="34" charset="-122"/>
                <a:cs typeface="Helvetica" pitchFamily="34" charset="-120"/>
              </a:rPr>
              <a:t>02</a:t>
            </a:r>
            <a:endParaRPr lang="en-US" sz="1100"/>
          </a:p>
        </p:txBody>
      </p:sp>
      <p:sp>
        <p:nvSpPr>
          <p:cNvPr id="11" name="Text 9">
            <a:extLst>
              <a:ext uri="{FF2B5EF4-FFF2-40B4-BE49-F238E27FC236}">
                <a16:creationId xmlns:a16="http://schemas.microsoft.com/office/drawing/2014/main" id="{E133E2A0-249A-38B0-7828-1FD9A6FFC28F}"/>
              </a:ext>
            </a:extLst>
          </p:cNvPr>
          <p:cNvSpPr/>
          <p:nvPr/>
        </p:nvSpPr>
        <p:spPr>
          <a:xfrm>
            <a:off x="6309360" y="1463040"/>
            <a:ext cx="1371600" cy="365760"/>
          </a:xfrm>
          <a:prstGeom prst="rect">
            <a:avLst/>
          </a:prstGeom>
          <a:noFill/>
          <a:ln/>
        </p:spPr>
        <p:txBody>
          <a:bodyPr wrap="square" lIns="0" tIns="0" rIns="0" bIns="0" rtlCol="0" anchor="ctr"/>
          <a:lstStyle/>
          <a:p>
            <a:pPr marL="0" indent="0" algn="r">
              <a:buNone/>
            </a:pPr>
            <a:r>
              <a:rPr lang="en-US" sz="1100">
                <a:solidFill>
                  <a:srgbClr val="6B6B6B"/>
                </a:solidFill>
                <a:latin typeface="Helvetica" pitchFamily="34" charset="0"/>
                <a:ea typeface="Helvetica" pitchFamily="34" charset="-122"/>
                <a:cs typeface="Helvetica" pitchFamily="34" charset="-120"/>
              </a:rPr>
              <a:t>7:15 PM</a:t>
            </a:r>
            <a:endParaRPr lang="en-US" sz="1100"/>
          </a:p>
        </p:txBody>
      </p:sp>
      <p:sp>
        <p:nvSpPr>
          <p:cNvPr id="12" name="Text 10">
            <a:extLst>
              <a:ext uri="{FF2B5EF4-FFF2-40B4-BE49-F238E27FC236}">
                <a16:creationId xmlns:a16="http://schemas.microsoft.com/office/drawing/2014/main" id="{E1BA9CEC-7DE1-FB02-93A4-2E33F717A97D}"/>
              </a:ext>
            </a:extLst>
          </p:cNvPr>
          <p:cNvSpPr/>
          <p:nvPr/>
        </p:nvSpPr>
        <p:spPr>
          <a:xfrm>
            <a:off x="4572000" y="2148840"/>
            <a:ext cx="3017520" cy="822960"/>
          </a:xfrm>
          <a:prstGeom prst="rect">
            <a:avLst/>
          </a:prstGeom>
          <a:noFill/>
          <a:ln/>
        </p:spPr>
        <p:txBody>
          <a:bodyPr wrap="square" lIns="0" tIns="0" rIns="0" bIns="0" rtlCol="0" anchor="t"/>
          <a:lstStyle/>
          <a:p>
            <a:pPr marL="0" indent="0">
              <a:buNone/>
            </a:pPr>
            <a:r>
              <a:rPr lang="en-US" sz="2200">
                <a:solidFill>
                  <a:srgbClr val="1A1A1A"/>
                </a:solidFill>
                <a:latin typeface="Georgia" pitchFamily="34" charset="0"/>
                <a:ea typeface="Georgia" pitchFamily="34" charset="-122"/>
                <a:cs typeface="Georgia" pitchFamily="34" charset="-120"/>
              </a:rPr>
              <a:t>Taps the mission.</a:t>
            </a:r>
            <a:endParaRPr lang="en-US" sz="2200"/>
          </a:p>
        </p:txBody>
      </p:sp>
      <p:sp>
        <p:nvSpPr>
          <p:cNvPr id="13" name="Text 11">
            <a:extLst>
              <a:ext uri="{FF2B5EF4-FFF2-40B4-BE49-F238E27FC236}">
                <a16:creationId xmlns:a16="http://schemas.microsoft.com/office/drawing/2014/main" id="{81A94EDE-B280-6BE3-F73B-3E7C517CF80A}"/>
              </a:ext>
            </a:extLst>
          </p:cNvPr>
          <p:cNvSpPr/>
          <p:nvPr/>
        </p:nvSpPr>
        <p:spPr>
          <a:xfrm>
            <a:off x="4572000" y="2971800"/>
            <a:ext cx="3017520" cy="640080"/>
          </a:xfrm>
          <a:prstGeom prst="rect">
            <a:avLst/>
          </a:prstGeom>
          <a:noFill/>
          <a:ln/>
        </p:spPr>
        <p:txBody>
          <a:bodyPr wrap="square" lIns="0" tIns="0" rIns="0" bIns="0" rtlCol="0" anchor="t"/>
          <a:lstStyle/>
          <a:p>
            <a:pPr marL="0" indent="0">
              <a:buNone/>
            </a:pPr>
            <a:r>
              <a:rPr lang="en-US" sz="1200">
                <a:solidFill>
                  <a:srgbClr val="6B6B6B"/>
                </a:solidFill>
                <a:latin typeface="Helvetica" pitchFamily="34" charset="0"/>
                <a:ea typeface="Helvetica" pitchFamily="34" charset="-122"/>
                <a:cs typeface="Helvetica" pitchFamily="34" charset="-120"/>
              </a:rPr>
              <a:t>Confirms 6 guests, tomorrow.</a:t>
            </a:r>
            <a:endParaRPr lang="en-US" sz="1200"/>
          </a:p>
        </p:txBody>
      </p:sp>
      <p:sp>
        <p:nvSpPr>
          <p:cNvPr id="14" name="Shape 12">
            <a:extLst>
              <a:ext uri="{FF2B5EF4-FFF2-40B4-BE49-F238E27FC236}">
                <a16:creationId xmlns:a16="http://schemas.microsoft.com/office/drawing/2014/main" id="{3274DB28-102E-8DB9-61C1-54788DEB78A4}"/>
              </a:ext>
            </a:extLst>
          </p:cNvPr>
          <p:cNvSpPr/>
          <p:nvPr/>
        </p:nvSpPr>
        <p:spPr>
          <a:xfrm>
            <a:off x="4297680" y="3538728"/>
            <a:ext cx="3566160" cy="73152"/>
          </a:xfrm>
          <a:prstGeom prst="rect">
            <a:avLst/>
          </a:prstGeom>
          <a:solidFill>
            <a:srgbClr val="EB1700"/>
          </a:solidFill>
          <a:ln w="12700">
            <a:solidFill>
              <a:srgbClr val="EB1700"/>
            </a:solidFill>
            <a:prstDash val="solid"/>
          </a:ln>
        </p:spPr>
        <p:txBody>
          <a:bodyPr/>
          <a:lstStyle/>
          <a:p>
            <a:endParaRPr lang="en-US"/>
          </a:p>
        </p:txBody>
      </p:sp>
      <p:sp>
        <p:nvSpPr>
          <p:cNvPr id="15" name="Shape 13">
            <a:extLst>
              <a:ext uri="{FF2B5EF4-FFF2-40B4-BE49-F238E27FC236}">
                <a16:creationId xmlns:a16="http://schemas.microsoft.com/office/drawing/2014/main" id="{B5B10398-086A-4913-EB59-C74E29565965}"/>
              </a:ext>
            </a:extLst>
          </p:cNvPr>
          <p:cNvSpPr/>
          <p:nvPr/>
        </p:nvSpPr>
        <p:spPr>
          <a:xfrm>
            <a:off x="8046720" y="1280160"/>
            <a:ext cx="3566160" cy="2331720"/>
          </a:xfrm>
          <a:prstGeom prst="rect">
            <a:avLst/>
          </a:prstGeom>
          <a:solidFill>
            <a:srgbClr val="FFFFFF"/>
          </a:solidFill>
          <a:ln w="12700">
            <a:solidFill>
              <a:srgbClr val="E8E2DC"/>
            </a:solidFill>
            <a:prstDash val="solid"/>
          </a:ln>
          <a:effectLst>
            <a:outerShdw blurRad="101600" dist="25400" dir="5400000" algn="bl" rotWithShape="0">
              <a:srgbClr val="000000">
                <a:alpha val="5000"/>
              </a:srgbClr>
            </a:outerShdw>
          </a:effectLst>
        </p:spPr>
        <p:txBody>
          <a:bodyPr/>
          <a:lstStyle/>
          <a:p>
            <a:endParaRPr lang="en-US"/>
          </a:p>
        </p:txBody>
      </p:sp>
      <p:sp>
        <p:nvSpPr>
          <p:cNvPr id="16" name="Text 14">
            <a:extLst>
              <a:ext uri="{FF2B5EF4-FFF2-40B4-BE49-F238E27FC236}">
                <a16:creationId xmlns:a16="http://schemas.microsoft.com/office/drawing/2014/main" id="{36C7DF89-F165-E172-EF65-057E65EB82AD}"/>
              </a:ext>
            </a:extLst>
          </p:cNvPr>
          <p:cNvSpPr/>
          <p:nvPr/>
        </p:nvSpPr>
        <p:spPr>
          <a:xfrm>
            <a:off x="8321040" y="1463040"/>
            <a:ext cx="914400" cy="365760"/>
          </a:xfrm>
          <a:prstGeom prst="rect">
            <a:avLst/>
          </a:prstGeom>
          <a:noFill/>
          <a:ln/>
        </p:spPr>
        <p:txBody>
          <a:bodyPr wrap="square" lIns="0" tIns="0" rIns="0" bIns="0" rtlCol="0" anchor="ctr"/>
          <a:lstStyle/>
          <a:p>
            <a:pPr marL="0" indent="0">
              <a:buNone/>
            </a:pPr>
            <a:r>
              <a:rPr lang="en-US" sz="1100" b="1" kern="0" spc="400">
                <a:solidFill>
                  <a:srgbClr val="EB1700"/>
                </a:solidFill>
                <a:latin typeface="Helvetica" pitchFamily="34" charset="0"/>
                <a:ea typeface="Helvetica" pitchFamily="34" charset="-122"/>
                <a:cs typeface="Helvetica" pitchFamily="34" charset="-120"/>
              </a:rPr>
              <a:t>03</a:t>
            </a:r>
            <a:endParaRPr lang="en-US" sz="1100"/>
          </a:p>
        </p:txBody>
      </p:sp>
      <p:sp>
        <p:nvSpPr>
          <p:cNvPr id="17" name="Text 15">
            <a:extLst>
              <a:ext uri="{FF2B5EF4-FFF2-40B4-BE49-F238E27FC236}">
                <a16:creationId xmlns:a16="http://schemas.microsoft.com/office/drawing/2014/main" id="{4C5CB171-FB16-FD67-6EF7-B7D3BCAB84D3}"/>
              </a:ext>
            </a:extLst>
          </p:cNvPr>
          <p:cNvSpPr/>
          <p:nvPr/>
        </p:nvSpPr>
        <p:spPr>
          <a:xfrm>
            <a:off x="10058400" y="1463040"/>
            <a:ext cx="1371600" cy="365760"/>
          </a:xfrm>
          <a:prstGeom prst="rect">
            <a:avLst/>
          </a:prstGeom>
          <a:noFill/>
          <a:ln/>
        </p:spPr>
        <p:txBody>
          <a:bodyPr wrap="square" lIns="0" tIns="0" rIns="0" bIns="0" rtlCol="0" anchor="ctr"/>
          <a:lstStyle/>
          <a:p>
            <a:pPr marL="0" indent="0" algn="r">
              <a:buNone/>
            </a:pPr>
            <a:r>
              <a:rPr lang="en-US" sz="1100">
                <a:solidFill>
                  <a:srgbClr val="6B6B6B"/>
                </a:solidFill>
                <a:latin typeface="Helvetica" pitchFamily="34" charset="0"/>
                <a:ea typeface="Helvetica" pitchFamily="34" charset="-122"/>
                <a:cs typeface="Helvetica" pitchFamily="34" charset="-120"/>
              </a:rPr>
              <a:t>7:16 PM</a:t>
            </a:r>
            <a:endParaRPr lang="en-US" sz="1100"/>
          </a:p>
        </p:txBody>
      </p:sp>
      <p:sp>
        <p:nvSpPr>
          <p:cNvPr id="18" name="Text 16">
            <a:extLst>
              <a:ext uri="{FF2B5EF4-FFF2-40B4-BE49-F238E27FC236}">
                <a16:creationId xmlns:a16="http://schemas.microsoft.com/office/drawing/2014/main" id="{33BDD5B5-B9D4-8D41-0E57-703B486090F4}"/>
              </a:ext>
            </a:extLst>
          </p:cNvPr>
          <p:cNvSpPr/>
          <p:nvPr/>
        </p:nvSpPr>
        <p:spPr>
          <a:xfrm>
            <a:off x="8321040" y="2148840"/>
            <a:ext cx="3017520" cy="822960"/>
          </a:xfrm>
          <a:prstGeom prst="rect">
            <a:avLst/>
          </a:prstGeom>
          <a:noFill/>
          <a:ln/>
        </p:spPr>
        <p:txBody>
          <a:bodyPr wrap="square" lIns="0" tIns="0" rIns="0" bIns="0" rtlCol="0" anchor="t"/>
          <a:lstStyle/>
          <a:p>
            <a:pPr marL="0" indent="0">
              <a:buNone/>
            </a:pPr>
            <a:r>
              <a:rPr lang="en-US" sz="2200">
                <a:solidFill>
                  <a:srgbClr val="1A1A1A"/>
                </a:solidFill>
                <a:latin typeface="Georgia" pitchFamily="34" charset="0"/>
                <a:ea typeface="Georgia" pitchFamily="34" charset="-122"/>
                <a:cs typeface="Georgia" pitchFamily="34" charset="-120"/>
              </a:rPr>
              <a:t>One cart appears.</a:t>
            </a:r>
            <a:endParaRPr lang="en-US" sz="2200"/>
          </a:p>
        </p:txBody>
      </p:sp>
      <p:sp>
        <p:nvSpPr>
          <p:cNvPr id="19" name="Text 17">
            <a:extLst>
              <a:ext uri="{FF2B5EF4-FFF2-40B4-BE49-F238E27FC236}">
                <a16:creationId xmlns:a16="http://schemas.microsoft.com/office/drawing/2014/main" id="{090F0782-8030-3382-594D-C7DA3A6354F3}"/>
              </a:ext>
            </a:extLst>
          </p:cNvPr>
          <p:cNvSpPr/>
          <p:nvPr/>
        </p:nvSpPr>
        <p:spPr>
          <a:xfrm>
            <a:off x="8321040" y="2971800"/>
            <a:ext cx="3017520" cy="640080"/>
          </a:xfrm>
          <a:prstGeom prst="rect">
            <a:avLst/>
          </a:prstGeom>
          <a:noFill/>
          <a:ln/>
        </p:spPr>
        <p:txBody>
          <a:bodyPr wrap="square" lIns="0" tIns="0" rIns="0" bIns="0" rtlCol="0" anchor="t"/>
          <a:lstStyle/>
          <a:p>
            <a:pPr marL="0" indent="0">
              <a:buNone/>
            </a:pPr>
            <a:r>
              <a:rPr lang="en-US" sz="1200">
                <a:solidFill>
                  <a:srgbClr val="6B6B6B"/>
                </a:solidFill>
                <a:latin typeface="Helvetica" pitchFamily="34" charset="0"/>
                <a:ea typeface="Helvetica" pitchFamily="34" charset="-122"/>
                <a:cs typeface="Helvetica" pitchFamily="34" charset="-120"/>
              </a:rPr>
              <a:t>Six merchants. One checkout.</a:t>
            </a:r>
            <a:endParaRPr lang="en-US" sz="1200"/>
          </a:p>
        </p:txBody>
      </p:sp>
      <p:sp>
        <p:nvSpPr>
          <p:cNvPr id="20" name="Shape 18">
            <a:extLst>
              <a:ext uri="{FF2B5EF4-FFF2-40B4-BE49-F238E27FC236}">
                <a16:creationId xmlns:a16="http://schemas.microsoft.com/office/drawing/2014/main" id="{3CB1B1AF-49F5-3469-3F66-0678E9ED5D73}"/>
              </a:ext>
            </a:extLst>
          </p:cNvPr>
          <p:cNvSpPr/>
          <p:nvPr/>
        </p:nvSpPr>
        <p:spPr>
          <a:xfrm>
            <a:off x="8046720" y="3538728"/>
            <a:ext cx="3566160" cy="73152"/>
          </a:xfrm>
          <a:prstGeom prst="rect">
            <a:avLst/>
          </a:prstGeom>
          <a:solidFill>
            <a:srgbClr val="EB1700"/>
          </a:solidFill>
          <a:ln w="12700">
            <a:solidFill>
              <a:srgbClr val="EB1700"/>
            </a:solidFill>
            <a:prstDash val="solid"/>
          </a:ln>
        </p:spPr>
        <p:txBody>
          <a:bodyPr/>
          <a:lstStyle/>
          <a:p>
            <a:endParaRPr lang="en-US"/>
          </a:p>
        </p:txBody>
      </p:sp>
      <p:sp>
        <p:nvSpPr>
          <p:cNvPr id="21" name="Shape 19">
            <a:extLst>
              <a:ext uri="{FF2B5EF4-FFF2-40B4-BE49-F238E27FC236}">
                <a16:creationId xmlns:a16="http://schemas.microsoft.com/office/drawing/2014/main" id="{6F93B907-20FC-B278-E6D9-407C289C9805}"/>
              </a:ext>
            </a:extLst>
          </p:cNvPr>
          <p:cNvSpPr/>
          <p:nvPr/>
        </p:nvSpPr>
        <p:spPr>
          <a:xfrm>
            <a:off x="548640" y="3794760"/>
            <a:ext cx="3566160" cy="2331720"/>
          </a:xfrm>
          <a:prstGeom prst="rect">
            <a:avLst/>
          </a:prstGeom>
          <a:solidFill>
            <a:srgbClr val="FFFFFF"/>
          </a:solidFill>
          <a:ln w="12700">
            <a:solidFill>
              <a:srgbClr val="E8E2DC"/>
            </a:solidFill>
            <a:prstDash val="solid"/>
          </a:ln>
          <a:effectLst>
            <a:outerShdw blurRad="101600" dist="25400" dir="5400000" algn="bl" rotWithShape="0">
              <a:srgbClr val="000000">
                <a:alpha val="5000"/>
              </a:srgbClr>
            </a:outerShdw>
          </a:effectLst>
        </p:spPr>
        <p:txBody>
          <a:bodyPr/>
          <a:lstStyle/>
          <a:p>
            <a:endParaRPr lang="en-US"/>
          </a:p>
        </p:txBody>
      </p:sp>
      <p:sp>
        <p:nvSpPr>
          <p:cNvPr id="22" name="Text 20">
            <a:extLst>
              <a:ext uri="{FF2B5EF4-FFF2-40B4-BE49-F238E27FC236}">
                <a16:creationId xmlns:a16="http://schemas.microsoft.com/office/drawing/2014/main" id="{69A5FC19-29CB-8940-B433-4660BB05868B}"/>
              </a:ext>
            </a:extLst>
          </p:cNvPr>
          <p:cNvSpPr/>
          <p:nvPr/>
        </p:nvSpPr>
        <p:spPr>
          <a:xfrm>
            <a:off x="822960" y="3977640"/>
            <a:ext cx="914400" cy="365760"/>
          </a:xfrm>
          <a:prstGeom prst="rect">
            <a:avLst/>
          </a:prstGeom>
          <a:noFill/>
          <a:ln/>
        </p:spPr>
        <p:txBody>
          <a:bodyPr wrap="square" lIns="0" tIns="0" rIns="0" bIns="0" rtlCol="0" anchor="ctr"/>
          <a:lstStyle/>
          <a:p>
            <a:pPr marL="0" indent="0">
              <a:buNone/>
            </a:pPr>
            <a:r>
              <a:rPr lang="en-US" sz="1100" b="1" kern="0" spc="400">
                <a:solidFill>
                  <a:srgbClr val="EB1700"/>
                </a:solidFill>
                <a:latin typeface="Helvetica" pitchFamily="34" charset="0"/>
                <a:ea typeface="Helvetica" pitchFamily="34" charset="-122"/>
                <a:cs typeface="Helvetica" pitchFamily="34" charset="-120"/>
              </a:rPr>
              <a:t>04</a:t>
            </a:r>
            <a:endParaRPr lang="en-US" sz="1100"/>
          </a:p>
        </p:txBody>
      </p:sp>
      <p:sp>
        <p:nvSpPr>
          <p:cNvPr id="23" name="Text 21">
            <a:extLst>
              <a:ext uri="{FF2B5EF4-FFF2-40B4-BE49-F238E27FC236}">
                <a16:creationId xmlns:a16="http://schemas.microsoft.com/office/drawing/2014/main" id="{8B9F4FCE-56E4-43A2-C93F-42E9B2F3BFFF}"/>
              </a:ext>
            </a:extLst>
          </p:cNvPr>
          <p:cNvSpPr/>
          <p:nvPr/>
        </p:nvSpPr>
        <p:spPr>
          <a:xfrm>
            <a:off x="2560320" y="3977640"/>
            <a:ext cx="1371600" cy="365760"/>
          </a:xfrm>
          <a:prstGeom prst="rect">
            <a:avLst/>
          </a:prstGeom>
          <a:noFill/>
          <a:ln/>
        </p:spPr>
        <p:txBody>
          <a:bodyPr wrap="square" lIns="0" tIns="0" rIns="0" bIns="0" rtlCol="0" anchor="ctr"/>
          <a:lstStyle/>
          <a:p>
            <a:pPr marL="0" indent="0" algn="r">
              <a:buNone/>
            </a:pPr>
            <a:r>
              <a:rPr lang="en-US" sz="1100">
                <a:solidFill>
                  <a:srgbClr val="6B6B6B"/>
                </a:solidFill>
                <a:latin typeface="Helvetica" pitchFamily="34" charset="0"/>
                <a:ea typeface="Helvetica" pitchFamily="34" charset="-122"/>
                <a:cs typeface="Helvetica" pitchFamily="34" charset="-120"/>
              </a:rPr>
              <a:t>7:17 PM</a:t>
            </a:r>
            <a:endParaRPr lang="en-US" sz="1100"/>
          </a:p>
        </p:txBody>
      </p:sp>
      <p:sp>
        <p:nvSpPr>
          <p:cNvPr id="24" name="Text 22">
            <a:extLst>
              <a:ext uri="{FF2B5EF4-FFF2-40B4-BE49-F238E27FC236}">
                <a16:creationId xmlns:a16="http://schemas.microsoft.com/office/drawing/2014/main" id="{AA50588E-DFA9-6BD9-6E2A-45D0932C0360}"/>
              </a:ext>
            </a:extLst>
          </p:cNvPr>
          <p:cNvSpPr/>
          <p:nvPr/>
        </p:nvSpPr>
        <p:spPr>
          <a:xfrm>
            <a:off x="822960" y="4663440"/>
            <a:ext cx="3017520" cy="822960"/>
          </a:xfrm>
          <a:prstGeom prst="rect">
            <a:avLst/>
          </a:prstGeom>
          <a:noFill/>
          <a:ln/>
        </p:spPr>
        <p:txBody>
          <a:bodyPr wrap="square" lIns="0" tIns="0" rIns="0" bIns="0" rtlCol="0" anchor="t"/>
          <a:lstStyle/>
          <a:p>
            <a:pPr marL="0" indent="0">
              <a:buNone/>
            </a:pPr>
            <a:r>
              <a:rPr lang="en-US" sz="2200">
                <a:solidFill>
                  <a:srgbClr val="1A1A1A"/>
                </a:solidFill>
                <a:latin typeface="Georgia" pitchFamily="34" charset="0"/>
                <a:ea typeface="Georgia" pitchFamily="34" charset="-122"/>
                <a:cs typeface="Georgia" pitchFamily="34" charset="-120"/>
              </a:rPr>
              <a:t>She edits two things.</a:t>
            </a:r>
            <a:endParaRPr lang="en-US" sz="2200"/>
          </a:p>
        </p:txBody>
      </p:sp>
      <p:sp>
        <p:nvSpPr>
          <p:cNvPr id="25" name="Text 23">
            <a:extLst>
              <a:ext uri="{FF2B5EF4-FFF2-40B4-BE49-F238E27FC236}">
                <a16:creationId xmlns:a16="http://schemas.microsoft.com/office/drawing/2014/main" id="{B3B2DACA-03E1-F7CE-8743-C8834DBC875F}"/>
              </a:ext>
            </a:extLst>
          </p:cNvPr>
          <p:cNvSpPr/>
          <p:nvPr/>
        </p:nvSpPr>
        <p:spPr>
          <a:xfrm>
            <a:off x="822960" y="5486400"/>
            <a:ext cx="3017520" cy="640080"/>
          </a:xfrm>
          <a:prstGeom prst="rect">
            <a:avLst/>
          </a:prstGeom>
          <a:noFill/>
          <a:ln/>
        </p:spPr>
        <p:txBody>
          <a:bodyPr wrap="square" lIns="0" tIns="0" rIns="0" bIns="0" rtlCol="0" anchor="t"/>
          <a:lstStyle/>
          <a:p>
            <a:pPr marL="0" indent="0">
              <a:buNone/>
            </a:pPr>
            <a:r>
              <a:rPr lang="en-US" sz="1200">
                <a:solidFill>
                  <a:srgbClr val="6B6B6B"/>
                </a:solidFill>
                <a:latin typeface="Helvetica" pitchFamily="34" charset="0"/>
                <a:ea typeface="Helvetica" pitchFamily="34" charset="-122"/>
                <a:cs typeface="Helvetica" pitchFamily="34" charset="-120"/>
              </a:rPr>
              <a:t>Swaps the cheese. Adds extra rosé.</a:t>
            </a:r>
            <a:endParaRPr lang="en-US" sz="1200"/>
          </a:p>
        </p:txBody>
      </p:sp>
      <p:sp>
        <p:nvSpPr>
          <p:cNvPr id="26" name="Shape 24">
            <a:extLst>
              <a:ext uri="{FF2B5EF4-FFF2-40B4-BE49-F238E27FC236}">
                <a16:creationId xmlns:a16="http://schemas.microsoft.com/office/drawing/2014/main" id="{0FF6603C-404C-FFC8-FAED-2268E759AA39}"/>
              </a:ext>
            </a:extLst>
          </p:cNvPr>
          <p:cNvSpPr/>
          <p:nvPr/>
        </p:nvSpPr>
        <p:spPr>
          <a:xfrm>
            <a:off x="548640" y="6053328"/>
            <a:ext cx="3566160" cy="73152"/>
          </a:xfrm>
          <a:prstGeom prst="rect">
            <a:avLst/>
          </a:prstGeom>
          <a:solidFill>
            <a:srgbClr val="EB1700"/>
          </a:solidFill>
          <a:ln w="12700">
            <a:solidFill>
              <a:srgbClr val="EB1700"/>
            </a:solidFill>
            <a:prstDash val="solid"/>
          </a:ln>
        </p:spPr>
        <p:txBody>
          <a:bodyPr/>
          <a:lstStyle/>
          <a:p>
            <a:endParaRPr lang="en-US"/>
          </a:p>
        </p:txBody>
      </p:sp>
      <p:sp>
        <p:nvSpPr>
          <p:cNvPr id="27" name="Shape 25">
            <a:extLst>
              <a:ext uri="{FF2B5EF4-FFF2-40B4-BE49-F238E27FC236}">
                <a16:creationId xmlns:a16="http://schemas.microsoft.com/office/drawing/2014/main" id="{A4F46DB4-5610-8F3F-A910-C146ACC00AE6}"/>
              </a:ext>
            </a:extLst>
          </p:cNvPr>
          <p:cNvSpPr/>
          <p:nvPr/>
        </p:nvSpPr>
        <p:spPr>
          <a:xfrm>
            <a:off x="4297680" y="3794760"/>
            <a:ext cx="3566160" cy="2331720"/>
          </a:xfrm>
          <a:prstGeom prst="rect">
            <a:avLst/>
          </a:prstGeom>
          <a:solidFill>
            <a:srgbClr val="FFFFFF"/>
          </a:solidFill>
          <a:ln w="12700">
            <a:solidFill>
              <a:srgbClr val="E8E2DC"/>
            </a:solidFill>
            <a:prstDash val="solid"/>
          </a:ln>
          <a:effectLst>
            <a:outerShdw blurRad="101600" dist="25400" dir="5400000" algn="bl" rotWithShape="0">
              <a:srgbClr val="000000">
                <a:alpha val="5000"/>
              </a:srgbClr>
            </a:outerShdw>
          </a:effectLst>
        </p:spPr>
        <p:txBody>
          <a:bodyPr/>
          <a:lstStyle/>
          <a:p>
            <a:endParaRPr lang="en-US"/>
          </a:p>
        </p:txBody>
      </p:sp>
      <p:sp>
        <p:nvSpPr>
          <p:cNvPr id="28" name="Text 26">
            <a:extLst>
              <a:ext uri="{FF2B5EF4-FFF2-40B4-BE49-F238E27FC236}">
                <a16:creationId xmlns:a16="http://schemas.microsoft.com/office/drawing/2014/main" id="{B20C7E91-2FC9-4674-5861-E132BFE2155D}"/>
              </a:ext>
            </a:extLst>
          </p:cNvPr>
          <p:cNvSpPr/>
          <p:nvPr/>
        </p:nvSpPr>
        <p:spPr>
          <a:xfrm>
            <a:off x="4572000" y="3977640"/>
            <a:ext cx="914400" cy="365760"/>
          </a:xfrm>
          <a:prstGeom prst="rect">
            <a:avLst/>
          </a:prstGeom>
          <a:noFill/>
          <a:ln/>
        </p:spPr>
        <p:txBody>
          <a:bodyPr wrap="square" lIns="0" tIns="0" rIns="0" bIns="0" rtlCol="0" anchor="ctr"/>
          <a:lstStyle/>
          <a:p>
            <a:pPr marL="0" indent="0">
              <a:buNone/>
            </a:pPr>
            <a:r>
              <a:rPr lang="en-US" sz="1100" b="1" kern="0" spc="400">
                <a:solidFill>
                  <a:srgbClr val="EB1700"/>
                </a:solidFill>
                <a:latin typeface="Helvetica" pitchFamily="34" charset="0"/>
                <a:ea typeface="Helvetica" pitchFamily="34" charset="-122"/>
                <a:cs typeface="Helvetica" pitchFamily="34" charset="-120"/>
              </a:rPr>
              <a:t>05</a:t>
            </a:r>
            <a:endParaRPr lang="en-US" sz="1100"/>
          </a:p>
        </p:txBody>
      </p:sp>
      <p:sp>
        <p:nvSpPr>
          <p:cNvPr id="29" name="Text 27">
            <a:extLst>
              <a:ext uri="{FF2B5EF4-FFF2-40B4-BE49-F238E27FC236}">
                <a16:creationId xmlns:a16="http://schemas.microsoft.com/office/drawing/2014/main" id="{CEC067DF-593C-CDFD-139B-ECBBEEDC36D8}"/>
              </a:ext>
            </a:extLst>
          </p:cNvPr>
          <p:cNvSpPr/>
          <p:nvPr/>
        </p:nvSpPr>
        <p:spPr>
          <a:xfrm>
            <a:off x="6309360" y="3977640"/>
            <a:ext cx="1371600" cy="365760"/>
          </a:xfrm>
          <a:prstGeom prst="rect">
            <a:avLst/>
          </a:prstGeom>
          <a:noFill/>
          <a:ln/>
        </p:spPr>
        <p:txBody>
          <a:bodyPr wrap="square" lIns="0" tIns="0" rIns="0" bIns="0" rtlCol="0" anchor="ctr"/>
          <a:lstStyle/>
          <a:p>
            <a:pPr marL="0" indent="0" algn="r">
              <a:buNone/>
            </a:pPr>
            <a:r>
              <a:rPr lang="en-US" sz="1100">
                <a:solidFill>
                  <a:srgbClr val="6B6B6B"/>
                </a:solidFill>
                <a:latin typeface="Helvetica" pitchFamily="34" charset="0"/>
                <a:ea typeface="Helvetica" pitchFamily="34" charset="-122"/>
                <a:cs typeface="Helvetica" pitchFamily="34" charset="-120"/>
              </a:rPr>
              <a:t>Sat 4 PM</a:t>
            </a:r>
            <a:endParaRPr lang="en-US" sz="1100"/>
          </a:p>
        </p:txBody>
      </p:sp>
      <p:sp>
        <p:nvSpPr>
          <p:cNvPr id="30" name="Text 28">
            <a:extLst>
              <a:ext uri="{FF2B5EF4-FFF2-40B4-BE49-F238E27FC236}">
                <a16:creationId xmlns:a16="http://schemas.microsoft.com/office/drawing/2014/main" id="{2F2BBF6F-BE70-77A5-7487-CC01C72459CC}"/>
              </a:ext>
            </a:extLst>
          </p:cNvPr>
          <p:cNvSpPr/>
          <p:nvPr/>
        </p:nvSpPr>
        <p:spPr>
          <a:xfrm>
            <a:off x="4572000" y="4663440"/>
            <a:ext cx="3017520" cy="822960"/>
          </a:xfrm>
          <a:prstGeom prst="rect">
            <a:avLst/>
          </a:prstGeom>
          <a:noFill/>
          <a:ln/>
        </p:spPr>
        <p:txBody>
          <a:bodyPr wrap="square" lIns="0" tIns="0" rIns="0" bIns="0" rtlCol="0" anchor="t"/>
          <a:lstStyle/>
          <a:p>
            <a:pPr marL="0" indent="0">
              <a:buNone/>
            </a:pPr>
            <a:r>
              <a:rPr lang="en-US" sz="2200">
                <a:solidFill>
                  <a:srgbClr val="1A1A1A"/>
                </a:solidFill>
                <a:latin typeface="Georgia" pitchFamily="34" charset="0"/>
                <a:ea typeface="Georgia" pitchFamily="34" charset="-122"/>
                <a:cs typeface="Georgia" pitchFamily="34" charset="-120"/>
              </a:rPr>
              <a:t>Everything arrives.</a:t>
            </a:r>
            <a:endParaRPr lang="en-US" sz="2200"/>
          </a:p>
        </p:txBody>
      </p:sp>
      <p:sp>
        <p:nvSpPr>
          <p:cNvPr id="31" name="Text 29">
            <a:extLst>
              <a:ext uri="{FF2B5EF4-FFF2-40B4-BE49-F238E27FC236}">
                <a16:creationId xmlns:a16="http://schemas.microsoft.com/office/drawing/2014/main" id="{D1735CE3-9CE7-9F15-69BA-403AC56A6063}"/>
              </a:ext>
            </a:extLst>
          </p:cNvPr>
          <p:cNvSpPr/>
          <p:nvPr/>
        </p:nvSpPr>
        <p:spPr>
          <a:xfrm>
            <a:off x="4572000" y="5486400"/>
            <a:ext cx="3017520" cy="640080"/>
          </a:xfrm>
          <a:prstGeom prst="rect">
            <a:avLst/>
          </a:prstGeom>
          <a:noFill/>
          <a:ln/>
        </p:spPr>
        <p:txBody>
          <a:bodyPr wrap="square" lIns="0" tIns="0" rIns="0" bIns="0" rtlCol="0" anchor="t"/>
          <a:lstStyle/>
          <a:p>
            <a:pPr marL="0" indent="0">
              <a:buNone/>
            </a:pPr>
            <a:r>
              <a:rPr lang="en-US" sz="1200">
                <a:solidFill>
                  <a:srgbClr val="6B6B6B"/>
                </a:solidFill>
                <a:latin typeface="Helvetica" pitchFamily="34" charset="0"/>
                <a:ea typeface="Helvetica" pitchFamily="34" charset="-122"/>
                <a:cs typeface="Helvetica" pitchFamily="34" charset="-120"/>
              </a:rPr>
              <a:t>Wine, flowers, board, candles. Together.</a:t>
            </a:r>
            <a:endParaRPr lang="en-US" sz="1200"/>
          </a:p>
        </p:txBody>
      </p:sp>
      <p:sp>
        <p:nvSpPr>
          <p:cNvPr id="32" name="Shape 30">
            <a:extLst>
              <a:ext uri="{FF2B5EF4-FFF2-40B4-BE49-F238E27FC236}">
                <a16:creationId xmlns:a16="http://schemas.microsoft.com/office/drawing/2014/main" id="{34D6A29F-ECD1-1A70-B97E-B9904EBA83E6}"/>
              </a:ext>
            </a:extLst>
          </p:cNvPr>
          <p:cNvSpPr/>
          <p:nvPr/>
        </p:nvSpPr>
        <p:spPr>
          <a:xfrm>
            <a:off x="4297680" y="6053328"/>
            <a:ext cx="3566160" cy="73152"/>
          </a:xfrm>
          <a:prstGeom prst="rect">
            <a:avLst/>
          </a:prstGeom>
          <a:solidFill>
            <a:srgbClr val="EB1700"/>
          </a:solidFill>
          <a:ln w="12700">
            <a:solidFill>
              <a:srgbClr val="EB1700"/>
            </a:solidFill>
            <a:prstDash val="solid"/>
          </a:ln>
        </p:spPr>
        <p:txBody>
          <a:bodyPr/>
          <a:lstStyle/>
          <a:p>
            <a:endParaRPr lang="en-US"/>
          </a:p>
        </p:txBody>
      </p:sp>
      <p:sp>
        <p:nvSpPr>
          <p:cNvPr id="33" name="Shape 31">
            <a:extLst>
              <a:ext uri="{FF2B5EF4-FFF2-40B4-BE49-F238E27FC236}">
                <a16:creationId xmlns:a16="http://schemas.microsoft.com/office/drawing/2014/main" id="{81DBFAE2-913A-6767-942A-1EC4FC94C8B0}"/>
              </a:ext>
            </a:extLst>
          </p:cNvPr>
          <p:cNvSpPr/>
          <p:nvPr/>
        </p:nvSpPr>
        <p:spPr>
          <a:xfrm>
            <a:off x="8046720" y="3794760"/>
            <a:ext cx="3566160" cy="2331720"/>
          </a:xfrm>
          <a:prstGeom prst="rect">
            <a:avLst/>
          </a:prstGeom>
          <a:solidFill>
            <a:srgbClr val="FFFFFF"/>
          </a:solidFill>
          <a:ln w="12700">
            <a:solidFill>
              <a:srgbClr val="E8E2DC"/>
            </a:solidFill>
            <a:prstDash val="solid"/>
          </a:ln>
          <a:effectLst>
            <a:outerShdw blurRad="101600" dist="25400" dir="5400000" algn="bl" rotWithShape="0">
              <a:srgbClr val="000000">
                <a:alpha val="5000"/>
              </a:srgbClr>
            </a:outerShdw>
          </a:effectLst>
        </p:spPr>
        <p:txBody>
          <a:bodyPr/>
          <a:lstStyle/>
          <a:p>
            <a:endParaRPr lang="en-US"/>
          </a:p>
        </p:txBody>
      </p:sp>
      <p:sp>
        <p:nvSpPr>
          <p:cNvPr id="34" name="Text 32">
            <a:extLst>
              <a:ext uri="{FF2B5EF4-FFF2-40B4-BE49-F238E27FC236}">
                <a16:creationId xmlns:a16="http://schemas.microsoft.com/office/drawing/2014/main" id="{4905E26F-A617-167D-2127-04C367DA121D}"/>
              </a:ext>
            </a:extLst>
          </p:cNvPr>
          <p:cNvSpPr/>
          <p:nvPr/>
        </p:nvSpPr>
        <p:spPr>
          <a:xfrm>
            <a:off x="8321040" y="3977640"/>
            <a:ext cx="914400" cy="365760"/>
          </a:xfrm>
          <a:prstGeom prst="rect">
            <a:avLst/>
          </a:prstGeom>
          <a:noFill/>
          <a:ln/>
        </p:spPr>
        <p:txBody>
          <a:bodyPr wrap="square" lIns="0" tIns="0" rIns="0" bIns="0" rtlCol="0" anchor="ctr"/>
          <a:lstStyle/>
          <a:p>
            <a:pPr marL="0" indent="0">
              <a:buNone/>
            </a:pPr>
            <a:r>
              <a:rPr lang="en-US" sz="1100" b="1" kern="0" spc="400">
                <a:solidFill>
                  <a:srgbClr val="EB1700"/>
                </a:solidFill>
                <a:latin typeface="Helvetica" pitchFamily="34" charset="0"/>
                <a:ea typeface="Helvetica" pitchFamily="34" charset="-122"/>
                <a:cs typeface="Helvetica" pitchFamily="34" charset="-120"/>
              </a:rPr>
              <a:t>06</a:t>
            </a:r>
            <a:endParaRPr lang="en-US" sz="1100"/>
          </a:p>
        </p:txBody>
      </p:sp>
      <p:sp>
        <p:nvSpPr>
          <p:cNvPr id="35" name="Text 33">
            <a:extLst>
              <a:ext uri="{FF2B5EF4-FFF2-40B4-BE49-F238E27FC236}">
                <a16:creationId xmlns:a16="http://schemas.microsoft.com/office/drawing/2014/main" id="{3D520489-51EB-D32E-AE54-FE0922424121}"/>
              </a:ext>
            </a:extLst>
          </p:cNvPr>
          <p:cNvSpPr/>
          <p:nvPr/>
        </p:nvSpPr>
        <p:spPr>
          <a:xfrm>
            <a:off x="10058400" y="3977640"/>
            <a:ext cx="1371600" cy="365760"/>
          </a:xfrm>
          <a:prstGeom prst="rect">
            <a:avLst/>
          </a:prstGeom>
          <a:noFill/>
          <a:ln/>
        </p:spPr>
        <p:txBody>
          <a:bodyPr wrap="square" lIns="0" tIns="0" rIns="0" bIns="0" rtlCol="0" anchor="ctr"/>
          <a:lstStyle/>
          <a:p>
            <a:pPr marL="0" indent="0" algn="r">
              <a:buNone/>
            </a:pPr>
            <a:r>
              <a:rPr lang="en-US" sz="1100">
                <a:solidFill>
                  <a:srgbClr val="6B6B6B"/>
                </a:solidFill>
                <a:latin typeface="Helvetica" pitchFamily="34" charset="0"/>
                <a:ea typeface="Helvetica" pitchFamily="34" charset="-122"/>
                <a:cs typeface="Helvetica" pitchFamily="34" charset="-120"/>
              </a:rPr>
              <a:t>Sat 8 PM</a:t>
            </a:r>
            <a:endParaRPr lang="en-US" sz="1100"/>
          </a:p>
        </p:txBody>
      </p:sp>
      <p:sp>
        <p:nvSpPr>
          <p:cNvPr id="36" name="Text 34">
            <a:extLst>
              <a:ext uri="{FF2B5EF4-FFF2-40B4-BE49-F238E27FC236}">
                <a16:creationId xmlns:a16="http://schemas.microsoft.com/office/drawing/2014/main" id="{F3AF42B3-25E4-A62C-7083-46E8FF309045}"/>
              </a:ext>
            </a:extLst>
          </p:cNvPr>
          <p:cNvSpPr/>
          <p:nvPr/>
        </p:nvSpPr>
        <p:spPr>
          <a:xfrm>
            <a:off x="8321040" y="4663440"/>
            <a:ext cx="3017520" cy="822960"/>
          </a:xfrm>
          <a:prstGeom prst="rect">
            <a:avLst/>
          </a:prstGeom>
          <a:noFill/>
          <a:ln/>
        </p:spPr>
        <p:txBody>
          <a:bodyPr wrap="square" lIns="0" tIns="0" rIns="0" bIns="0" rtlCol="0" anchor="t"/>
          <a:lstStyle/>
          <a:p>
            <a:pPr marL="0" indent="0">
              <a:buNone/>
            </a:pPr>
            <a:r>
              <a:rPr lang="en-US" sz="2200">
                <a:solidFill>
                  <a:srgbClr val="1A1A1A"/>
                </a:solidFill>
                <a:latin typeface="Georgia" pitchFamily="34" charset="0"/>
                <a:ea typeface="Georgia" pitchFamily="34" charset="-122"/>
                <a:cs typeface="Georgia" pitchFamily="34" charset="-120"/>
              </a:rPr>
              <a:t>She actually hosts.</a:t>
            </a:r>
            <a:endParaRPr lang="en-US" sz="2200"/>
          </a:p>
        </p:txBody>
      </p:sp>
      <p:sp>
        <p:nvSpPr>
          <p:cNvPr id="37" name="Text 35">
            <a:extLst>
              <a:ext uri="{FF2B5EF4-FFF2-40B4-BE49-F238E27FC236}">
                <a16:creationId xmlns:a16="http://schemas.microsoft.com/office/drawing/2014/main" id="{75C37DA8-2253-1EBD-2BEF-955BB0AE20EC}"/>
              </a:ext>
            </a:extLst>
          </p:cNvPr>
          <p:cNvSpPr/>
          <p:nvPr/>
        </p:nvSpPr>
        <p:spPr>
          <a:xfrm>
            <a:off x="8321040" y="5486400"/>
            <a:ext cx="3017520" cy="640080"/>
          </a:xfrm>
          <a:prstGeom prst="rect">
            <a:avLst/>
          </a:prstGeom>
          <a:noFill/>
          <a:ln/>
        </p:spPr>
        <p:txBody>
          <a:bodyPr wrap="square" lIns="0" tIns="0" rIns="0" bIns="0" rtlCol="0" anchor="t"/>
          <a:lstStyle/>
          <a:p>
            <a:pPr marL="0" indent="0">
              <a:buNone/>
            </a:pPr>
            <a:r>
              <a:rPr lang="en-US" sz="1200">
                <a:solidFill>
                  <a:srgbClr val="6B6B6B"/>
                </a:solidFill>
                <a:latin typeface="Helvetica" pitchFamily="34" charset="0"/>
                <a:ea typeface="Helvetica" pitchFamily="34" charset="-122"/>
                <a:cs typeface="Helvetica" pitchFamily="34" charset="-120"/>
              </a:rPr>
              <a:t>Six friends. One table. Zero stress.</a:t>
            </a:r>
            <a:endParaRPr lang="en-US" sz="1200"/>
          </a:p>
        </p:txBody>
      </p:sp>
      <p:sp>
        <p:nvSpPr>
          <p:cNvPr id="38" name="Shape 36">
            <a:extLst>
              <a:ext uri="{FF2B5EF4-FFF2-40B4-BE49-F238E27FC236}">
                <a16:creationId xmlns:a16="http://schemas.microsoft.com/office/drawing/2014/main" id="{E0C0A31D-CE12-3EE9-D486-1C6CEFDC9650}"/>
              </a:ext>
            </a:extLst>
          </p:cNvPr>
          <p:cNvSpPr/>
          <p:nvPr/>
        </p:nvSpPr>
        <p:spPr>
          <a:xfrm>
            <a:off x="8046720" y="6053328"/>
            <a:ext cx="3566160" cy="73152"/>
          </a:xfrm>
          <a:prstGeom prst="rect">
            <a:avLst/>
          </a:prstGeom>
          <a:solidFill>
            <a:srgbClr val="EB1700"/>
          </a:solidFill>
          <a:ln w="12700">
            <a:solidFill>
              <a:srgbClr val="EB1700"/>
            </a:solidFill>
            <a:prstDash val="solid"/>
          </a:ln>
        </p:spPr>
        <p:txBody>
          <a:bodyPr/>
          <a:lstStyle/>
          <a:p>
            <a:endParaRPr lang="en-US"/>
          </a:p>
        </p:txBody>
      </p:sp>
      <p:sp>
        <p:nvSpPr>
          <p:cNvPr id="39" name="Text 37">
            <a:extLst>
              <a:ext uri="{FF2B5EF4-FFF2-40B4-BE49-F238E27FC236}">
                <a16:creationId xmlns:a16="http://schemas.microsoft.com/office/drawing/2014/main" id="{EE98B4DF-A49A-B345-4DE1-FED2258A21AF}"/>
              </a:ext>
            </a:extLst>
          </p:cNvPr>
          <p:cNvSpPr/>
          <p:nvPr/>
        </p:nvSpPr>
        <p:spPr>
          <a:xfrm>
            <a:off x="731520" y="6446520"/>
            <a:ext cx="10698480" cy="365760"/>
          </a:xfrm>
          <a:prstGeom prst="rect">
            <a:avLst/>
          </a:prstGeom>
          <a:noFill/>
          <a:ln/>
        </p:spPr>
        <p:txBody>
          <a:bodyPr wrap="square" lIns="0" tIns="0" rIns="0" bIns="0" rtlCol="0" anchor="ctr"/>
          <a:lstStyle/>
          <a:p>
            <a:pPr marL="0" indent="0" algn="ctr">
              <a:buNone/>
            </a:pPr>
            <a:r>
              <a:rPr lang="en-US" sz="1600" i="1">
                <a:solidFill>
                  <a:srgbClr val="1A1A1A"/>
                </a:solidFill>
                <a:latin typeface="Georgia" pitchFamily="34" charset="0"/>
                <a:ea typeface="Georgia" pitchFamily="34" charset="-122"/>
                <a:cs typeface="Georgia" pitchFamily="34" charset="-120"/>
              </a:rPr>
              <a:t>Three minutes of planning. Saturday she's ready.</a:t>
            </a:r>
            <a:endParaRPr lang="en-US" sz="1600"/>
          </a:p>
        </p:txBody>
      </p:sp>
    </p:spTree>
    <p:extLst>
      <p:ext uri="{BB962C8B-B14F-4D97-AF65-F5344CB8AC3E}">
        <p14:creationId xmlns:p14="http://schemas.microsoft.com/office/powerpoint/2010/main" val="3035108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
    <p:bg>
      <p:bgPr>
        <a:solidFill>
          <a:srgbClr val="FFF8F3"/>
        </a:solidFill>
        <a:effectLst/>
      </p:bgPr>
    </p:bg>
    <p:spTree>
      <p:nvGrpSpPr>
        <p:cNvPr id="1" name=""/>
        <p:cNvGrpSpPr/>
        <p:nvPr/>
      </p:nvGrpSpPr>
      <p:grpSpPr>
        <a:xfrm>
          <a:off x="0" y="0"/>
          <a:ext cx="0" cy="0"/>
          <a:chOff x="0" y="0"/>
          <a:chExt cx="0" cy="0"/>
        </a:xfrm>
      </p:grpSpPr>
      <p:sp>
        <p:nvSpPr>
          <p:cNvPr id="2" name="Text 0"/>
          <p:cNvSpPr/>
          <p:nvPr/>
        </p:nvSpPr>
        <p:spPr>
          <a:xfrm>
            <a:off x="731520" y="640080"/>
            <a:ext cx="10698480" cy="365760"/>
          </a:xfrm>
          <a:prstGeom prst="rect">
            <a:avLst/>
          </a:prstGeom>
          <a:noFill/>
          <a:ln/>
        </p:spPr>
        <p:txBody>
          <a:bodyPr wrap="square" lIns="0" tIns="0" rIns="0" bIns="0" rtlCol="0" anchor="ctr"/>
          <a:lstStyle/>
          <a:p>
            <a:pPr marL="0" indent="0">
              <a:buNone/>
            </a:pPr>
            <a:r>
              <a:rPr lang="en-US" sz="1100" b="1" kern="0" spc="800">
                <a:solidFill>
                  <a:srgbClr val="EB1700"/>
                </a:solidFill>
                <a:latin typeface="Helvetica" pitchFamily="34" charset="0"/>
                <a:ea typeface="Helvetica" pitchFamily="34" charset="-122"/>
                <a:cs typeface="Helvetica" pitchFamily="34" charset="-120"/>
              </a:rPr>
              <a:t>THE BET</a:t>
            </a:r>
            <a:endParaRPr lang="en-US" sz="1100"/>
          </a:p>
        </p:txBody>
      </p:sp>
      <p:sp>
        <p:nvSpPr>
          <p:cNvPr id="3" name="Text 1"/>
          <p:cNvSpPr/>
          <p:nvPr/>
        </p:nvSpPr>
        <p:spPr>
          <a:xfrm>
            <a:off x="731520" y="1280160"/>
            <a:ext cx="10698480" cy="2011680"/>
          </a:xfrm>
          <a:prstGeom prst="rect">
            <a:avLst/>
          </a:prstGeom>
          <a:noFill/>
          <a:ln/>
        </p:spPr>
        <p:txBody>
          <a:bodyPr wrap="square" lIns="0" tIns="0" rIns="0" bIns="0" rtlCol="0" anchor="ctr"/>
          <a:lstStyle/>
          <a:p>
            <a:r>
              <a:rPr lang="en-US" sz="2400">
                <a:solidFill>
                  <a:srgbClr val="1A1A1A"/>
                </a:solidFill>
                <a:latin typeface="Helvetica"/>
                <a:ea typeface="+mn-lt"/>
                <a:cs typeface="Helvetica"/>
              </a:rPr>
              <a:t>Live your best life and let us handle the rest - </a:t>
            </a:r>
            <a:endParaRPr lang="en-US" sz="2400">
              <a:solidFill>
                <a:srgbClr val="000000"/>
              </a:solidFill>
              <a:latin typeface="Helvetica"/>
              <a:ea typeface="+mn-lt"/>
              <a:cs typeface="Helvetica"/>
            </a:endParaRPr>
          </a:p>
          <a:p>
            <a:r>
              <a:rPr lang="en-US" sz="2400">
                <a:solidFill>
                  <a:srgbClr val="1A1A1A"/>
                </a:solidFill>
                <a:latin typeface="Helvetica"/>
                <a:ea typeface="+mn-lt"/>
                <a:cs typeface="Helvetica"/>
              </a:rPr>
              <a:t>tell us your mission, and we'll supply your fest!</a:t>
            </a:r>
            <a:endParaRPr lang="en-US" sz="2400">
              <a:solidFill>
                <a:srgbClr val="000000"/>
              </a:solidFill>
              <a:latin typeface="Helvetica"/>
              <a:ea typeface="+mn-lt"/>
              <a:cs typeface="Helvetica"/>
            </a:endParaRPr>
          </a:p>
          <a:p>
            <a:r>
              <a:rPr lang="en-US" sz="2400">
                <a:solidFill>
                  <a:srgbClr val="1A1A1A"/>
                </a:solidFill>
                <a:latin typeface="Helvetica"/>
                <a:ea typeface="+mn-lt"/>
                <a:cs typeface="Helvetica"/>
              </a:rPr>
              <a:t>Host with quality you can trust and luxuriate in the time you've earned back.</a:t>
            </a:r>
            <a:endParaRPr lang="en-US" sz="2400">
              <a:latin typeface="Helvetica"/>
              <a:ea typeface="Calibri"/>
              <a:cs typeface="Helvetica"/>
            </a:endParaRPr>
          </a:p>
        </p:txBody>
      </p:sp>
      <p:sp>
        <p:nvSpPr>
          <p:cNvPr id="4" name="Shape 2"/>
          <p:cNvSpPr/>
          <p:nvPr/>
        </p:nvSpPr>
        <p:spPr>
          <a:xfrm>
            <a:off x="731520" y="4023360"/>
            <a:ext cx="548640" cy="0"/>
          </a:xfrm>
          <a:prstGeom prst="line">
            <a:avLst/>
          </a:prstGeom>
          <a:noFill/>
          <a:ln w="38100">
            <a:solidFill>
              <a:srgbClr val="EB1700"/>
            </a:solidFill>
            <a:prstDash val="solid"/>
          </a:ln>
        </p:spPr>
        <p:txBody>
          <a:bodyPr/>
          <a:lstStyle/>
          <a:p>
            <a:endParaRPr lang="en-US"/>
          </a:p>
        </p:txBody>
      </p:sp>
      <p:sp>
        <p:nvSpPr>
          <p:cNvPr id="5" name="Text 3"/>
          <p:cNvSpPr/>
          <p:nvPr/>
        </p:nvSpPr>
        <p:spPr>
          <a:xfrm>
            <a:off x="731520" y="4206240"/>
            <a:ext cx="5029200" cy="640080"/>
          </a:xfrm>
          <a:prstGeom prst="rect">
            <a:avLst/>
          </a:prstGeom>
          <a:noFill/>
          <a:ln/>
        </p:spPr>
        <p:txBody>
          <a:bodyPr wrap="square" lIns="0" tIns="0" rIns="0" bIns="0" rtlCol="0" anchor="ctr"/>
          <a:lstStyle/>
          <a:p>
            <a:pPr marL="0" indent="0">
              <a:buNone/>
            </a:pPr>
            <a:r>
              <a:rPr lang="en-US" sz="2800">
                <a:solidFill>
                  <a:srgbClr val="EB1700"/>
                </a:solidFill>
                <a:latin typeface="Georgia" pitchFamily="34" charset="0"/>
                <a:ea typeface="Georgia" pitchFamily="34" charset="-122"/>
                <a:cs typeface="Georgia" pitchFamily="34" charset="-120"/>
              </a:rPr>
              <a:t>Mission Intelligence.</a:t>
            </a:r>
            <a:endParaRPr lang="en-US" sz="2800"/>
          </a:p>
        </p:txBody>
      </p:sp>
      <p:sp>
        <p:nvSpPr>
          <p:cNvPr id="6" name="Text 4"/>
          <p:cNvSpPr/>
          <p:nvPr/>
        </p:nvSpPr>
        <p:spPr>
          <a:xfrm>
            <a:off x="731520" y="4937760"/>
            <a:ext cx="5029200" cy="914400"/>
          </a:xfrm>
          <a:prstGeom prst="rect">
            <a:avLst/>
          </a:prstGeom>
          <a:noFill/>
          <a:ln/>
        </p:spPr>
        <p:txBody>
          <a:bodyPr wrap="square" lIns="0" tIns="0" rIns="0" bIns="0" rtlCol="0" anchor="t"/>
          <a:lstStyle/>
          <a:p>
            <a:pPr marL="0" indent="0">
              <a:buNone/>
            </a:pPr>
            <a:r>
              <a:rPr lang="en-US" sz="1500">
                <a:solidFill>
                  <a:srgbClr val="1A1A1A"/>
                </a:solidFill>
                <a:latin typeface="Helvetica" pitchFamily="34" charset="0"/>
                <a:ea typeface="Helvetica" pitchFamily="34" charset="-122"/>
                <a:cs typeface="Helvetica" pitchFamily="34" charset="-120"/>
              </a:rPr>
              <a:t>Order data tells us what. Mission data tells us why.</a:t>
            </a:r>
            <a:endParaRPr lang="en-US" sz="1500"/>
          </a:p>
        </p:txBody>
      </p:sp>
      <p:sp>
        <p:nvSpPr>
          <p:cNvPr id="7" name="Shape 5"/>
          <p:cNvSpPr/>
          <p:nvPr/>
        </p:nvSpPr>
        <p:spPr>
          <a:xfrm>
            <a:off x="6400800" y="4023360"/>
            <a:ext cx="548640" cy="0"/>
          </a:xfrm>
          <a:prstGeom prst="line">
            <a:avLst/>
          </a:prstGeom>
          <a:noFill/>
          <a:ln w="38100">
            <a:solidFill>
              <a:srgbClr val="EB1700"/>
            </a:solidFill>
            <a:prstDash val="solid"/>
          </a:ln>
        </p:spPr>
        <p:txBody>
          <a:bodyPr/>
          <a:lstStyle/>
          <a:p>
            <a:endParaRPr lang="en-US"/>
          </a:p>
        </p:txBody>
      </p:sp>
      <p:sp>
        <p:nvSpPr>
          <p:cNvPr id="8" name="Text 6"/>
          <p:cNvSpPr/>
          <p:nvPr/>
        </p:nvSpPr>
        <p:spPr>
          <a:xfrm>
            <a:off x="6400800" y="4206240"/>
            <a:ext cx="5029200" cy="640080"/>
          </a:xfrm>
          <a:prstGeom prst="rect">
            <a:avLst/>
          </a:prstGeom>
          <a:noFill/>
          <a:ln/>
        </p:spPr>
        <p:txBody>
          <a:bodyPr wrap="square" lIns="0" tIns="0" rIns="0" bIns="0" rtlCol="0" anchor="ctr"/>
          <a:lstStyle/>
          <a:p>
            <a:pPr marL="0" indent="0">
              <a:buNone/>
            </a:pPr>
            <a:r>
              <a:rPr lang="en-US" sz="2800">
                <a:solidFill>
                  <a:srgbClr val="EB1700"/>
                </a:solidFill>
                <a:latin typeface="Georgia" pitchFamily="34" charset="0"/>
                <a:ea typeface="Georgia" pitchFamily="34" charset="-122"/>
                <a:cs typeface="Georgia" pitchFamily="34" charset="-120"/>
              </a:rPr>
              <a:t>Trust.</a:t>
            </a:r>
            <a:endParaRPr lang="en-US" sz="2800"/>
          </a:p>
        </p:txBody>
      </p:sp>
      <p:sp>
        <p:nvSpPr>
          <p:cNvPr id="9" name="Text 7"/>
          <p:cNvSpPr/>
          <p:nvPr/>
        </p:nvSpPr>
        <p:spPr>
          <a:xfrm>
            <a:off x="6400800" y="4937760"/>
            <a:ext cx="5029200" cy="914400"/>
          </a:xfrm>
          <a:prstGeom prst="rect">
            <a:avLst/>
          </a:prstGeom>
          <a:noFill/>
          <a:ln/>
        </p:spPr>
        <p:txBody>
          <a:bodyPr wrap="square" lIns="0" tIns="0" rIns="0" bIns="0" rtlCol="0" anchor="t"/>
          <a:lstStyle/>
          <a:p>
            <a:pPr marL="0" indent="0">
              <a:buNone/>
            </a:pPr>
            <a:r>
              <a:rPr lang="en-US" sz="1500">
                <a:solidFill>
                  <a:srgbClr val="1A1A1A"/>
                </a:solidFill>
                <a:latin typeface="Helvetica" pitchFamily="34" charset="0"/>
                <a:ea typeface="Helvetica" pitchFamily="34" charset="-122"/>
                <a:cs typeface="Helvetica" pitchFamily="34" charset="-120"/>
              </a:rPr>
              <a:t>Reliable missions earn the next hand-off.</a:t>
            </a:r>
            <a:endParaRPr lang="en-US" sz="1500"/>
          </a:p>
        </p:txBody>
      </p:sp>
      <p:sp>
        <p:nvSpPr>
          <p:cNvPr id="10" name="Text 8"/>
          <p:cNvSpPr/>
          <p:nvPr/>
        </p:nvSpPr>
        <p:spPr>
          <a:xfrm>
            <a:off x="731520" y="6126480"/>
            <a:ext cx="10698480" cy="365760"/>
          </a:xfrm>
          <a:prstGeom prst="rect">
            <a:avLst/>
          </a:prstGeom>
          <a:noFill/>
          <a:ln/>
        </p:spPr>
        <p:txBody>
          <a:bodyPr wrap="square" lIns="0" tIns="0" rIns="0" bIns="0" rtlCol="0" anchor="ctr"/>
          <a:lstStyle/>
          <a:p>
            <a:pPr marL="0" indent="0" algn="ctr">
              <a:buNone/>
            </a:pPr>
            <a:r>
              <a:rPr lang="en-US" sz="1400" i="1">
                <a:solidFill>
                  <a:srgbClr val="6B6B6B"/>
                </a:solidFill>
                <a:latin typeface="Georgia" pitchFamily="34" charset="0"/>
                <a:ea typeface="Georgia" pitchFamily="34" charset="-122"/>
                <a:cs typeface="Georgia" pitchFamily="34" charset="-120"/>
              </a:rPr>
              <a:t>Both compound. Both feed more missions completed on DoorDash.</a:t>
            </a:r>
            <a:endParaRPr lang="en-US" sz="1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FFF8F3"/>
        </a:solidFill>
        <a:effectLst/>
      </p:bgPr>
    </p:bg>
    <p:spTree>
      <p:nvGrpSpPr>
        <p:cNvPr id="1" name=""/>
        <p:cNvGrpSpPr/>
        <p:nvPr/>
      </p:nvGrpSpPr>
      <p:grpSpPr>
        <a:xfrm>
          <a:off x="0" y="0"/>
          <a:ext cx="0" cy="0"/>
          <a:chOff x="0" y="0"/>
          <a:chExt cx="0" cy="0"/>
        </a:xfrm>
      </p:grpSpPr>
      <p:sp>
        <p:nvSpPr>
          <p:cNvPr id="2" name="Text 0"/>
          <p:cNvSpPr/>
          <p:nvPr/>
        </p:nvSpPr>
        <p:spPr>
          <a:xfrm>
            <a:off x="731520" y="191845"/>
            <a:ext cx="10698480" cy="365760"/>
          </a:xfrm>
          <a:prstGeom prst="rect">
            <a:avLst/>
          </a:prstGeom>
          <a:noFill/>
          <a:ln/>
        </p:spPr>
        <p:txBody>
          <a:bodyPr wrap="square" lIns="0" tIns="0" rIns="0" bIns="0" rtlCol="0" anchor="ctr"/>
          <a:lstStyle/>
          <a:p>
            <a:pPr marL="0" indent="0">
              <a:buNone/>
            </a:pPr>
            <a:r>
              <a:rPr lang="en-US" sz="1100" b="1" kern="0" spc="600">
                <a:solidFill>
                  <a:srgbClr val="EB1700"/>
                </a:solidFill>
                <a:latin typeface="Helvetica" pitchFamily="34" charset="0"/>
                <a:ea typeface="Helvetica" pitchFamily="34" charset="-122"/>
                <a:cs typeface="Helvetica" pitchFamily="34" charset="-120"/>
              </a:rPr>
              <a:t>ONE TAP. ONE CART. ONE HOST WHO ACTUALLY HOSTS.</a:t>
            </a:r>
            <a:endParaRPr lang="en-US" sz="1100"/>
          </a:p>
        </p:txBody>
      </p:sp>
      <p:sp>
        <p:nvSpPr>
          <p:cNvPr id="39" name="Text 37"/>
          <p:cNvSpPr/>
          <p:nvPr/>
        </p:nvSpPr>
        <p:spPr>
          <a:xfrm>
            <a:off x="731520" y="6289638"/>
            <a:ext cx="10698480" cy="365760"/>
          </a:xfrm>
          <a:prstGeom prst="rect">
            <a:avLst/>
          </a:prstGeom>
          <a:noFill/>
          <a:ln/>
        </p:spPr>
        <p:txBody>
          <a:bodyPr wrap="square" lIns="0" tIns="0" rIns="0" bIns="0" rtlCol="0" anchor="ctr"/>
          <a:lstStyle/>
          <a:p>
            <a:pPr marL="0" indent="0" algn="ctr">
              <a:buNone/>
            </a:pPr>
            <a:r>
              <a:rPr lang="en-US" sz="1600" i="1">
                <a:solidFill>
                  <a:srgbClr val="1A1A1A"/>
                </a:solidFill>
                <a:latin typeface="Georgia" pitchFamily="34" charset="0"/>
                <a:ea typeface="Georgia" pitchFamily="34" charset="-122"/>
                <a:cs typeface="Georgia" pitchFamily="34" charset="-120"/>
              </a:rPr>
              <a:t>Three minutes of planning. Saturday she's ready.</a:t>
            </a:r>
            <a:endParaRPr lang="en-US" sz="1600"/>
          </a:p>
        </p:txBody>
      </p:sp>
      <p:pic>
        <p:nvPicPr>
          <p:cNvPr id="40" name="Picture 39" descr="A person looking at a book&#10;&#10;AI-generated content may be incorrect.">
            <a:extLst>
              <a:ext uri="{FF2B5EF4-FFF2-40B4-BE49-F238E27FC236}">
                <a16:creationId xmlns:a16="http://schemas.microsoft.com/office/drawing/2014/main" id="{BA46E95A-4919-E45E-6D35-307E30272F64}"/>
              </a:ext>
            </a:extLst>
          </p:cNvPr>
          <p:cNvPicPr>
            <a:picLocks noChangeAspect="1"/>
          </p:cNvPicPr>
          <p:nvPr/>
        </p:nvPicPr>
        <p:blipFill>
          <a:blip r:embed="rId3"/>
          <a:stretch>
            <a:fillRect/>
          </a:stretch>
        </p:blipFill>
        <p:spPr>
          <a:xfrm>
            <a:off x="728383" y="575668"/>
            <a:ext cx="10040471" cy="570666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FFF8F3"/>
        </a:solidFill>
        <a:effectLst/>
      </p:bgPr>
    </p:bg>
    <p:spTree>
      <p:nvGrpSpPr>
        <p:cNvPr id="1" name=""/>
        <p:cNvGrpSpPr/>
        <p:nvPr/>
      </p:nvGrpSpPr>
      <p:grpSpPr>
        <a:xfrm>
          <a:off x="0" y="0"/>
          <a:ext cx="0" cy="0"/>
          <a:chOff x="0" y="0"/>
          <a:chExt cx="0" cy="0"/>
        </a:xfrm>
      </p:grpSpPr>
      <p:sp>
        <p:nvSpPr>
          <p:cNvPr id="2" name="Text 0"/>
          <p:cNvSpPr/>
          <p:nvPr/>
        </p:nvSpPr>
        <p:spPr>
          <a:xfrm>
            <a:off x="731520" y="1371600"/>
            <a:ext cx="5486400" cy="548640"/>
          </a:xfrm>
          <a:prstGeom prst="rect">
            <a:avLst/>
          </a:prstGeom>
          <a:noFill/>
          <a:ln/>
        </p:spPr>
        <p:txBody>
          <a:bodyPr wrap="square" lIns="0" tIns="0" rIns="0" bIns="0" rtlCol="0" anchor="ctr"/>
          <a:lstStyle/>
          <a:p>
            <a:pPr marL="0" indent="0">
              <a:buNone/>
            </a:pPr>
            <a:r>
              <a:rPr lang="en-US" sz="1600" i="1">
                <a:solidFill>
                  <a:srgbClr val="6B6B6B"/>
                </a:solidFill>
                <a:latin typeface="Georgia" pitchFamily="34" charset="0"/>
                <a:ea typeface="Georgia" pitchFamily="34" charset="-122"/>
                <a:cs typeface="Georgia" pitchFamily="34" charset="-120"/>
              </a:rPr>
              <a:t>Meet</a:t>
            </a:r>
            <a:endParaRPr lang="en-US" sz="1600"/>
          </a:p>
        </p:txBody>
      </p:sp>
      <p:sp>
        <p:nvSpPr>
          <p:cNvPr id="3" name="Text 1"/>
          <p:cNvSpPr/>
          <p:nvPr/>
        </p:nvSpPr>
        <p:spPr>
          <a:xfrm>
            <a:off x="731520" y="1828800"/>
            <a:ext cx="6400800" cy="1828800"/>
          </a:xfrm>
          <a:prstGeom prst="rect">
            <a:avLst/>
          </a:prstGeom>
          <a:noFill/>
          <a:ln/>
        </p:spPr>
        <p:txBody>
          <a:bodyPr wrap="square" lIns="0" tIns="0" rIns="0" bIns="0" rtlCol="0" anchor="ctr"/>
          <a:lstStyle/>
          <a:p>
            <a:pPr marL="0" indent="0">
              <a:buNone/>
            </a:pPr>
            <a:r>
              <a:rPr lang="en-US" sz="12000">
                <a:solidFill>
                  <a:srgbClr val="1A1A1A"/>
                </a:solidFill>
                <a:latin typeface="Georgia" pitchFamily="34" charset="0"/>
                <a:ea typeface="Georgia" pitchFamily="34" charset="-122"/>
                <a:cs typeface="Georgia" pitchFamily="34" charset="-120"/>
              </a:rPr>
              <a:t>Maya.</a:t>
            </a:r>
            <a:endParaRPr lang="en-US" sz="12000"/>
          </a:p>
        </p:txBody>
      </p:sp>
      <p:sp>
        <p:nvSpPr>
          <p:cNvPr id="4" name="Text 2"/>
          <p:cNvSpPr/>
          <p:nvPr/>
        </p:nvSpPr>
        <p:spPr>
          <a:xfrm>
            <a:off x="731520" y="4206240"/>
            <a:ext cx="8229600" cy="457200"/>
          </a:xfrm>
          <a:prstGeom prst="rect">
            <a:avLst/>
          </a:prstGeom>
          <a:noFill/>
          <a:ln/>
        </p:spPr>
        <p:txBody>
          <a:bodyPr wrap="square" lIns="0" tIns="0" rIns="0" bIns="0" rtlCol="0" anchor="ctr"/>
          <a:lstStyle/>
          <a:p>
            <a:pPr marL="0" indent="0">
              <a:buNone/>
            </a:pPr>
            <a:r>
              <a:rPr lang="en-US" sz="1600">
                <a:solidFill>
                  <a:srgbClr val="6B6B6B"/>
                </a:solidFill>
                <a:latin typeface="Helvetica" pitchFamily="34" charset="0"/>
                <a:ea typeface="Helvetica" pitchFamily="34" charset="-122"/>
                <a:cs typeface="Helvetica" pitchFamily="34" charset="-120"/>
              </a:rPr>
              <a:t>Same second-year MBA. Same E2 apartment. Same Saturday.</a:t>
            </a:r>
            <a:endParaRPr lang="en-US" sz="1600"/>
          </a:p>
        </p:txBody>
      </p:sp>
      <p:sp>
        <p:nvSpPr>
          <p:cNvPr id="5" name="Text 3"/>
          <p:cNvSpPr/>
          <p:nvPr/>
        </p:nvSpPr>
        <p:spPr>
          <a:xfrm>
            <a:off x="731520" y="4754880"/>
            <a:ext cx="8229600" cy="457200"/>
          </a:xfrm>
          <a:prstGeom prst="rect">
            <a:avLst/>
          </a:prstGeom>
          <a:noFill/>
          <a:ln/>
        </p:spPr>
        <p:txBody>
          <a:bodyPr wrap="square" lIns="0" tIns="0" rIns="0" bIns="0" rtlCol="0" anchor="ctr"/>
          <a:lstStyle/>
          <a:p>
            <a:pPr marL="0" indent="0">
              <a:buNone/>
            </a:pPr>
            <a:r>
              <a:rPr lang="en-US" sz="1600" i="1">
                <a:solidFill>
                  <a:srgbClr val="EB1700"/>
                </a:solidFill>
                <a:latin typeface="Helvetica" pitchFamily="34" charset="0"/>
                <a:ea typeface="Helvetica" pitchFamily="34" charset="-122"/>
                <a:cs typeface="Helvetica" pitchFamily="34" charset="-120"/>
              </a:rPr>
              <a:t>This time, she actually hosts.</a:t>
            </a:r>
            <a:endParaRPr lang="en-US" sz="1600"/>
          </a:p>
        </p:txBody>
      </p:sp>
      <p:sp>
        <p:nvSpPr>
          <p:cNvPr id="6" name="Text 4"/>
          <p:cNvSpPr/>
          <p:nvPr/>
        </p:nvSpPr>
        <p:spPr>
          <a:xfrm>
            <a:off x="731520" y="5394960"/>
            <a:ext cx="10058400" cy="365760"/>
          </a:xfrm>
          <a:prstGeom prst="rect">
            <a:avLst/>
          </a:prstGeom>
          <a:noFill/>
          <a:ln/>
        </p:spPr>
        <p:txBody>
          <a:bodyPr wrap="square" lIns="0" tIns="0" rIns="0" bIns="0" rtlCol="0" anchor="ctr"/>
          <a:lstStyle/>
          <a:p>
            <a:pPr marL="0" indent="0">
              <a:buNone/>
            </a:pPr>
            <a:r>
              <a:rPr lang="en-US" sz="1300" b="1">
                <a:solidFill>
                  <a:srgbClr val="1A1A1A"/>
                </a:solidFill>
                <a:latin typeface="Helvetica" pitchFamily="34" charset="0"/>
                <a:ea typeface="Helvetica" pitchFamily="34" charset="-122"/>
                <a:cs typeface="Helvetica" pitchFamily="34" charset="-120"/>
              </a:rPr>
              <a:t>Confidence level: 9/10. Wine in fridge: 6 bottles. Cart in hand: 1.</a:t>
            </a:r>
            <a:endParaRPr lang="en-US" sz="1300"/>
          </a:p>
        </p:txBody>
      </p:sp>
      <p:sp>
        <p:nvSpPr>
          <p:cNvPr id="7" name="Shape 5"/>
          <p:cNvSpPr/>
          <p:nvPr/>
        </p:nvSpPr>
        <p:spPr>
          <a:xfrm>
            <a:off x="8961120" y="2011680"/>
            <a:ext cx="2560320" cy="2560320"/>
          </a:xfrm>
          <a:prstGeom prst="ellipse">
            <a:avLst/>
          </a:prstGeom>
          <a:solidFill>
            <a:srgbClr val="EB1700"/>
          </a:solidFill>
          <a:ln w="12700">
            <a:solidFill>
              <a:srgbClr val="EB1700"/>
            </a:solidFill>
            <a:prstDash val="solid"/>
          </a:ln>
        </p:spPr>
        <p:txBody>
          <a:bodyPr/>
          <a:lstStyle/>
          <a:p>
            <a:endParaRPr lang="en-US"/>
          </a:p>
        </p:txBody>
      </p:sp>
      <p:sp>
        <p:nvSpPr>
          <p:cNvPr id="8" name="Text 6"/>
          <p:cNvSpPr/>
          <p:nvPr/>
        </p:nvSpPr>
        <p:spPr>
          <a:xfrm>
            <a:off x="8961120" y="2011680"/>
            <a:ext cx="2560320" cy="2560320"/>
          </a:xfrm>
          <a:prstGeom prst="rect">
            <a:avLst/>
          </a:prstGeom>
          <a:noFill/>
          <a:ln/>
        </p:spPr>
        <p:txBody>
          <a:bodyPr wrap="square" lIns="0" tIns="0" rIns="0" bIns="0" rtlCol="0" anchor="ctr"/>
          <a:lstStyle/>
          <a:p>
            <a:pPr marL="0" indent="0" algn="ctr">
              <a:buNone/>
            </a:pPr>
            <a:r>
              <a:rPr lang="en-US" sz="14000">
                <a:solidFill>
                  <a:srgbClr val="FFFFFF"/>
                </a:solidFill>
                <a:latin typeface="Georgia" pitchFamily="34" charset="0"/>
                <a:ea typeface="Georgia" pitchFamily="34" charset="-122"/>
                <a:cs typeface="Georgia" pitchFamily="34" charset="-120"/>
              </a:rPr>
              <a:t>M</a:t>
            </a:r>
            <a:endParaRPr lang="en-US" sz="14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bg>
      <p:bgPr>
        <a:solidFill>
          <a:srgbClr val="EB1700"/>
        </a:solidFill>
        <a:effectLst/>
      </p:bgPr>
    </p:bg>
    <p:spTree>
      <p:nvGrpSpPr>
        <p:cNvPr id="1" name=""/>
        <p:cNvGrpSpPr/>
        <p:nvPr/>
      </p:nvGrpSpPr>
      <p:grpSpPr>
        <a:xfrm>
          <a:off x="0" y="0"/>
          <a:ext cx="0" cy="0"/>
          <a:chOff x="0" y="0"/>
          <a:chExt cx="0" cy="0"/>
        </a:xfrm>
      </p:grpSpPr>
      <p:sp>
        <p:nvSpPr>
          <p:cNvPr id="2" name="Text 0"/>
          <p:cNvSpPr/>
          <p:nvPr/>
        </p:nvSpPr>
        <p:spPr>
          <a:xfrm>
            <a:off x="731520" y="640080"/>
            <a:ext cx="10698480" cy="365760"/>
          </a:xfrm>
          <a:prstGeom prst="rect">
            <a:avLst/>
          </a:prstGeom>
          <a:noFill/>
          <a:ln/>
        </p:spPr>
        <p:txBody>
          <a:bodyPr wrap="square" lIns="0" tIns="0" rIns="0" bIns="0" rtlCol="0" anchor="ctr"/>
          <a:lstStyle/>
          <a:p>
            <a:pPr marL="0" indent="0">
              <a:buNone/>
            </a:pPr>
            <a:r>
              <a:rPr lang="en-US" sz="1100" b="1" kern="0" spc="800">
                <a:solidFill>
                  <a:srgbClr val="FFFFFF"/>
                </a:solidFill>
                <a:latin typeface="Helvetica" pitchFamily="34" charset="0"/>
                <a:ea typeface="Helvetica" pitchFamily="34" charset="-122"/>
                <a:cs typeface="Helvetica" pitchFamily="34" charset="-120"/>
              </a:rPr>
              <a:t>DOORDASH</a:t>
            </a:r>
            <a:endParaRPr lang="en-US" sz="1100"/>
          </a:p>
        </p:txBody>
      </p:sp>
      <p:sp>
        <p:nvSpPr>
          <p:cNvPr id="3" name="Text 1"/>
          <p:cNvSpPr/>
          <p:nvPr/>
        </p:nvSpPr>
        <p:spPr>
          <a:xfrm>
            <a:off x="731520" y="1463040"/>
            <a:ext cx="10698480" cy="4389120"/>
          </a:xfrm>
          <a:prstGeom prst="rect">
            <a:avLst/>
          </a:prstGeom>
          <a:noFill/>
          <a:ln/>
        </p:spPr>
        <p:txBody>
          <a:bodyPr wrap="square" lIns="0" tIns="0" rIns="0" bIns="0" rtlCol="0" anchor="t"/>
          <a:lstStyle/>
          <a:p>
            <a:pPr marL="0" indent="0">
              <a:buNone/>
            </a:pPr>
            <a:r>
              <a:rPr lang="en-US" sz="6400">
                <a:solidFill>
                  <a:srgbClr val="FFFFFF"/>
                </a:solidFill>
                <a:latin typeface="Georgia" pitchFamily="34" charset="0"/>
                <a:ea typeface="Georgia" pitchFamily="34" charset="-122"/>
                <a:cs typeface="Georgia" pitchFamily="34" charset="-120"/>
              </a:rPr>
              <a:t>From delivering</a:t>
            </a:r>
            <a:endParaRPr lang="en-US" sz="6400"/>
          </a:p>
          <a:p>
            <a:pPr marL="0" indent="0">
              <a:buNone/>
            </a:pPr>
            <a:r>
              <a:rPr lang="en-US" sz="6400">
                <a:solidFill>
                  <a:srgbClr val="FFFFFF"/>
                </a:solidFill>
                <a:latin typeface="Georgia" pitchFamily="34" charset="0"/>
                <a:ea typeface="Georgia" pitchFamily="34" charset="-122"/>
                <a:cs typeface="Georgia" pitchFamily="34" charset="-120"/>
              </a:rPr>
              <a:t>the parts</a:t>
            </a:r>
            <a:endParaRPr lang="en-US" sz="6400"/>
          </a:p>
          <a:p>
            <a:pPr marL="0" indent="0">
              <a:buNone/>
            </a:pPr>
            <a:r>
              <a:rPr lang="en-US" sz="6400">
                <a:solidFill>
                  <a:srgbClr val="FFFFFF"/>
                </a:solidFill>
                <a:latin typeface="Georgia" pitchFamily="34" charset="0"/>
                <a:ea typeface="Georgia" pitchFamily="34" charset="-122"/>
                <a:cs typeface="Georgia" pitchFamily="34" charset="-120"/>
              </a:rPr>
              <a:t>to orchestrating</a:t>
            </a:r>
            <a:endParaRPr lang="en-US" sz="6400"/>
          </a:p>
          <a:p>
            <a:r>
              <a:rPr lang="en-US" sz="6400">
                <a:solidFill>
                  <a:srgbClr val="FFFFFF"/>
                </a:solidFill>
                <a:latin typeface="Georgia"/>
                <a:ea typeface="Georgia" pitchFamily="34" charset="-122"/>
                <a:cs typeface="Georgia" pitchFamily="34" charset="-120"/>
              </a:rPr>
              <a:t>your event.</a:t>
            </a:r>
            <a:endParaRPr lang="en-US" sz="6400">
              <a:latin typeface="Georgia"/>
              <a:ea typeface="Calibri" panose="020F0502020204030204"/>
              <a:cs typeface="Calibri" panose="020F0502020204030204"/>
            </a:endParaRPr>
          </a:p>
        </p:txBody>
      </p:sp>
      <p:sp>
        <p:nvSpPr>
          <p:cNvPr id="4" name="Text 2"/>
          <p:cNvSpPr/>
          <p:nvPr/>
        </p:nvSpPr>
        <p:spPr>
          <a:xfrm>
            <a:off x="731520" y="6355080"/>
            <a:ext cx="10698480" cy="274320"/>
          </a:xfrm>
          <a:prstGeom prst="rect">
            <a:avLst/>
          </a:prstGeom>
          <a:noFill/>
          <a:ln/>
        </p:spPr>
        <p:txBody>
          <a:bodyPr wrap="square" lIns="0" tIns="0" rIns="0" bIns="0" rtlCol="0" anchor="ctr"/>
          <a:lstStyle/>
          <a:p>
            <a:r>
              <a:rPr lang="en-US" sz="1000" kern="0" spc="400">
                <a:solidFill>
                  <a:srgbClr val="FFFFFF"/>
                </a:solidFill>
                <a:latin typeface="Helvetica"/>
                <a:ea typeface="Helvetica" pitchFamily="34" charset="-122"/>
                <a:cs typeface="Helvetica"/>
              </a:rPr>
              <a:t>Team Mission A  /  </a:t>
            </a:r>
            <a:r>
              <a:rPr lang="en-US" sz="1000" kern="0" spc="400" err="1">
                <a:solidFill>
                  <a:srgbClr val="FFFFFF"/>
                </a:solidFill>
                <a:latin typeface="Helvetica"/>
                <a:ea typeface="Helvetica" pitchFamily="34" charset="-122"/>
                <a:cs typeface="Helvetica"/>
              </a:rPr>
              <a:t>MBAi</a:t>
            </a:r>
            <a:r>
              <a:rPr lang="en-US" sz="1000" kern="0" spc="400">
                <a:solidFill>
                  <a:srgbClr val="FFFFFF"/>
                </a:solidFill>
                <a:latin typeface="Helvetica"/>
                <a:ea typeface="Helvetica" pitchFamily="34" charset="-122"/>
                <a:cs typeface="Helvetica"/>
              </a:rPr>
              <a:t> 420</a:t>
            </a:r>
            <a:endParaRPr lang="en-US" sz="1000">
              <a:latin typeface="Helvetica"/>
              <a:cs typeface="Helvetic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23</Slides>
  <Notes>23</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DoorDash Mission-First Home</dc:title>
  <dc:subject>PptxGenJS Presentation</dc:subject>
  <dc:creator>Rohan + team</dc:creator>
  <cp:revision>18</cp:revision>
  <dcterms:created xsi:type="dcterms:W3CDTF">2026-05-28T02:24:46Z</dcterms:created>
  <dcterms:modified xsi:type="dcterms:W3CDTF">2026-06-02T06:34:02Z</dcterms:modified>
</cp:coreProperties>
</file>